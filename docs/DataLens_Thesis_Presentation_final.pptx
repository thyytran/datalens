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1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rts/chart2.xml" ContentType="application/vnd.openxmlformats-officedocument.drawingml.chart+xml"/>
  <Override PartName="/ppt/notesSlides/notesSlide20.xml" ContentType="application/vnd.openxmlformats-officedocument.presentationml.notesSlide+xml"/>
  <Override PartName="/ppt/charts/chart3.xml" ContentType="application/vnd.openxmlformats-officedocument.drawingml.chart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3"/>
  </p:notesMasterIdLst>
  <p:sldIdLst>
    <p:sldId id="256" r:id="rId2"/>
    <p:sldId id="257" r:id="rId3"/>
    <p:sldId id="258" r:id="rId4"/>
    <p:sldId id="259" r:id="rId5"/>
    <p:sldId id="260" r:id="rId6"/>
    <p:sldId id="279" r:id="rId7"/>
    <p:sldId id="28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81" r:id="rId27"/>
    <p:sldId id="282" r:id="rId28"/>
    <p:sldId id="283" r:id="rId29"/>
    <p:sldId id="284" r:id="rId30"/>
    <p:sldId id="285" r:id="rId31"/>
    <p:sldId id="312" r:id="rId32"/>
    <p:sldId id="286" r:id="rId33"/>
    <p:sldId id="287" r:id="rId34"/>
    <p:sldId id="288" r:id="rId35"/>
    <p:sldId id="289" r:id="rId36"/>
    <p:sldId id="290" r:id="rId37"/>
    <p:sldId id="306" r:id="rId38"/>
    <p:sldId id="303" r:id="rId39"/>
    <p:sldId id="308" r:id="rId40"/>
    <p:sldId id="310" r:id="rId41"/>
    <p:sldId id="307" r:id="rId42"/>
    <p:sldId id="309" r:id="rId43"/>
    <p:sldId id="299" r:id="rId44"/>
    <p:sldId id="302" r:id="rId45"/>
    <p:sldId id="301" r:id="rId46"/>
    <p:sldId id="298" r:id="rId47"/>
    <p:sldId id="292" r:id="rId48"/>
    <p:sldId id="293" r:id="rId49"/>
    <p:sldId id="291" r:id="rId50"/>
    <p:sldId id="294" r:id="rId51"/>
    <p:sldId id="295" r:id="rId5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16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6E023C-5C07-B9A4-2357-6B4F254A2F28}" v="43" dt="2026-04-22T01:30:49.078"/>
    <p1510:client id="{E9C6DB4C-EFDE-512C-FE8D-7C06DB5C69E0}" v="69" dt="2026-04-22T01:43:12.4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microsoft.com/office/2015/10/relationships/revisionInfo" Target="revisionInfo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0D_0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10_0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11_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FFFFFF"/>
                </a:solidFill>
                <a:latin typeface="Arial"/>
              </a:rPr>
              <a:t>Variant Browser Panel Load Time (ms)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Latency (ms)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TP53 2OCJ
(393 res)</c:v>
                </c:pt>
                <c:pt idx="1">
                  <c:v>BRCA1 1T29
(1863 res)</c:v>
                </c:pt>
                <c:pt idx="2">
                  <c:v>Ubiquitin 1UBQ
(685 res)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9860</c:v>
                </c:pt>
                <c:pt idx="1">
                  <c:v>10000</c:v>
                </c:pt>
                <c:pt idx="2">
                  <c:v>5000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EFD-4D31-8665-9C30AB6CED0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32039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00000"/>
                </a:solidFill>
                <a:latin typeface="Arial"/>
              </a:rPr>
              <a:t>Per-Variant Analysis Time (seconds)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HOPE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R248W</c:v>
                </c:pt>
                <c:pt idx="1">
                  <c:v>R175H</c:v>
                </c:pt>
                <c:pt idx="2">
                  <c:v>Y220C</c:v>
                </c:pt>
                <c:pt idx="3">
                  <c:v>R273H</c:v>
                </c:pt>
                <c:pt idx="4">
                  <c:v>G245S</c:v>
                </c:pt>
                <c:pt idx="5">
                  <c:v>M1775R</c:v>
                </c:pt>
                <c:pt idx="6">
                  <c:v>G1706E</c:v>
                </c:pt>
                <c:pt idx="7">
                  <c:v>L1764P</c:v>
                </c:pt>
                <c:pt idx="8">
                  <c:v>T1685A</c:v>
                </c:pt>
                <c:pt idx="9">
                  <c:v>K1702N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270</c:v>
                </c:pt>
                <c:pt idx="1">
                  <c:v>305</c:v>
                </c:pt>
                <c:pt idx="2">
                  <c:v>285</c:v>
                </c:pt>
                <c:pt idx="3">
                  <c:v>260</c:v>
                </c:pt>
                <c:pt idx="4">
                  <c:v>310</c:v>
                </c:pt>
                <c:pt idx="5">
                  <c:v>290</c:v>
                </c:pt>
                <c:pt idx="6">
                  <c:v>275</c:v>
                </c:pt>
                <c:pt idx="7">
                  <c:v>295</c:v>
                </c:pt>
                <c:pt idx="8">
                  <c:v>280</c:v>
                </c:pt>
                <c:pt idx="9">
                  <c:v>265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FA3-4FEE-B5A2-80844CF5A8B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DataLens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R248W</c:v>
                </c:pt>
                <c:pt idx="1">
                  <c:v>R175H</c:v>
                </c:pt>
                <c:pt idx="2">
                  <c:v>Y220C</c:v>
                </c:pt>
                <c:pt idx="3">
                  <c:v>R273H</c:v>
                </c:pt>
                <c:pt idx="4">
                  <c:v>G245S</c:v>
                </c:pt>
                <c:pt idx="5">
                  <c:v>M1775R</c:v>
                </c:pt>
                <c:pt idx="6">
                  <c:v>G1706E</c:v>
                </c:pt>
                <c:pt idx="7">
                  <c:v>L1764P</c:v>
                </c:pt>
                <c:pt idx="8">
                  <c:v>T1685A</c:v>
                </c:pt>
                <c:pt idx="9">
                  <c:v>K1702N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62</c:v>
                </c:pt>
                <c:pt idx="1">
                  <c:v>71</c:v>
                </c:pt>
                <c:pt idx="2">
                  <c:v>74</c:v>
                </c:pt>
                <c:pt idx="3">
                  <c:v>65</c:v>
                </c:pt>
                <c:pt idx="4">
                  <c:v>69</c:v>
                </c:pt>
                <c:pt idx="5">
                  <c:v>72</c:v>
                </c:pt>
                <c:pt idx="6">
                  <c:v>68</c:v>
                </c:pt>
                <c:pt idx="7">
                  <c:v>73</c:v>
                </c:pt>
                <c:pt idx="8">
                  <c:v>70</c:v>
                </c:pt>
                <c:pt idx="9">
                  <c:v>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FA3-4FEE-B5A2-80844CF5A8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HOPE (linear)</c:v>
                </c:pt>
              </c:strCache>
            </c:strRef>
          </c:tx>
          <c:spPr>
            <a:ln w="38100" cap="flat">
              <a:solidFill>
                <a:srgbClr val="94A3B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94A3B8"/>
              </a:solidFill>
              <a:ln w="9525" cap="flat">
                <a:solidFill>
                  <a:srgbClr val="94A3B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  <c:pt idx="4">
                  <c:v>7</c:v>
                </c:pt>
                <c:pt idx="5">
                  <c:v>10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4.8</c:v>
                </c:pt>
                <c:pt idx="1">
                  <c:v>9.6</c:v>
                </c:pt>
                <c:pt idx="2">
                  <c:v>14.4</c:v>
                </c:pt>
                <c:pt idx="3">
                  <c:v>24</c:v>
                </c:pt>
                <c:pt idx="4">
                  <c:v>33.6</c:v>
                </c:pt>
                <c:pt idx="5">
                  <c:v>48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E8B0-449E-B6CE-4895D2DFD2E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DataLens (fresh PDB)</c:v>
                </c:pt>
              </c:strCache>
            </c:strRef>
          </c:tx>
          <c:spPr>
            <a:ln w="38100" cap="flat">
              <a:solidFill>
                <a:srgbClr val="F59E0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  <c:pt idx="4">
                  <c:v>7</c:v>
                </c:pt>
                <c:pt idx="5">
                  <c:v>10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11.2</c:v>
                </c:pt>
                <c:pt idx="1">
                  <c:v>12.3</c:v>
                </c:pt>
                <c:pt idx="2">
                  <c:v>13.5</c:v>
                </c:pt>
                <c:pt idx="3">
                  <c:v>15.8</c:v>
                </c:pt>
                <c:pt idx="4">
                  <c:v>18.100000000000001</c:v>
                </c:pt>
                <c:pt idx="5">
                  <c:v>21.6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E8B0-449E-B6CE-4895D2DFD2E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DataLens (cached)</c:v>
                </c:pt>
              </c:strCache>
            </c:strRef>
          </c:tx>
          <c:spPr>
            <a:ln w="38100" cap="flat">
              <a:solidFill>
                <a:srgbClr val="0D948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  <c:pt idx="4">
                  <c:v>7</c:v>
                </c:pt>
                <c:pt idx="5">
                  <c:v>10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1.2</c:v>
                </c:pt>
                <c:pt idx="1">
                  <c:v>2.2999999999999998</c:v>
                </c:pt>
                <c:pt idx="2">
                  <c:v>3.5</c:v>
                </c:pt>
                <c:pt idx="3">
                  <c:v>5.8</c:v>
                </c:pt>
                <c:pt idx="4">
                  <c:v>8.1</c:v>
                </c:pt>
                <c:pt idx="5">
                  <c:v>11.6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E8B0-449E-B6CE-4895D2DFD2E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  <c:showDLblsOverMax val="1"/>
  </c:chart>
  <c:spPr>
    <a:solidFill>
      <a:srgbClr val="13203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01412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227DD-93E6-F64A-665C-ADF2CA0FF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5D9789-79C1-6DB2-9FB5-10DD49B296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1854D8-75DA-6F16-B4E5-ACAD7A21E1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1C18C4-F403-E0C0-5FDB-C0A9FDB851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45368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2BF07-D74F-0B63-E87B-A9AE0CA54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D0ABFC-D6EC-F2E0-416A-461A361141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7920A6-9F2A-FB1E-CC91-2D11AAE6FD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EF1093-9319-591F-3A9C-B5DCC79C38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61274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6DF1E-AA9D-4D9C-EF6C-70D9A25A2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EB9FE3-E869-C318-060D-D51BA8018B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E29BA4-C565-8A17-8E5B-9DE09C20FF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E50239-29F2-F0A2-B3CB-CC29321DC1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93412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5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1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6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-731520"/>
            <a:ext cx="4114800" cy="4114800"/>
          </a:xfrm>
          <a:prstGeom prst="ellipse">
            <a:avLst/>
          </a:prstGeom>
          <a:solidFill>
            <a:srgbClr val="0D2A3D">
              <a:alpha val="70000"/>
            </a:srgbClr>
          </a:solidFill>
          <a:ln w="12700">
            <a:solidFill>
              <a:srgbClr val="0D2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498080" y="2286000"/>
            <a:ext cx="2286000" cy="2286000"/>
          </a:xfrm>
          <a:prstGeom prst="ellipse">
            <a:avLst/>
          </a:prstGeom>
          <a:solidFill>
            <a:srgbClr val="0D2A3D">
              <a:alpha val="70000"/>
            </a:srgbClr>
          </a:solidFill>
          <a:ln w="12700">
            <a:solidFill>
              <a:srgbClr val="0D2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45720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141732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DataLens</a:t>
            </a:r>
            <a:endParaRPr lang="en-US" sz="5200"/>
          </a:p>
        </p:txBody>
      </p:sp>
      <p:sp>
        <p:nvSpPr>
          <p:cNvPr id="7" name="Text 4"/>
          <p:cNvSpPr/>
          <p:nvPr/>
        </p:nvSpPr>
        <p:spPr>
          <a:xfrm>
            <a:off x="502920" y="23774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AI-Enhanced Interactive Protein Mutation Analysis</a:t>
            </a:r>
            <a:endParaRPr lang="en-US" sz="2000"/>
          </a:p>
        </p:txBody>
      </p:sp>
      <p:sp>
        <p:nvSpPr>
          <p:cNvPr id="8" name="Shape 5"/>
          <p:cNvSpPr/>
          <p:nvPr/>
        </p:nvSpPr>
        <p:spPr>
          <a:xfrm>
            <a:off x="502920" y="2944368"/>
            <a:ext cx="50292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02920" y="30632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Thy Yen Tran  ·  MS Software Engineering Systems</a:t>
            </a:r>
            <a:endParaRPr lang="en-US" sz="1400"/>
          </a:p>
        </p:txBody>
      </p:sp>
      <p:sp>
        <p:nvSpPr>
          <p:cNvPr id="10" name="Text 7"/>
          <p:cNvSpPr/>
          <p:nvPr/>
        </p:nvSpPr>
        <p:spPr>
          <a:xfrm>
            <a:off x="502920" y="340156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Northeastern University, College of Engineering  ·  April 2026</a:t>
            </a:r>
            <a:endParaRPr lang="en-US" sz="1300">
              <a:latin typeface="Calibri"/>
              <a:ea typeface="Calibri"/>
              <a:cs typeface="Calibri"/>
            </a:endParaRPr>
          </a:p>
        </p:txBody>
      </p:sp>
      <p:sp>
        <p:nvSpPr>
          <p:cNvPr id="11" name="Text 8"/>
          <p:cNvSpPr/>
          <p:nvPr/>
        </p:nvSpPr>
        <p:spPr>
          <a:xfrm>
            <a:off x="502920" y="37673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Advisor: Prof. Robin Hillyard</a:t>
            </a:r>
            <a:endParaRPr lang="en-US"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6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Presentation Overview</a:t>
            </a:r>
            <a:endParaRPr lang="en-US" sz="3000"/>
          </a:p>
        </p:txBody>
      </p:sp>
      <p:sp>
        <p:nvSpPr>
          <p:cNvPr id="3" name="Shape 1"/>
          <p:cNvSpPr/>
          <p:nvPr/>
        </p:nvSpPr>
        <p:spPr>
          <a:xfrm>
            <a:off x="502920" y="804672"/>
            <a:ext cx="100584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11480" y="1143000"/>
            <a:ext cx="3977640" cy="1143000"/>
          </a:xfrm>
          <a:prstGeom prst="rect">
            <a:avLst/>
          </a:prstGeom>
          <a:solidFill>
            <a:srgbClr val="132039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21208" y="12344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200"/>
          </a:p>
        </p:txBody>
      </p:sp>
      <p:sp>
        <p:nvSpPr>
          <p:cNvPr id="6" name="Text 4"/>
          <p:cNvSpPr/>
          <p:nvPr/>
        </p:nvSpPr>
        <p:spPr>
          <a:xfrm>
            <a:off x="1069848" y="12344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1400"/>
          </a:p>
        </p:txBody>
      </p:sp>
      <p:sp>
        <p:nvSpPr>
          <p:cNvPr id="7" name="Text 5"/>
          <p:cNvSpPr/>
          <p:nvPr/>
        </p:nvSpPr>
        <p:spPr>
          <a:xfrm>
            <a:off x="521208" y="1709928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mutation analysis workflow in structural biology</a:t>
            </a:r>
            <a:endParaRPr lang="en-US" sz="1050"/>
          </a:p>
        </p:txBody>
      </p:sp>
      <p:sp>
        <p:nvSpPr>
          <p:cNvPr id="8" name="Shape 6"/>
          <p:cNvSpPr/>
          <p:nvPr/>
        </p:nvSpPr>
        <p:spPr>
          <a:xfrm>
            <a:off x="4709160" y="1143000"/>
            <a:ext cx="3977640" cy="1143000"/>
          </a:xfrm>
          <a:prstGeom prst="rect">
            <a:avLst/>
          </a:prstGeom>
          <a:solidFill>
            <a:srgbClr val="132039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18888" y="12344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200"/>
          </a:p>
        </p:txBody>
      </p:sp>
      <p:sp>
        <p:nvSpPr>
          <p:cNvPr id="10" name="Text 8"/>
          <p:cNvSpPr/>
          <p:nvPr/>
        </p:nvSpPr>
        <p:spPr>
          <a:xfrm>
            <a:off x="5367528" y="12344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</a:t>
            </a:r>
            <a:endParaRPr lang="en-US" sz="1400"/>
          </a:p>
        </p:txBody>
      </p:sp>
      <p:sp>
        <p:nvSpPr>
          <p:cNvPr id="11" name="Text 9"/>
          <p:cNvSpPr/>
          <p:nvPr/>
        </p:nvSpPr>
        <p:spPr>
          <a:xfrm>
            <a:off x="4818888" y="1709928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C++/OpenGL frontend · Python/FastAPI backend · PostgreSQL · Claude API</a:t>
            </a:r>
            <a:endParaRPr lang="en-US" sz="1050"/>
          </a:p>
        </p:txBody>
      </p:sp>
      <p:sp>
        <p:nvSpPr>
          <p:cNvPr id="12" name="Shape 10"/>
          <p:cNvSpPr/>
          <p:nvPr/>
        </p:nvSpPr>
        <p:spPr>
          <a:xfrm>
            <a:off x="411480" y="2468880"/>
            <a:ext cx="3977640" cy="1143000"/>
          </a:xfrm>
          <a:prstGeom prst="rect">
            <a:avLst/>
          </a:prstGeom>
          <a:solidFill>
            <a:srgbClr val="132039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21208" y="25603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200"/>
          </a:p>
        </p:txBody>
      </p:sp>
      <p:sp>
        <p:nvSpPr>
          <p:cNvPr id="14" name="Text 12"/>
          <p:cNvSpPr/>
          <p:nvPr/>
        </p:nvSpPr>
        <p:spPr>
          <a:xfrm>
            <a:off x="1069848" y="25603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Methods</a:t>
            </a:r>
            <a:endParaRPr lang="en-US" sz="1400"/>
          </a:p>
        </p:txBody>
      </p:sp>
      <p:sp>
        <p:nvSpPr>
          <p:cNvPr id="15" name="Text 13"/>
          <p:cNvSpPr/>
          <p:nvPr/>
        </p:nvSpPr>
        <p:spPr>
          <a:xfrm>
            <a:off x="521208" y="3035808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Instanced rendering · SIFTS mapping · Grounded prompting</a:t>
            </a:r>
            <a:endParaRPr lang="en-US" sz="1050"/>
          </a:p>
        </p:txBody>
      </p:sp>
      <p:sp>
        <p:nvSpPr>
          <p:cNvPr id="16" name="Shape 14"/>
          <p:cNvSpPr/>
          <p:nvPr/>
        </p:nvSpPr>
        <p:spPr>
          <a:xfrm>
            <a:off x="4709160" y="2468880"/>
            <a:ext cx="3977640" cy="1143000"/>
          </a:xfrm>
          <a:prstGeom prst="rect">
            <a:avLst/>
          </a:prstGeom>
          <a:solidFill>
            <a:srgbClr val="132039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18888" y="25603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200"/>
          </a:p>
        </p:txBody>
      </p:sp>
      <p:sp>
        <p:nvSpPr>
          <p:cNvPr id="18" name="Text 16"/>
          <p:cNvSpPr/>
          <p:nvPr/>
        </p:nvSpPr>
        <p:spPr>
          <a:xfrm>
            <a:off x="5367528" y="25603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</a:t>
            </a:r>
            <a:endParaRPr lang="en-US" sz="1400"/>
          </a:p>
        </p:txBody>
      </p:sp>
      <p:sp>
        <p:nvSpPr>
          <p:cNvPr id="19" name="Text 17"/>
          <p:cNvSpPr/>
          <p:nvPr/>
        </p:nvSpPr>
        <p:spPr>
          <a:xfrm>
            <a:off x="4818888" y="3035808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TP53 &amp; BRCA1 case studies · Sub-second query latency</a:t>
            </a:r>
            <a:endParaRPr lang="en-US" sz="1050"/>
          </a:p>
        </p:txBody>
      </p:sp>
      <p:sp>
        <p:nvSpPr>
          <p:cNvPr id="20" name="Shape 18"/>
          <p:cNvSpPr/>
          <p:nvPr/>
        </p:nvSpPr>
        <p:spPr>
          <a:xfrm>
            <a:off x="411480" y="3794760"/>
            <a:ext cx="3977640" cy="1143000"/>
          </a:xfrm>
          <a:prstGeom prst="rect">
            <a:avLst/>
          </a:prstGeom>
          <a:solidFill>
            <a:srgbClr val="132039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21208" y="388620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2200"/>
          </a:p>
        </p:txBody>
      </p:sp>
      <p:sp>
        <p:nvSpPr>
          <p:cNvPr id="22" name="Text 20"/>
          <p:cNvSpPr/>
          <p:nvPr/>
        </p:nvSpPr>
        <p:spPr>
          <a:xfrm>
            <a:off x="1069848" y="38862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Evaluation</a:t>
            </a:r>
            <a:endParaRPr lang="en-US" sz="1400"/>
          </a:p>
        </p:txBody>
      </p:sp>
      <p:sp>
        <p:nvSpPr>
          <p:cNvPr id="23" name="Text 21"/>
          <p:cNvSpPr/>
          <p:nvPr/>
        </p:nvSpPr>
        <p:spPr>
          <a:xfrm>
            <a:off x="521208" y="4361688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DataLens vs. HOPE — 4× workflow speedup, information coverage</a:t>
            </a:r>
            <a:endParaRPr lang="en-US" sz="1050"/>
          </a:p>
        </p:txBody>
      </p:sp>
      <p:sp>
        <p:nvSpPr>
          <p:cNvPr id="24" name="Shape 22"/>
          <p:cNvSpPr/>
          <p:nvPr/>
        </p:nvSpPr>
        <p:spPr>
          <a:xfrm>
            <a:off x="4709160" y="3794760"/>
            <a:ext cx="3977640" cy="1143000"/>
          </a:xfrm>
          <a:prstGeom prst="rect">
            <a:avLst/>
          </a:prstGeom>
          <a:solidFill>
            <a:srgbClr val="132039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18888" y="388620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2200"/>
          </a:p>
        </p:txBody>
      </p:sp>
      <p:sp>
        <p:nvSpPr>
          <p:cNvPr id="26" name="Text 24"/>
          <p:cNvSpPr/>
          <p:nvPr/>
        </p:nvSpPr>
        <p:spPr>
          <a:xfrm>
            <a:off x="5367528" y="38862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Limitations &amp; Future</a:t>
            </a:r>
            <a:endParaRPr lang="en-US" sz="1400"/>
          </a:p>
        </p:txBody>
      </p:sp>
      <p:sp>
        <p:nvSpPr>
          <p:cNvPr id="27" name="Text 25"/>
          <p:cNvSpPr/>
          <p:nvPr/>
        </p:nvSpPr>
        <p:spPr>
          <a:xfrm>
            <a:off x="4818888" y="4361688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limitations · Roadmap to SSAO, mmCIF, WebGPU</a:t>
            </a:r>
            <a:endParaRPr lang="en-US" sz="10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6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Stakes of Protein Mutation Analysis</a:t>
            </a:r>
            <a:endParaRPr lang="en-US" sz="3000"/>
          </a:p>
        </p:txBody>
      </p:sp>
      <p:sp>
        <p:nvSpPr>
          <p:cNvPr id="3" name="Text 1"/>
          <p:cNvSpPr/>
          <p:nvPr/>
        </p:nvSpPr>
        <p:spPr>
          <a:xfrm>
            <a:off x="502920" y="85039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amino acid substitution can determine disease or function</a:t>
            </a:r>
            <a:endParaRPr lang="en-US" sz="1300"/>
          </a:p>
        </p:txBody>
      </p:sp>
      <p:sp>
        <p:nvSpPr>
          <p:cNvPr id="4" name="Shape 2"/>
          <p:cNvSpPr/>
          <p:nvPr/>
        </p:nvSpPr>
        <p:spPr>
          <a:xfrm>
            <a:off x="502920" y="804672"/>
            <a:ext cx="100584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2651760" cy="3246120"/>
          </a:xfrm>
          <a:prstGeom prst="rect">
            <a:avLst/>
          </a:prstGeom>
          <a:solidFill>
            <a:srgbClr val="132039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123444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190195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TP53</a:t>
            </a:r>
            <a:endParaRPr lang="en-US" sz="1300"/>
          </a:p>
        </p:txBody>
      </p:sp>
      <p:sp>
        <p:nvSpPr>
          <p:cNvPr id="8" name="Shape 5"/>
          <p:cNvSpPr/>
          <p:nvPr/>
        </p:nvSpPr>
        <p:spPr>
          <a:xfrm>
            <a:off x="1051560" y="2286000"/>
            <a:ext cx="1371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48640" y="2395728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Arginine → Tryptophan at position 248. Tumor suppressor loses DNA-binding. Found in ~50% of all human cancers.</a:t>
            </a:r>
            <a:endParaRPr lang="en-US" sz="1100"/>
          </a:p>
        </p:txBody>
      </p:sp>
      <p:sp>
        <p:nvSpPr>
          <p:cNvPr id="10" name="Shape 7"/>
          <p:cNvSpPr/>
          <p:nvPr/>
        </p:nvSpPr>
        <p:spPr>
          <a:xfrm>
            <a:off x="3246120" y="1097280"/>
            <a:ext cx="2651760" cy="3246120"/>
          </a:xfrm>
          <a:prstGeom prst="rect">
            <a:avLst/>
          </a:prstGeom>
          <a:solidFill>
            <a:srgbClr val="132039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23444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46120" y="190195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BRCA1</a:t>
            </a:r>
            <a:endParaRPr lang="en-US" sz="1300"/>
          </a:p>
        </p:txBody>
      </p:sp>
      <p:sp>
        <p:nvSpPr>
          <p:cNvPr id="13" name="Shape 9"/>
          <p:cNvSpPr/>
          <p:nvPr/>
        </p:nvSpPr>
        <p:spPr>
          <a:xfrm>
            <a:off x="3886200" y="2286000"/>
            <a:ext cx="1371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3383280" y="2395728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Glutamic acid → stop codon. DNA repair fails. Dramatically elevates lifetime breast &amp; ovarian cancer risk.</a:t>
            </a:r>
            <a:endParaRPr lang="en-US" sz="1100"/>
          </a:p>
        </p:txBody>
      </p:sp>
      <p:sp>
        <p:nvSpPr>
          <p:cNvPr id="15" name="Shape 11"/>
          <p:cNvSpPr/>
          <p:nvPr/>
        </p:nvSpPr>
        <p:spPr>
          <a:xfrm>
            <a:off x="6080760" y="1097280"/>
            <a:ext cx="2651760" cy="3246120"/>
          </a:xfrm>
          <a:prstGeom prst="rect">
            <a:avLst/>
          </a:prstGeom>
          <a:solidFill>
            <a:srgbClr val="132039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1234440"/>
            <a:ext cx="548640" cy="5486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080760" y="190195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Industrial</a:t>
            </a:r>
            <a:endParaRPr lang="en-US" sz="1300"/>
          </a:p>
        </p:txBody>
      </p:sp>
      <p:sp>
        <p:nvSpPr>
          <p:cNvPr id="18" name="Shape 13"/>
          <p:cNvSpPr/>
          <p:nvPr/>
        </p:nvSpPr>
        <p:spPr>
          <a:xfrm>
            <a:off x="6720840" y="2286000"/>
            <a:ext cx="1371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4"/>
          <p:cNvSpPr/>
          <p:nvPr/>
        </p:nvSpPr>
        <p:spPr>
          <a:xfrm>
            <a:off x="6217920" y="2395728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targeted substitution can raise enzyme thermal stability by several °C, extending shelf life.</a:t>
            </a:r>
            <a:endParaRPr lang="en-US" sz="1100"/>
          </a:p>
        </p:txBody>
      </p:sp>
      <p:sp>
        <p:nvSpPr>
          <p:cNvPr id="20" name="Text 15"/>
          <p:cNvSpPr/>
          <p:nvPr/>
        </p:nvSpPr>
        <p:spPr>
          <a:xfrm>
            <a:off x="411480" y="448056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requires: 3D structure · ΔΔG stability · pathogenicity score · clinical evidence — simultaneously</a:t>
            </a:r>
            <a:endParaRPr lang="en-US" sz="11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6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Today's Fragmented Workflow</a:t>
            </a:r>
            <a:endParaRPr lang="en-US" sz="3000"/>
          </a:p>
        </p:txBody>
      </p:sp>
      <p:sp>
        <p:nvSpPr>
          <p:cNvPr id="3" name="Text 1"/>
          <p:cNvSpPr/>
          <p:nvPr/>
        </p:nvSpPr>
        <p:spPr>
          <a:xfrm>
            <a:off x="502920" y="85039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variant analysis takes 20–30 minutes across 4+ disconnected tools</a:t>
            </a:r>
            <a:endParaRPr lang="en-US" sz="1300"/>
          </a:p>
        </p:txBody>
      </p:sp>
      <p:sp>
        <p:nvSpPr>
          <p:cNvPr id="4" name="Shape 2"/>
          <p:cNvSpPr/>
          <p:nvPr/>
        </p:nvSpPr>
        <p:spPr>
          <a:xfrm>
            <a:off x="502920" y="804672"/>
            <a:ext cx="100584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1920240" cy="2560320"/>
          </a:xfrm>
          <a:prstGeom prst="rect">
            <a:avLst/>
          </a:prstGeom>
          <a:solidFill>
            <a:srgbClr val="132039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170432"/>
            <a:ext cx="1920240" cy="502920"/>
          </a:xfrm>
          <a:prstGeom prst="rect">
            <a:avLst/>
          </a:prstGeom>
          <a:solidFill>
            <a:srgbClr val="1C3A52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17043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1</a:t>
            </a:r>
            <a:endParaRPr lang="en-US" sz="1000"/>
          </a:p>
        </p:txBody>
      </p:sp>
      <p:sp>
        <p:nvSpPr>
          <p:cNvPr id="8" name="Text 6"/>
          <p:cNvSpPr/>
          <p:nvPr/>
        </p:nvSpPr>
        <p:spPr>
          <a:xfrm>
            <a:off x="274320" y="171907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PyMOL /</a:t>
            </a:r>
            <a:endParaRPr lang="en-US" sz="1200"/>
          </a:p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ChimeraX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274320" y="2395728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PDB, navigate</a:t>
            </a:r>
            <a:endParaRPr lang="en-US" sz="1050"/>
          </a:p>
          <a:p>
            <a:pPr marL="0" indent="0" algn="ctr">
              <a:buNone/>
            </a:pPr>
            <a:r>
              <a:rPr lang="en-US" sz="10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residue, assess</a:t>
            </a:r>
            <a:endParaRPr lang="en-US" sz="1050"/>
          </a:p>
          <a:p>
            <a:pPr marL="0" indent="0" algn="ctr">
              <a:buNone/>
            </a:pPr>
            <a:r>
              <a:rPr lang="en-US" sz="10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context</a:t>
            </a:r>
            <a:endParaRPr lang="en-US" sz="105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1136" y="2148840"/>
            <a:ext cx="137160" cy="25603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404872" y="1170432"/>
            <a:ext cx="1920240" cy="2560320"/>
          </a:xfrm>
          <a:prstGeom prst="rect">
            <a:avLst/>
          </a:prstGeom>
          <a:solidFill>
            <a:srgbClr val="132039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2404872" y="1170432"/>
            <a:ext cx="1920240" cy="502920"/>
          </a:xfrm>
          <a:prstGeom prst="rect">
            <a:avLst/>
          </a:prstGeom>
          <a:solidFill>
            <a:srgbClr val="1C3A52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2404872" y="117043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2</a:t>
            </a:r>
            <a:endParaRPr lang="en-US" sz="1000"/>
          </a:p>
        </p:txBody>
      </p:sp>
      <p:sp>
        <p:nvSpPr>
          <p:cNvPr id="14" name="Text 11"/>
          <p:cNvSpPr/>
          <p:nvPr/>
        </p:nvSpPr>
        <p:spPr>
          <a:xfrm>
            <a:off x="2404872" y="171907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AlphaMissense</a:t>
            </a:r>
            <a:endParaRPr lang="en-US" sz="1200"/>
          </a:p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Portal</a:t>
            </a:r>
            <a:endParaRPr lang="en-US" sz="1200"/>
          </a:p>
        </p:txBody>
      </p:sp>
      <p:sp>
        <p:nvSpPr>
          <p:cNvPr id="15" name="Text 12"/>
          <p:cNvSpPr/>
          <p:nvPr/>
        </p:nvSpPr>
        <p:spPr>
          <a:xfrm>
            <a:off x="2404872" y="2395728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protein ID &amp;</a:t>
            </a:r>
            <a:endParaRPr lang="en-US" sz="1050"/>
          </a:p>
          <a:p>
            <a:pPr marL="0" indent="0" algn="ctr">
              <a:buNone/>
            </a:pPr>
            <a:r>
              <a:rPr lang="en-US" sz="10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variant, await</a:t>
            </a:r>
            <a:endParaRPr lang="en-US" sz="1050"/>
          </a:p>
          <a:p>
            <a:pPr marL="0" indent="0" algn="ctr">
              <a:buNone/>
            </a:pPr>
            <a:r>
              <a:rPr lang="en-US" sz="10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pathogenicity score</a:t>
            </a:r>
            <a:endParaRPr lang="en-US" sz="105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1688" y="2148840"/>
            <a:ext cx="137160" cy="256032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4535424" y="1170432"/>
            <a:ext cx="1920240" cy="2560320"/>
          </a:xfrm>
          <a:prstGeom prst="rect">
            <a:avLst/>
          </a:prstGeom>
          <a:solidFill>
            <a:srgbClr val="132039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4535424" y="1170432"/>
            <a:ext cx="1920240" cy="502920"/>
          </a:xfrm>
          <a:prstGeom prst="rect">
            <a:avLst/>
          </a:prstGeom>
          <a:solidFill>
            <a:srgbClr val="1C3A52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4535424" y="117043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3</a:t>
            </a:r>
            <a:endParaRPr lang="en-US" sz="1000"/>
          </a:p>
        </p:txBody>
      </p:sp>
      <p:sp>
        <p:nvSpPr>
          <p:cNvPr id="20" name="Text 16"/>
          <p:cNvSpPr/>
          <p:nvPr/>
        </p:nvSpPr>
        <p:spPr>
          <a:xfrm>
            <a:off x="4535424" y="171907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FoldX</a:t>
            </a:r>
            <a:endParaRPr lang="en-US" sz="1200"/>
          </a:p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CLI/Server</a:t>
            </a:r>
            <a:endParaRPr lang="en-US" sz="1200"/>
          </a:p>
        </p:txBody>
      </p:sp>
      <p:sp>
        <p:nvSpPr>
          <p:cNvPr id="21" name="Text 17"/>
          <p:cNvSpPr/>
          <p:nvPr/>
        </p:nvSpPr>
        <p:spPr>
          <a:xfrm>
            <a:off x="4535424" y="2395728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PDB, run</a:t>
            </a:r>
            <a:endParaRPr lang="en-US" sz="1050"/>
          </a:p>
          <a:p>
            <a:pPr marL="0" indent="0" algn="ctr">
              <a:buNone/>
            </a:pPr>
            <a:r>
              <a:rPr lang="en-US" sz="10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RepairPDB + BuildModel,</a:t>
            </a:r>
            <a:endParaRPr lang="en-US" sz="1050"/>
          </a:p>
          <a:p>
            <a:pPr marL="0" indent="0" algn="ctr">
              <a:buNone/>
            </a:pPr>
            <a:r>
              <a:rPr lang="en-US" sz="10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ΔΔG</a:t>
            </a:r>
            <a:endParaRPr lang="en-US" sz="105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148840"/>
            <a:ext cx="137160" cy="256032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6665976" y="1170432"/>
            <a:ext cx="1920240" cy="2560320"/>
          </a:xfrm>
          <a:prstGeom prst="rect">
            <a:avLst/>
          </a:prstGeom>
          <a:solidFill>
            <a:srgbClr val="132039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6665976" y="1170432"/>
            <a:ext cx="1920240" cy="502920"/>
          </a:xfrm>
          <a:prstGeom prst="rect">
            <a:avLst/>
          </a:prstGeom>
          <a:solidFill>
            <a:srgbClr val="1C3A52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0"/>
          <p:cNvSpPr/>
          <p:nvPr/>
        </p:nvSpPr>
        <p:spPr>
          <a:xfrm>
            <a:off x="6665976" y="117043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4</a:t>
            </a:r>
            <a:endParaRPr lang="en-US" sz="1000"/>
          </a:p>
        </p:txBody>
      </p:sp>
      <p:sp>
        <p:nvSpPr>
          <p:cNvPr id="26" name="Text 21"/>
          <p:cNvSpPr/>
          <p:nvPr/>
        </p:nvSpPr>
        <p:spPr>
          <a:xfrm>
            <a:off x="6665976" y="171907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ClinVar /</a:t>
            </a:r>
            <a:endParaRPr lang="en-US" sz="1200"/>
          </a:p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gnomAD</a:t>
            </a:r>
            <a:endParaRPr lang="en-US" sz="1200"/>
          </a:p>
        </p:txBody>
      </p:sp>
      <p:sp>
        <p:nvSpPr>
          <p:cNvPr id="27" name="Text 22"/>
          <p:cNvSpPr/>
          <p:nvPr/>
        </p:nvSpPr>
        <p:spPr>
          <a:xfrm>
            <a:off x="6665976" y="2395728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population</a:t>
            </a:r>
            <a:endParaRPr lang="en-US" sz="1050"/>
          </a:p>
          <a:p>
            <a:pPr marL="0" indent="0" algn="ctr">
              <a:buNone/>
            </a:pPr>
            <a:r>
              <a:rPr lang="en-US" sz="10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&amp; clinical</a:t>
            </a:r>
            <a:endParaRPr lang="en-US" sz="1050"/>
          </a:p>
          <a:p>
            <a:pPr marL="0" indent="0" algn="ctr">
              <a:buNone/>
            </a:pPr>
            <a:r>
              <a:rPr lang="en-US" sz="10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050"/>
          </a:p>
        </p:txBody>
      </p:sp>
      <p:sp>
        <p:nvSpPr>
          <p:cNvPr id="28" name="Shape 23"/>
          <p:cNvSpPr/>
          <p:nvPr/>
        </p:nvSpPr>
        <p:spPr>
          <a:xfrm>
            <a:off x="274320" y="3950208"/>
            <a:ext cx="8595360" cy="914400"/>
          </a:xfrm>
          <a:prstGeom prst="rect">
            <a:avLst/>
          </a:prstGeom>
          <a:solidFill>
            <a:srgbClr val="1A0D0D"/>
          </a:solidFill>
          <a:ln w="6350">
            <a:solidFill>
              <a:srgbClr val="6B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4"/>
          <p:cNvSpPr/>
          <p:nvPr/>
        </p:nvSpPr>
        <p:spPr>
          <a:xfrm>
            <a:off x="502920" y="404164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10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copy-paste across browser windows &amp; spreadsheets</a:t>
            </a:r>
            <a:endParaRPr lang="en-US" sz="1100"/>
          </a:p>
        </p:txBody>
      </p:sp>
      <p:sp>
        <p:nvSpPr>
          <p:cNvPr id="30" name="Text 25"/>
          <p:cNvSpPr/>
          <p:nvPr/>
        </p:nvSpPr>
        <p:spPr>
          <a:xfrm>
            <a:off x="502920" y="440740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10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output formats — no automated reconciliation</a:t>
            </a:r>
            <a:endParaRPr lang="en-US" sz="1100"/>
          </a:p>
        </p:txBody>
      </p:sp>
      <p:sp>
        <p:nvSpPr>
          <p:cNvPr id="31" name="Text 26"/>
          <p:cNvSpPr/>
          <p:nvPr/>
        </p:nvSpPr>
        <p:spPr>
          <a:xfrm>
            <a:off x="4800600" y="404164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10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iterative interaction — re-run for each new variant</a:t>
            </a:r>
            <a:endParaRPr lang="en-US" sz="1100"/>
          </a:p>
        </p:txBody>
      </p:sp>
      <p:sp>
        <p:nvSpPr>
          <p:cNvPr id="32" name="Text 27"/>
          <p:cNvSpPr/>
          <p:nvPr/>
        </p:nvSpPr>
        <p:spPr>
          <a:xfrm>
            <a:off x="4800600" y="440740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10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20–30 min per variant; complex cases take longer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6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Introducing DataLens</a:t>
            </a:r>
            <a:endParaRPr lang="en-US" sz="3000"/>
          </a:p>
        </p:txBody>
      </p:sp>
      <p:sp>
        <p:nvSpPr>
          <p:cNvPr id="3" name="Text 1"/>
          <p:cNvSpPr/>
          <p:nvPr/>
        </p:nvSpPr>
        <p:spPr>
          <a:xfrm>
            <a:off x="502920" y="85039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 residue. Get everything. In seconds.</a:t>
            </a:r>
            <a:endParaRPr lang="en-US" sz="1300"/>
          </a:p>
        </p:txBody>
      </p:sp>
      <p:sp>
        <p:nvSpPr>
          <p:cNvPr id="4" name="Shape 2"/>
          <p:cNvSpPr/>
          <p:nvPr/>
        </p:nvSpPr>
        <p:spPr>
          <a:xfrm>
            <a:off x="502920" y="804672"/>
            <a:ext cx="100584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8321040" cy="777240"/>
          </a:xfrm>
          <a:prstGeom prst="rect">
            <a:avLst/>
          </a:prstGeom>
          <a:solidFill>
            <a:srgbClr val="0D3B36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14300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DataLens integrates real-time 3D protein visualization, 216M+ pre-indexed AlphaMissense pathogenicity scores, asynchronous FoldX ΔΔG predictions, and Claude AI interpretation into a single desktop application — eliminating tool-switching and scripting from the mutation analysis workflow.</a:t>
            </a:r>
            <a:endParaRPr lang="en-US" sz="1200"/>
          </a:p>
        </p:txBody>
      </p:sp>
      <p:sp>
        <p:nvSpPr>
          <p:cNvPr id="7" name="Shape 5"/>
          <p:cNvSpPr/>
          <p:nvPr/>
        </p:nvSpPr>
        <p:spPr>
          <a:xfrm>
            <a:off x="411480" y="2084832"/>
            <a:ext cx="2670048" cy="1261872"/>
          </a:xfrm>
          <a:prstGeom prst="rect">
            <a:avLst/>
          </a:prstGeom>
          <a:solidFill>
            <a:srgbClr val="132039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2194560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41832" y="2176272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3D</a:t>
            </a:r>
            <a:endParaRPr lang="en-US" sz="1200"/>
          </a:p>
        </p:txBody>
      </p:sp>
      <p:sp>
        <p:nvSpPr>
          <p:cNvPr id="10" name="Text 7"/>
          <p:cNvSpPr/>
          <p:nvPr/>
        </p:nvSpPr>
        <p:spPr>
          <a:xfrm>
            <a:off x="521208" y="2596896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60+ FPS instanced OpenGL rendering on integrated graphics. CPK, pathogenicity, and secondary-structure coloring modes.</a:t>
            </a:r>
            <a:endParaRPr lang="en-US" sz="1050"/>
          </a:p>
        </p:txBody>
      </p:sp>
      <p:sp>
        <p:nvSpPr>
          <p:cNvPr id="11" name="Shape 8"/>
          <p:cNvSpPr/>
          <p:nvPr/>
        </p:nvSpPr>
        <p:spPr>
          <a:xfrm>
            <a:off x="3227832" y="2084832"/>
            <a:ext cx="2670048" cy="1261872"/>
          </a:xfrm>
          <a:prstGeom prst="rect">
            <a:avLst/>
          </a:prstGeom>
          <a:solidFill>
            <a:srgbClr val="132039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2194560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58184" y="2176272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216M Variants</a:t>
            </a:r>
            <a:endParaRPr lang="en-US" sz="1200"/>
          </a:p>
        </p:txBody>
      </p:sp>
      <p:sp>
        <p:nvSpPr>
          <p:cNvPr id="14" name="Text 10"/>
          <p:cNvSpPr/>
          <p:nvPr/>
        </p:nvSpPr>
        <p:spPr>
          <a:xfrm>
            <a:off x="3337560" y="2596896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AlphaMissense PostgreSQL index with composite key on (uniprot_id, position, alt_aa). Sub-second lookup on the full dataset.</a:t>
            </a:r>
            <a:endParaRPr lang="en-US" sz="1050"/>
          </a:p>
        </p:txBody>
      </p:sp>
      <p:sp>
        <p:nvSpPr>
          <p:cNvPr id="15" name="Shape 11"/>
          <p:cNvSpPr/>
          <p:nvPr/>
        </p:nvSpPr>
        <p:spPr>
          <a:xfrm>
            <a:off x="6044184" y="2084832"/>
            <a:ext cx="2670048" cy="1261872"/>
          </a:xfrm>
          <a:prstGeom prst="rect">
            <a:avLst/>
          </a:prstGeom>
          <a:solidFill>
            <a:srgbClr val="132039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3912" y="2194560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74536" y="2176272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FoldX ΔΔG</a:t>
            </a:r>
            <a:endParaRPr lang="en-US" sz="1200"/>
          </a:p>
        </p:txBody>
      </p:sp>
      <p:sp>
        <p:nvSpPr>
          <p:cNvPr id="18" name="Text 13"/>
          <p:cNvSpPr/>
          <p:nvPr/>
        </p:nvSpPr>
        <p:spPr>
          <a:xfrm>
            <a:off x="6153912" y="2596896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Asynchronous structure preparation + BuildModel pipeline. 3D viewport stays interactive while prediction runs.</a:t>
            </a:r>
            <a:endParaRPr lang="en-US" sz="1050"/>
          </a:p>
        </p:txBody>
      </p:sp>
      <p:sp>
        <p:nvSpPr>
          <p:cNvPr id="19" name="Shape 14"/>
          <p:cNvSpPr/>
          <p:nvPr/>
        </p:nvSpPr>
        <p:spPr>
          <a:xfrm>
            <a:off x="411480" y="3474720"/>
            <a:ext cx="2670048" cy="1261872"/>
          </a:xfrm>
          <a:prstGeom prst="rect">
            <a:avLst/>
          </a:prstGeom>
          <a:solidFill>
            <a:srgbClr val="132039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208" y="3584448"/>
            <a:ext cx="347472" cy="34747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41832" y="3566160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AI Layer</a:t>
            </a:r>
            <a:endParaRPr lang="en-US" sz="1200"/>
          </a:p>
        </p:txBody>
      </p:sp>
      <p:sp>
        <p:nvSpPr>
          <p:cNvPr id="22" name="Text 16"/>
          <p:cNvSpPr/>
          <p:nvPr/>
        </p:nvSpPr>
        <p:spPr>
          <a:xfrm>
            <a:off x="521208" y="3986784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prompting from ClinVar, COSMIC, gnomAD, UniProt evidence. Plain-language synthesis, never recall from memory.</a:t>
            </a:r>
            <a:endParaRPr lang="en-US" sz="1050"/>
          </a:p>
        </p:txBody>
      </p:sp>
      <p:sp>
        <p:nvSpPr>
          <p:cNvPr id="23" name="Shape 17"/>
          <p:cNvSpPr/>
          <p:nvPr/>
        </p:nvSpPr>
        <p:spPr>
          <a:xfrm>
            <a:off x="3227832" y="3474720"/>
            <a:ext cx="2670048" cy="1261872"/>
          </a:xfrm>
          <a:prstGeom prst="rect">
            <a:avLst/>
          </a:prstGeom>
          <a:solidFill>
            <a:srgbClr val="132039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37560" y="3584448"/>
            <a:ext cx="347472" cy="34747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3758184" y="3566160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SIFTS Mapping</a:t>
            </a:r>
            <a:endParaRPr lang="en-US" sz="1200"/>
          </a:p>
        </p:txBody>
      </p:sp>
      <p:sp>
        <p:nvSpPr>
          <p:cNvPr id="26" name="Text 19"/>
          <p:cNvSpPr/>
          <p:nvPr/>
        </p:nvSpPr>
        <p:spPr>
          <a:xfrm>
            <a:off x="3337560" y="3986784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Authoritative PDB↔UniProt residue mapping. Eliminates silent misidentification from residue number mismatches.</a:t>
            </a:r>
            <a:endParaRPr lang="en-US" sz="1050"/>
          </a:p>
        </p:txBody>
      </p:sp>
      <p:sp>
        <p:nvSpPr>
          <p:cNvPr id="27" name="Shape 20"/>
          <p:cNvSpPr/>
          <p:nvPr/>
        </p:nvSpPr>
        <p:spPr>
          <a:xfrm>
            <a:off x="6044184" y="3474720"/>
            <a:ext cx="2670048" cy="1261872"/>
          </a:xfrm>
          <a:prstGeom prst="rect">
            <a:avLst/>
          </a:prstGeom>
          <a:solidFill>
            <a:srgbClr val="132039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53912" y="3584448"/>
            <a:ext cx="347472" cy="347472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6574536" y="3566160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Safety Guardrails</a:t>
            </a:r>
            <a:endParaRPr lang="en-US" sz="1200"/>
          </a:p>
        </p:txBody>
      </p:sp>
      <p:sp>
        <p:nvSpPr>
          <p:cNvPr id="30" name="Text 22"/>
          <p:cNvSpPr/>
          <p:nvPr/>
        </p:nvSpPr>
        <p:spPr>
          <a:xfrm>
            <a:off x="6153912" y="3986784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disclaimer enforcement, clinical language filtering, computational hedging — baked into every Claude response.</a:t>
            </a:r>
            <a:endParaRPr lang="en-US" sz="10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16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Primary Use Case: Drug Target Validation</a:t>
            </a:r>
            <a:endParaRPr lang="en-US" sz="3000"/>
          </a:p>
        </p:txBody>
      </p:sp>
      <p:sp>
        <p:nvSpPr>
          <p:cNvPr id="3" name="Text 1"/>
          <p:cNvSpPr/>
          <p:nvPr/>
        </p:nvSpPr>
        <p:spPr>
          <a:xfrm>
            <a:off x="502920" y="85039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DataLens fits in the Structure-Based Drug Design pipeline</a:t>
            </a:r>
            <a:endParaRPr lang="en-US" sz="1300"/>
          </a:p>
        </p:txBody>
      </p:sp>
      <p:sp>
        <p:nvSpPr>
          <p:cNvPr id="4" name="Shape 2"/>
          <p:cNvSpPr/>
          <p:nvPr/>
        </p:nvSpPr>
        <p:spPr>
          <a:xfrm>
            <a:off x="502920" y="804672"/>
            <a:ext cx="100584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47472" y="1115568"/>
            <a:ext cx="1600200" cy="3108960"/>
          </a:xfrm>
          <a:prstGeom prst="rect">
            <a:avLst/>
          </a:prstGeom>
          <a:solidFill>
            <a:srgbClr val="132039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47472" y="1115568"/>
            <a:ext cx="1600200" cy="411480"/>
          </a:xfrm>
          <a:prstGeom prst="rect">
            <a:avLst/>
          </a:prstGeom>
          <a:solidFill>
            <a:srgbClr val="1C3A52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7472" y="111556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/>
          </a:p>
        </p:txBody>
      </p:sp>
      <p:sp>
        <p:nvSpPr>
          <p:cNvPr id="8" name="Text 6"/>
          <p:cNvSpPr/>
          <p:nvPr/>
        </p:nvSpPr>
        <p:spPr>
          <a:xfrm>
            <a:off x="347472" y="1600200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 ID</a:t>
            </a:r>
            <a:endParaRPr lang="en-US" sz="1150"/>
          </a:p>
        </p:txBody>
      </p:sp>
      <p:sp>
        <p:nvSpPr>
          <p:cNvPr id="9" name="Text 7"/>
          <p:cNvSpPr/>
          <p:nvPr/>
        </p:nvSpPr>
        <p:spPr>
          <a:xfrm>
            <a:off x="438912" y="2148840"/>
            <a:ext cx="1444752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 protein implicated in disease. Need to understand its structure and mutational landscape.</a:t>
            </a:r>
            <a:endParaRPr lang="en-US" sz="95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5104" y="2331720"/>
            <a:ext cx="91440" cy="16459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084832" y="1115568"/>
            <a:ext cx="1600200" cy="3108960"/>
          </a:xfrm>
          <a:prstGeom prst="rect">
            <a:avLst/>
          </a:prstGeom>
          <a:solidFill>
            <a:srgbClr val="132039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2084832" y="1115568"/>
            <a:ext cx="1600200" cy="411480"/>
          </a:xfrm>
          <a:prstGeom prst="rect">
            <a:avLst/>
          </a:prstGeom>
          <a:solidFill>
            <a:srgbClr val="1C3A52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2084832" y="111556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/>
          </a:p>
        </p:txBody>
      </p:sp>
      <p:sp>
        <p:nvSpPr>
          <p:cNvPr id="14" name="Text 11"/>
          <p:cNvSpPr/>
          <p:nvPr/>
        </p:nvSpPr>
        <p:spPr>
          <a:xfrm>
            <a:off x="2084832" y="1600200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Binding Site</a:t>
            </a:r>
            <a:endParaRPr lang="en-US" sz="1150"/>
          </a:p>
          <a:p>
            <a:pPr marL="0" indent="0" algn="ctr">
              <a:buNone/>
            </a:pPr>
            <a:r>
              <a:rPr lang="en-US" sz="115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Analysis</a:t>
            </a:r>
            <a:endParaRPr lang="en-US" sz="1150"/>
          </a:p>
        </p:txBody>
      </p:sp>
      <p:sp>
        <p:nvSpPr>
          <p:cNvPr id="15" name="Text 12"/>
          <p:cNvSpPr/>
          <p:nvPr/>
        </p:nvSpPr>
        <p:spPr>
          <a:xfrm>
            <a:off x="2176272" y="2148840"/>
            <a:ext cx="1444752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druggable pockets (active site, allosteric sites, PPI surfaces) using 3D structure.</a:t>
            </a:r>
            <a:endParaRPr lang="en-US" sz="95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2464" y="2331720"/>
            <a:ext cx="91440" cy="164592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3822192" y="1115568"/>
            <a:ext cx="1600200" cy="3108960"/>
          </a:xfrm>
          <a:prstGeom prst="rect">
            <a:avLst/>
          </a:prstGeom>
          <a:solidFill>
            <a:srgbClr val="0D3B36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3822192" y="1115568"/>
            <a:ext cx="160020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3822192" y="111556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/>
          </a:p>
        </p:txBody>
      </p:sp>
      <p:sp>
        <p:nvSpPr>
          <p:cNvPr id="20" name="Text 16"/>
          <p:cNvSpPr/>
          <p:nvPr/>
        </p:nvSpPr>
        <p:spPr>
          <a:xfrm>
            <a:off x="3822192" y="1600200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Variant</a:t>
            </a:r>
            <a:endParaRPr lang="en-US" sz="1150"/>
          </a:p>
          <a:p>
            <a:pPr marL="0" indent="0" algn="ctr">
              <a:buNone/>
            </a:pPr>
            <a:r>
              <a:rPr lang="en-US" sz="1150" b="1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Triage</a:t>
            </a:r>
            <a:endParaRPr lang="en-US" sz="1150"/>
          </a:p>
        </p:txBody>
      </p:sp>
      <p:sp>
        <p:nvSpPr>
          <p:cNvPr id="21" name="Text 17"/>
          <p:cNvSpPr/>
          <p:nvPr/>
        </p:nvSpPr>
        <p:spPr>
          <a:xfrm>
            <a:off x="3913632" y="2148840"/>
            <a:ext cx="1444752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DataLens lives here. Which positions are functionally constrained? Which mutations confer resistance or reduce druggability?</a:t>
            </a:r>
            <a:endParaRPr lang="en-US" sz="95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9824" y="2331720"/>
            <a:ext cx="91440" cy="164592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5559552" y="1115568"/>
            <a:ext cx="1600200" cy="3108960"/>
          </a:xfrm>
          <a:prstGeom prst="rect">
            <a:avLst/>
          </a:prstGeom>
          <a:solidFill>
            <a:srgbClr val="132039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5559552" y="1115568"/>
            <a:ext cx="1600200" cy="411480"/>
          </a:xfrm>
          <a:prstGeom prst="rect">
            <a:avLst/>
          </a:prstGeom>
          <a:solidFill>
            <a:srgbClr val="1C3A52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0"/>
          <p:cNvSpPr/>
          <p:nvPr/>
        </p:nvSpPr>
        <p:spPr>
          <a:xfrm>
            <a:off x="5559552" y="111556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/>
          </a:p>
        </p:txBody>
      </p:sp>
      <p:sp>
        <p:nvSpPr>
          <p:cNvPr id="26" name="Text 21"/>
          <p:cNvSpPr/>
          <p:nvPr/>
        </p:nvSpPr>
        <p:spPr>
          <a:xfrm>
            <a:off x="5559552" y="1600200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Lead</a:t>
            </a:r>
            <a:endParaRPr lang="en-US" sz="1150"/>
          </a:p>
          <a:p>
            <a:pPr marL="0" indent="0" algn="ctr">
              <a:buNone/>
            </a:pPr>
            <a:r>
              <a:rPr lang="en-US" sz="115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Optimization</a:t>
            </a:r>
            <a:endParaRPr lang="en-US" sz="1150"/>
          </a:p>
        </p:txBody>
      </p:sp>
      <p:sp>
        <p:nvSpPr>
          <p:cNvPr id="27" name="Text 22"/>
          <p:cNvSpPr/>
          <p:nvPr/>
        </p:nvSpPr>
        <p:spPr>
          <a:xfrm>
            <a:off x="5650992" y="2148840"/>
            <a:ext cx="1444752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small molecules that complement binding site geometry and electrostatics.</a:t>
            </a:r>
            <a:endParaRPr lang="en-US" sz="95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7184" y="2331720"/>
            <a:ext cx="91440" cy="164592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7296912" y="1115568"/>
            <a:ext cx="1600200" cy="3108960"/>
          </a:xfrm>
          <a:prstGeom prst="rect">
            <a:avLst/>
          </a:prstGeom>
          <a:solidFill>
            <a:srgbClr val="132039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4"/>
          <p:cNvSpPr/>
          <p:nvPr/>
        </p:nvSpPr>
        <p:spPr>
          <a:xfrm>
            <a:off x="7296912" y="1115568"/>
            <a:ext cx="1600200" cy="411480"/>
          </a:xfrm>
          <a:prstGeom prst="rect">
            <a:avLst/>
          </a:prstGeom>
          <a:solidFill>
            <a:srgbClr val="1C3A52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5"/>
          <p:cNvSpPr/>
          <p:nvPr/>
        </p:nvSpPr>
        <p:spPr>
          <a:xfrm>
            <a:off x="7296912" y="111556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/>
          </a:p>
        </p:txBody>
      </p:sp>
      <p:sp>
        <p:nvSpPr>
          <p:cNvPr id="32" name="Text 26"/>
          <p:cNvSpPr/>
          <p:nvPr/>
        </p:nvSpPr>
        <p:spPr>
          <a:xfrm>
            <a:off x="7296912" y="1600200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ADMET</a:t>
            </a:r>
            <a:endParaRPr lang="en-US" sz="1150"/>
          </a:p>
          <a:p>
            <a:pPr marL="0" indent="0" algn="ctr">
              <a:buNone/>
            </a:pPr>
            <a:r>
              <a:rPr lang="en-US" sz="115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Profiling</a:t>
            </a:r>
            <a:endParaRPr lang="en-US" sz="1150"/>
          </a:p>
        </p:txBody>
      </p:sp>
      <p:sp>
        <p:nvSpPr>
          <p:cNvPr id="33" name="Text 27"/>
          <p:cNvSpPr/>
          <p:nvPr/>
        </p:nvSpPr>
        <p:spPr>
          <a:xfrm>
            <a:off x="7388352" y="2148840"/>
            <a:ext cx="1444752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Absorption, distribution, metabolism, excretion, and toxicity evaluation before clinical trials.</a:t>
            </a:r>
            <a:endParaRPr lang="en-US" sz="950"/>
          </a:p>
        </p:txBody>
      </p:sp>
      <p:sp>
        <p:nvSpPr>
          <p:cNvPr id="34" name="Shape 28"/>
          <p:cNvSpPr/>
          <p:nvPr/>
        </p:nvSpPr>
        <p:spPr>
          <a:xfrm>
            <a:off x="347472" y="4389120"/>
            <a:ext cx="8412480" cy="548640"/>
          </a:xfrm>
          <a:prstGeom prst="rect">
            <a:avLst/>
          </a:prstGeom>
          <a:solidFill>
            <a:srgbClr val="0D3B36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29"/>
          <p:cNvSpPr/>
          <p:nvPr/>
        </p:nvSpPr>
        <p:spPr>
          <a:xfrm>
            <a:off x="457200" y="442569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estimated 60% of drug discovery projects have failed due to undruggability of the target binding site.  DataLens makes systematic variant triage of drug targets practical as a standard early-discovery step.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DataLens Fills a Proven Integration Gap</a:t>
            </a:r>
            <a:endParaRPr lang="en-US" sz="3000"/>
          </a:p>
        </p:txBody>
      </p:sp>
      <p:sp>
        <p:nvSpPr>
          <p:cNvPr id="3" name="Text 1"/>
          <p:cNvSpPr/>
          <p:nvPr/>
        </p:nvSpPr>
        <p:spPr>
          <a:xfrm>
            <a:off x="502920" y="85039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confirms no existing tool combines all five analytical dimensions</a:t>
            </a:r>
            <a:endParaRPr lang="en-US" sz="1300"/>
          </a:p>
        </p:txBody>
      </p:sp>
      <p:sp>
        <p:nvSpPr>
          <p:cNvPr id="4" name="Shape 2"/>
          <p:cNvSpPr/>
          <p:nvPr/>
        </p:nvSpPr>
        <p:spPr>
          <a:xfrm>
            <a:off x="502920" y="804672"/>
            <a:ext cx="100584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274320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Analytical Dimension</a:t>
            </a:r>
            <a:endParaRPr lang="en-US" sz="1200"/>
          </a:p>
        </p:txBody>
      </p:sp>
      <p:sp>
        <p:nvSpPr>
          <p:cNvPr id="7" name="Shape 5"/>
          <p:cNvSpPr/>
          <p:nvPr/>
        </p:nvSpPr>
        <p:spPr>
          <a:xfrm>
            <a:off x="3200400" y="1115568"/>
            <a:ext cx="329184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0" y="111556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Best Existing Tool</a:t>
            </a:r>
            <a:endParaRPr lang="en-US" sz="1200"/>
          </a:p>
        </p:txBody>
      </p:sp>
      <p:sp>
        <p:nvSpPr>
          <p:cNvPr id="9" name="Shape 7"/>
          <p:cNvSpPr/>
          <p:nvPr/>
        </p:nvSpPr>
        <p:spPr>
          <a:xfrm>
            <a:off x="6583680" y="1115568"/>
            <a:ext cx="228600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83680" y="11155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DataLens</a:t>
            </a:r>
            <a:endParaRPr lang="en-US" sz="1200"/>
          </a:p>
        </p:txBody>
      </p:sp>
      <p:sp>
        <p:nvSpPr>
          <p:cNvPr id="11" name="Shape 9"/>
          <p:cNvSpPr/>
          <p:nvPr/>
        </p:nvSpPr>
        <p:spPr>
          <a:xfrm>
            <a:off x="365760" y="1572768"/>
            <a:ext cx="8503920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157276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3D Structure</a:t>
            </a:r>
            <a:endParaRPr lang="en-US" sz="1100"/>
          </a:p>
          <a:p>
            <a:pPr marL="0" indent="0">
              <a:buNone/>
            </a:pPr>
            <a:r>
              <a:rPr lang="en-US" sz="110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Visualization</a:t>
            </a:r>
            <a:endParaRPr lang="en-US" sz="1100"/>
          </a:p>
        </p:txBody>
      </p:sp>
      <p:sp>
        <p:nvSpPr>
          <p:cNvPr id="13" name="Text 11"/>
          <p:cNvSpPr/>
          <p:nvPr/>
        </p:nvSpPr>
        <p:spPr>
          <a:xfrm>
            <a:off x="3200400" y="157276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PyMOL, ChimeraX</a:t>
            </a:r>
            <a:endParaRPr lang="en-US" sz="1050"/>
          </a:p>
        </p:txBody>
      </p:sp>
      <p:sp>
        <p:nvSpPr>
          <p:cNvPr id="14" name="Text 12"/>
          <p:cNvSpPr/>
          <p:nvPr/>
        </p:nvSpPr>
        <p:spPr>
          <a:xfrm>
            <a:off x="6583680" y="157276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/>
          </a:p>
        </p:txBody>
      </p:sp>
      <p:sp>
        <p:nvSpPr>
          <p:cNvPr id="15" name="Shape 13"/>
          <p:cNvSpPr/>
          <p:nvPr/>
        </p:nvSpPr>
        <p:spPr>
          <a:xfrm>
            <a:off x="365760" y="2212848"/>
            <a:ext cx="8503920" cy="56692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221284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Pathogenicity</a:t>
            </a:r>
            <a:endParaRPr lang="en-US" sz="1100"/>
          </a:p>
          <a:p>
            <a:pPr marL="0" indent="0">
              <a:buNone/>
            </a:pPr>
            <a:r>
              <a:rPr lang="en-US" sz="110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Scoring</a:t>
            </a:r>
            <a:endParaRPr lang="en-US" sz="1100"/>
          </a:p>
        </p:txBody>
      </p:sp>
      <p:sp>
        <p:nvSpPr>
          <p:cNvPr id="17" name="Text 15"/>
          <p:cNvSpPr/>
          <p:nvPr/>
        </p:nvSpPr>
        <p:spPr>
          <a:xfrm>
            <a:off x="3200400" y="221284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AlphaMissense Portal</a:t>
            </a:r>
            <a:endParaRPr lang="en-US" sz="1050"/>
          </a:p>
        </p:txBody>
      </p:sp>
      <p:sp>
        <p:nvSpPr>
          <p:cNvPr id="18" name="Text 16"/>
          <p:cNvSpPr/>
          <p:nvPr/>
        </p:nvSpPr>
        <p:spPr>
          <a:xfrm>
            <a:off x="6583680" y="221284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/>
          </a:p>
        </p:txBody>
      </p:sp>
      <p:sp>
        <p:nvSpPr>
          <p:cNvPr id="19" name="Shape 17"/>
          <p:cNvSpPr/>
          <p:nvPr/>
        </p:nvSpPr>
        <p:spPr>
          <a:xfrm>
            <a:off x="365760" y="2852928"/>
            <a:ext cx="8503920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285292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Stability</a:t>
            </a:r>
            <a:endParaRPr lang="en-US" sz="1100"/>
          </a:p>
          <a:p>
            <a:pPr marL="0" indent="0">
              <a:buNone/>
            </a:pPr>
            <a:r>
              <a:rPr lang="en-US" sz="110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Prediction (ΔΔG)</a:t>
            </a:r>
            <a:endParaRPr lang="en-US" sz="1100"/>
          </a:p>
        </p:txBody>
      </p:sp>
      <p:sp>
        <p:nvSpPr>
          <p:cNvPr id="21" name="Text 19"/>
          <p:cNvSpPr/>
          <p:nvPr/>
        </p:nvSpPr>
        <p:spPr>
          <a:xfrm>
            <a:off x="3200400" y="285292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FoldX Web/CLI</a:t>
            </a:r>
            <a:endParaRPr lang="en-US" sz="1050"/>
          </a:p>
        </p:txBody>
      </p:sp>
      <p:sp>
        <p:nvSpPr>
          <p:cNvPr id="22" name="Text 20"/>
          <p:cNvSpPr/>
          <p:nvPr/>
        </p:nvSpPr>
        <p:spPr>
          <a:xfrm>
            <a:off x="6583680" y="285292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/>
          </a:p>
        </p:txBody>
      </p:sp>
      <p:sp>
        <p:nvSpPr>
          <p:cNvPr id="23" name="Shape 21"/>
          <p:cNvSpPr/>
          <p:nvPr/>
        </p:nvSpPr>
        <p:spPr>
          <a:xfrm>
            <a:off x="365760" y="3493008"/>
            <a:ext cx="8503920" cy="56692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" y="349300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Clinical</a:t>
            </a:r>
            <a:endParaRPr lang="en-US" sz="1100"/>
          </a:p>
          <a:p>
            <a:pPr marL="0" indent="0">
              <a:buNone/>
            </a:pPr>
            <a:r>
              <a:rPr lang="en-US" sz="110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Evidence</a:t>
            </a:r>
            <a:endParaRPr lang="en-US" sz="1100"/>
          </a:p>
        </p:txBody>
      </p:sp>
      <p:sp>
        <p:nvSpPr>
          <p:cNvPr id="25" name="Text 23"/>
          <p:cNvSpPr/>
          <p:nvPr/>
        </p:nvSpPr>
        <p:spPr>
          <a:xfrm>
            <a:off x="3200400" y="349300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ClinVar, gnomAD</a:t>
            </a:r>
            <a:endParaRPr lang="en-US" sz="1050"/>
          </a:p>
        </p:txBody>
      </p:sp>
      <p:sp>
        <p:nvSpPr>
          <p:cNvPr id="26" name="Text 24"/>
          <p:cNvSpPr/>
          <p:nvPr/>
        </p:nvSpPr>
        <p:spPr>
          <a:xfrm>
            <a:off x="6583680" y="349300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/>
          </a:p>
        </p:txBody>
      </p:sp>
      <p:sp>
        <p:nvSpPr>
          <p:cNvPr id="27" name="Shape 25"/>
          <p:cNvSpPr/>
          <p:nvPr/>
        </p:nvSpPr>
        <p:spPr>
          <a:xfrm>
            <a:off x="365760" y="4133088"/>
            <a:ext cx="8503920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57200" y="413308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AI-Assisted</a:t>
            </a:r>
            <a:endParaRPr lang="en-US" sz="1100"/>
          </a:p>
          <a:p>
            <a:pPr marL="0" indent="0">
              <a:buNone/>
            </a:pPr>
            <a:r>
              <a:rPr lang="en-US" sz="110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Interpretation</a:t>
            </a:r>
            <a:endParaRPr lang="en-US" sz="1100"/>
          </a:p>
        </p:txBody>
      </p:sp>
      <p:sp>
        <p:nvSpPr>
          <p:cNvPr id="29" name="Text 27"/>
          <p:cNvSpPr/>
          <p:nvPr/>
        </p:nvSpPr>
        <p:spPr>
          <a:xfrm>
            <a:off x="3200400" y="413308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(none)</a:t>
            </a:r>
            <a:endParaRPr lang="en-US" sz="1050"/>
          </a:p>
        </p:txBody>
      </p:sp>
      <p:sp>
        <p:nvSpPr>
          <p:cNvPr id="30" name="Text 28"/>
          <p:cNvSpPr/>
          <p:nvPr/>
        </p:nvSpPr>
        <p:spPr>
          <a:xfrm>
            <a:off x="6583680" y="413308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/>
          </a:p>
        </p:txBody>
      </p:sp>
      <p:sp>
        <p:nvSpPr>
          <p:cNvPr id="31" name="Shape 29"/>
          <p:cNvSpPr/>
          <p:nvPr/>
        </p:nvSpPr>
        <p:spPr>
          <a:xfrm>
            <a:off x="365760" y="4754880"/>
            <a:ext cx="850392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65760" y="4754880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Iserte et al.: users required to "download several tools and consult various documentations"  ·  Philipp et al.: existing servers "not interactive, cannot iteratively modify the protein"  ·  Venselaar et al. (HOPE): motivated by difficulty providing structural interpretation across platforms</a:t>
            </a:r>
            <a:endParaRPr lang="en-US" sz="8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</a:t>
            </a:r>
            <a:endParaRPr lang="en-US" sz="3000"/>
          </a:p>
        </p:txBody>
      </p:sp>
      <p:sp>
        <p:nvSpPr>
          <p:cNvPr id="3" name="Text 1"/>
          <p:cNvSpPr/>
          <p:nvPr/>
        </p:nvSpPr>
        <p:spPr>
          <a:xfrm>
            <a:off x="502920" y="85039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loosely-coupled subsystems spanning C++ and Python</a:t>
            </a:r>
            <a:endParaRPr lang="en-US" sz="1300"/>
          </a:p>
        </p:txBody>
      </p:sp>
      <p:sp>
        <p:nvSpPr>
          <p:cNvPr id="4" name="Shape 2"/>
          <p:cNvSpPr/>
          <p:nvPr/>
        </p:nvSpPr>
        <p:spPr>
          <a:xfrm>
            <a:off x="502920" y="804672"/>
            <a:ext cx="100584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115568"/>
            <a:ext cx="1993392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115568"/>
            <a:ext cx="1993392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115568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60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" y="1783080"/>
            <a:ext cx="548640" cy="548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2450592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C++/OpenGL Frontend</a:t>
            </a:r>
            <a:endParaRPr lang="en-US" sz="1150"/>
          </a:p>
        </p:txBody>
      </p:sp>
      <p:sp>
        <p:nvSpPr>
          <p:cNvPr id="10" name="Text 7"/>
          <p:cNvSpPr/>
          <p:nvPr/>
        </p:nvSpPr>
        <p:spPr>
          <a:xfrm>
            <a:off x="411480" y="2907792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C++17 · GLFW · GLEW · Dear ImGui</a:t>
            </a:r>
            <a:endParaRPr lang="en-US" sz="950"/>
          </a:p>
        </p:txBody>
      </p:sp>
      <p:sp>
        <p:nvSpPr>
          <p:cNvPr id="11" name="Text 8"/>
          <p:cNvSpPr/>
          <p:nvPr/>
        </p:nvSpPr>
        <p:spPr>
          <a:xfrm>
            <a:off x="502920" y="327355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Rendering, ray-cast selection, input, ImGui panels</a:t>
            </a:r>
            <a:endParaRPr lang="en-US" sz="1000"/>
          </a:p>
        </p:txBody>
      </p:sp>
      <p:sp>
        <p:nvSpPr>
          <p:cNvPr id="12" name="Shape 9"/>
          <p:cNvSpPr/>
          <p:nvPr/>
        </p:nvSpPr>
        <p:spPr>
          <a:xfrm>
            <a:off x="2542032" y="1115568"/>
            <a:ext cx="1993392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2542032" y="1115568"/>
            <a:ext cx="1993392" cy="5029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2542032" y="1115568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60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4408" y="1783080"/>
            <a:ext cx="548640" cy="5486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542032" y="2450592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 FastAPI Backend</a:t>
            </a:r>
            <a:endParaRPr lang="en-US" sz="1150"/>
          </a:p>
        </p:txBody>
      </p:sp>
      <p:sp>
        <p:nvSpPr>
          <p:cNvPr id="17" name="Text 13"/>
          <p:cNvSpPr/>
          <p:nvPr/>
        </p:nvSpPr>
        <p:spPr>
          <a:xfrm>
            <a:off x="2542032" y="2907792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 · FastAPI · Uvicorn</a:t>
            </a:r>
            <a:endParaRPr lang="en-US" sz="950"/>
          </a:p>
        </p:txBody>
      </p:sp>
      <p:sp>
        <p:nvSpPr>
          <p:cNvPr id="18" name="Text 14"/>
          <p:cNvSpPr/>
          <p:nvPr/>
        </p:nvSpPr>
        <p:spPr>
          <a:xfrm>
            <a:off x="2633472" y="327355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domain routers: AlphaMissense, SIFTS, FoldX, Structure, UniProt</a:t>
            </a:r>
            <a:endParaRPr lang="en-US" sz="1000"/>
          </a:p>
        </p:txBody>
      </p:sp>
      <p:sp>
        <p:nvSpPr>
          <p:cNvPr id="19" name="Shape 15"/>
          <p:cNvSpPr/>
          <p:nvPr/>
        </p:nvSpPr>
        <p:spPr>
          <a:xfrm>
            <a:off x="4672584" y="1115568"/>
            <a:ext cx="1993392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4672584" y="1115568"/>
            <a:ext cx="1993392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4672584" y="1115568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60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4960" y="1783080"/>
            <a:ext cx="548640" cy="54864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672584" y="2450592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PostgreSQL Database</a:t>
            </a:r>
            <a:endParaRPr lang="en-US" sz="1150"/>
          </a:p>
        </p:txBody>
      </p:sp>
      <p:sp>
        <p:nvSpPr>
          <p:cNvPr id="24" name="Text 19"/>
          <p:cNvSpPr/>
          <p:nvPr/>
        </p:nvSpPr>
        <p:spPr>
          <a:xfrm>
            <a:off x="4672584" y="2907792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15 · asyncpg</a:t>
            </a:r>
            <a:endParaRPr lang="en-US" sz="950"/>
          </a:p>
        </p:txBody>
      </p:sp>
      <p:sp>
        <p:nvSpPr>
          <p:cNvPr id="25" name="Text 20"/>
          <p:cNvSpPr/>
          <p:nvPr/>
        </p:nvSpPr>
        <p:spPr>
          <a:xfrm>
            <a:off x="4764024" y="327355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216M+ AlphaMissense variants; SIFTS mapping table</a:t>
            </a:r>
            <a:endParaRPr lang="en-US" sz="1000"/>
          </a:p>
        </p:txBody>
      </p:sp>
      <p:sp>
        <p:nvSpPr>
          <p:cNvPr id="26" name="Shape 21"/>
          <p:cNvSpPr/>
          <p:nvPr/>
        </p:nvSpPr>
        <p:spPr>
          <a:xfrm>
            <a:off x="6803136" y="1115568"/>
            <a:ext cx="1993392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2"/>
          <p:cNvSpPr/>
          <p:nvPr/>
        </p:nvSpPr>
        <p:spPr>
          <a:xfrm>
            <a:off x="6803136" y="1115568"/>
            <a:ext cx="1993392" cy="5029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3"/>
          <p:cNvSpPr/>
          <p:nvPr/>
        </p:nvSpPr>
        <p:spPr>
          <a:xfrm>
            <a:off x="6803136" y="1115568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600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5512" y="1783080"/>
            <a:ext cx="548640" cy="54864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6803136" y="2450592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AI Layer</a:t>
            </a:r>
            <a:endParaRPr lang="en-US" sz="1150"/>
          </a:p>
        </p:txBody>
      </p:sp>
      <p:sp>
        <p:nvSpPr>
          <p:cNvPr id="31" name="Text 25"/>
          <p:cNvSpPr/>
          <p:nvPr/>
        </p:nvSpPr>
        <p:spPr>
          <a:xfrm>
            <a:off x="6803136" y="2907792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· Anthropic</a:t>
            </a:r>
            <a:endParaRPr lang="en-US" sz="950"/>
          </a:p>
        </p:txBody>
      </p:sp>
      <p:sp>
        <p:nvSpPr>
          <p:cNvPr id="32" name="Text 26"/>
          <p:cNvSpPr/>
          <p:nvPr/>
        </p:nvSpPr>
        <p:spPr>
          <a:xfrm>
            <a:off x="6894576" y="327355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synthesis; ClinVar + gnomAD + UniProt enrichment</a:t>
            </a:r>
            <a:endParaRPr lang="en-US" sz="1000"/>
          </a:p>
        </p:txBody>
      </p:sp>
      <p:sp>
        <p:nvSpPr>
          <p:cNvPr id="33" name="Text 27"/>
          <p:cNvSpPr/>
          <p:nvPr/>
        </p:nvSpPr>
        <p:spPr>
          <a:xfrm>
            <a:off x="411480" y="413308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libcurl → HTTP/JSON → FastAPI → asyncpg → PostgreSQL</a:t>
            </a:r>
            <a:endParaRPr lang="en-US" sz="1100"/>
          </a:p>
        </p:txBody>
      </p:sp>
      <p:sp>
        <p:nvSpPr>
          <p:cNvPr id="34" name="Text 28"/>
          <p:cNvSpPr/>
          <p:nvPr/>
        </p:nvSpPr>
        <p:spPr>
          <a:xfrm>
            <a:off x="411480" y="449884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called via libcurl HTTPS from C++ worker thread</a:t>
            </a:r>
            <a:endParaRPr lang="en-US" sz="1100"/>
          </a:p>
        </p:txBody>
      </p:sp>
      <p:sp>
        <p:nvSpPr>
          <p:cNvPr id="35" name="Shape 29"/>
          <p:cNvSpPr/>
          <p:nvPr/>
        </p:nvSpPr>
        <p:spPr>
          <a:xfrm>
            <a:off x="5669280" y="3977640"/>
            <a:ext cx="3063240" cy="841248"/>
          </a:xfrm>
          <a:prstGeom prst="rect">
            <a:avLst/>
          </a:prstGeom>
          <a:solidFill>
            <a:srgbClr val="EFF6FF"/>
          </a:solidFill>
          <a:ln w="889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0"/>
          <p:cNvSpPr/>
          <p:nvPr/>
        </p:nvSpPr>
        <p:spPr>
          <a:xfrm>
            <a:off x="5715000" y="400507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D4E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Design Decision</a:t>
            </a:r>
            <a:endParaRPr lang="en-US" sz="1000"/>
          </a:p>
        </p:txBody>
      </p:sp>
      <p:sp>
        <p:nvSpPr>
          <p:cNvPr id="37" name="Text 31"/>
          <p:cNvSpPr/>
          <p:nvPr/>
        </p:nvSpPr>
        <p:spPr>
          <a:xfrm>
            <a:off x="5715000" y="4279392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Rendering loop never blocks on I/O — all backend calls dispatched on dedicated worker threads.</a:t>
            </a:r>
            <a:endParaRPr lang="en-US" sz="9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6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Rendering Architecture</a:t>
            </a:r>
            <a:endParaRPr lang="en-US" sz="3000"/>
          </a:p>
        </p:txBody>
      </p:sp>
      <p:sp>
        <p:nvSpPr>
          <p:cNvPr id="3" name="Text 1"/>
          <p:cNvSpPr/>
          <p:nvPr/>
        </p:nvSpPr>
        <p:spPr>
          <a:xfrm>
            <a:off x="502920" y="85039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homogeneous primitives, not a scene</a:t>
            </a:r>
            <a:endParaRPr lang="en-US" sz="1300"/>
          </a:p>
        </p:txBody>
      </p:sp>
      <p:sp>
        <p:nvSpPr>
          <p:cNvPr id="4" name="Shape 2"/>
          <p:cNvSpPr/>
          <p:nvPr/>
        </p:nvSpPr>
        <p:spPr>
          <a:xfrm>
            <a:off x="502920" y="804672"/>
            <a:ext cx="100584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115568"/>
            <a:ext cx="4434840" cy="868680"/>
          </a:xfrm>
          <a:prstGeom prst="rect">
            <a:avLst/>
          </a:prstGeom>
          <a:solidFill>
            <a:srgbClr val="132039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115568"/>
            <a:ext cx="54864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39496" y="1197864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Instanced Draw</a:t>
            </a:r>
            <a:endParaRPr lang="en-US" sz="1300"/>
          </a:p>
        </p:txBody>
      </p:sp>
      <p:sp>
        <p:nvSpPr>
          <p:cNvPr id="8" name="Text 6"/>
          <p:cNvSpPr/>
          <p:nvPr/>
        </p:nvSpPr>
        <p:spPr>
          <a:xfrm>
            <a:off x="539496" y="1463040"/>
            <a:ext cx="4251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glDrawArraysInstanced call for all atoms regardless of protein size. 50K+ spheres in 2 draw calls total.</a:t>
            </a:r>
            <a:endParaRPr lang="en-US" sz="1100"/>
          </a:p>
        </p:txBody>
      </p:sp>
      <p:sp>
        <p:nvSpPr>
          <p:cNvPr id="9" name="Shape 7"/>
          <p:cNvSpPr/>
          <p:nvPr/>
        </p:nvSpPr>
        <p:spPr>
          <a:xfrm>
            <a:off x="411480" y="2075688"/>
            <a:ext cx="4434840" cy="868680"/>
          </a:xfrm>
          <a:prstGeom prst="rect">
            <a:avLst/>
          </a:prstGeom>
          <a:solidFill>
            <a:srgbClr val="132039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11480" y="2075688"/>
            <a:ext cx="54864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39496" y="2157984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Flat SoA Layout</a:t>
            </a:r>
            <a:endParaRPr lang="en-US" sz="1300"/>
          </a:p>
        </p:txBody>
      </p:sp>
      <p:sp>
        <p:nvSpPr>
          <p:cNvPr id="12" name="Text 10"/>
          <p:cNvSpPr/>
          <p:nvPr/>
        </p:nvSpPr>
        <p:spPr>
          <a:xfrm>
            <a:off x="539496" y="2423160"/>
            <a:ext cx="4251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floats/atom: [x,y,z,radius,r,g,b]. Contiguous — color updates via direct memory overwrite + single glBufferSubData.</a:t>
            </a:r>
            <a:endParaRPr lang="en-US" sz="1100"/>
          </a:p>
        </p:txBody>
      </p:sp>
      <p:sp>
        <p:nvSpPr>
          <p:cNvPr id="13" name="Shape 11"/>
          <p:cNvSpPr/>
          <p:nvPr/>
        </p:nvSpPr>
        <p:spPr>
          <a:xfrm>
            <a:off x="411480" y="3035808"/>
            <a:ext cx="4434840" cy="868680"/>
          </a:xfrm>
          <a:prstGeom prst="rect">
            <a:avLst/>
          </a:prstGeom>
          <a:solidFill>
            <a:srgbClr val="132039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11480" y="3035808"/>
            <a:ext cx="54864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39496" y="3118104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Forward Pipeline</a:t>
            </a:r>
            <a:endParaRPr lang="en-US" sz="1300"/>
          </a:p>
        </p:txBody>
      </p:sp>
      <p:sp>
        <p:nvSpPr>
          <p:cNvPr id="16" name="Text 14"/>
          <p:cNvSpPr/>
          <p:nvPr/>
        </p:nvSpPr>
        <p:spPr>
          <a:xfrm>
            <a:off x="539496" y="3383280"/>
            <a:ext cx="4251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 + Lambertian diffuse. One directional light. No specular, no shadow map. Scientific clarity over aesthetics.</a:t>
            </a:r>
            <a:endParaRPr lang="en-US" sz="1100"/>
          </a:p>
        </p:txBody>
      </p:sp>
      <p:sp>
        <p:nvSpPr>
          <p:cNvPr id="17" name="Shape 15"/>
          <p:cNvSpPr/>
          <p:nvPr/>
        </p:nvSpPr>
        <p:spPr>
          <a:xfrm>
            <a:off x="411480" y="3995928"/>
            <a:ext cx="4434840" cy="868680"/>
          </a:xfrm>
          <a:prstGeom prst="rect">
            <a:avLst/>
          </a:prstGeom>
          <a:solidFill>
            <a:srgbClr val="132039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11480" y="3995928"/>
            <a:ext cx="54864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39496" y="4078224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CPU Ray Casting</a:t>
            </a:r>
            <a:endParaRPr lang="en-US" sz="1300"/>
          </a:p>
        </p:txBody>
      </p:sp>
      <p:sp>
        <p:nvSpPr>
          <p:cNvPr id="20" name="Text 18"/>
          <p:cNvSpPr/>
          <p:nvPr/>
        </p:nvSpPr>
        <p:spPr>
          <a:xfrm>
            <a:off x="539496" y="4343400"/>
            <a:ext cx="4251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 brute-force sphere intersection. Completes in &lt;1 ms for proteins up to 15K atoms. No BVH needed.</a:t>
            </a:r>
            <a:endParaRPr lang="en-US" sz="1100"/>
          </a:p>
        </p:txBody>
      </p:sp>
      <p:sp>
        <p:nvSpPr>
          <p:cNvPr id="21" name="Text 19"/>
          <p:cNvSpPr/>
          <p:nvPr/>
        </p:nvSpPr>
        <p:spPr>
          <a:xfrm>
            <a:off x="5166360" y="111556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</a:t>
            </a:r>
            <a:endParaRPr lang="en-US" sz="1400"/>
          </a:p>
        </p:txBody>
      </p:sp>
      <p:sp>
        <p:nvSpPr>
          <p:cNvPr id="22" name="Shape 20"/>
          <p:cNvSpPr/>
          <p:nvPr/>
        </p:nvSpPr>
        <p:spPr>
          <a:xfrm>
            <a:off x="5166360" y="1554480"/>
            <a:ext cx="3566160" cy="566928"/>
          </a:xfrm>
          <a:prstGeom prst="rect">
            <a:avLst/>
          </a:prstGeom>
          <a:solidFill>
            <a:srgbClr val="132039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257800" y="157276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279 FPS</a:t>
            </a:r>
            <a:endParaRPr lang="en-US" sz="2000"/>
          </a:p>
        </p:txBody>
      </p:sp>
      <p:sp>
        <p:nvSpPr>
          <p:cNvPr id="24" name="Text 22"/>
          <p:cNvSpPr/>
          <p:nvPr/>
        </p:nvSpPr>
        <p:spPr>
          <a:xfrm>
            <a:off x="6400800" y="1572768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GFP 1GFL (3,650 atoms)</a:t>
            </a:r>
            <a:endParaRPr lang="en-US" sz="1050"/>
          </a:p>
        </p:txBody>
      </p:sp>
      <p:sp>
        <p:nvSpPr>
          <p:cNvPr id="25" name="Shape 23"/>
          <p:cNvSpPr/>
          <p:nvPr/>
        </p:nvSpPr>
        <p:spPr>
          <a:xfrm>
            <a:off x="5166360" y="2212848"/>
            <a:ext cx="3566160" cy="566928"/>
          </a:xfrm>
          <a:prstGeom prst="rect">
            <a:avLst/>
          </a:prstGeom>
          <a:solidFill>
            <a:srgbClr val="132039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257800" y="223113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452 FPS</a:t>
            </a:r>
            <a:endParaRPr lang="en-US" sz="2000"/>
          </a:p>
        </p:txBody>
      </p:sp>
      <p:sp>
        <p:nvSpPr>
          <p:cNvPr id="27" name="Text 25"/>
          <p:cNvSpPr/>
          <p:nvPr/>
        </p:nvSpPr>
        <p:spPr>
          <a:xfrm>
            <a:off x="6400800" y="2231136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BRCA1 1T29 (1,764 atoms)</a:t>
            </a:r>
            <a:endParaRPr lang="en-US" sz="1050"/>
          </a:p>
        </p:txBody>
      </p:sp>
      <p:sp>
        <p:nvSpPr>
          <p:cNvPr id="28" name="Shape 26"/>
          <p:cNvSpPr/>
          <p:nvPr/>
        </p:nvSpPr>
        <p:spPr>
          <a:xfrm>
            <a:off x="5166360" y="2871216"/>
            <a:ext cx="3566160" cy="566928"/>
          </a:xfrm>
          <a:prstGeom prst="rect">
            <a:avLst/>
          </a:prstGeom>
          <a:solidFill>
            <a:srgbClr val="132039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257800" y="288950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141 FPS</a:t>
            </a:r>
            <a:endParaRPr lang="en-US" sz="2000"/>
          </a:p>
        </p:txBody>
      </p:sp>
      <p:sp>
        <p:nvSpPr>
          <p:cNvPr id="30" name="Text 28"/>
          <p:cNvSpPr/>
          <p:nvPr/>
        </p:nvSpPr>
        <p:spPr>
          <a:xfrm>
            <a:off x="6400800" y="2889504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TP53 dimer 2OCJ (6,092 atoms)</a:t>
            </a:r>
            <a:endParaRPr lang="en-US" sz="1050"/>
          </a:p>
        </p:txBody>
      </p:sp>
      <p:sp>
        <p:nvSpPr>
          <p:cNvPr id="31" name="Shape 29"/>
          <p:cNvSpPr/>
          <p:nvPr/>
        </p:nvSpPr>
        <p:spPr>
          <a:xfrm>
            <a:off x="5166360" y="3529584"/>
            <a:ext cx="3566160" cy="566928"/>
          </a:xfrm>
          <a:prstGeom prst="rect">
            <a:avLst/>
          </a:prstGeom>
          <a:solidFill>
            <a:srgbClr val="132039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257800" y="354787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482 FPS</a:t>
            </a:r>
            <a:endParaRPr lang="en-US" sz="2000"/>
          </a:p>
        </p:txBody>
      </p:sp>
      <p:sp>
        <p:nvSpPr>
          <p:cNvPr id="33" name="Text 31"/>
          <p:cNvSpPr/>
          <p:nvPr/>
        </p:nvSpPr>
        <p:spPr>
          <a:xfrm>
            <a:off x="6400800" y="354787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SRC3/AIB1 3L3X (2,137 atoms)</a:t>
            </a:r>
            <a:endParaRPr lang="en-US" sz="1050"/>
          </a:p>
        </p:txBody>
      </p:sp>
      <p:sp>
        <p:nvSpPr>
          <p:cNvPr id="34" name="Shape 32"/>
          <p:cNvSpPr/>
          <p:nvPr/>
        </p:nvSpPr>
        <p:spPr>
          <a:xfrm>
            <a:off x="5166360" y="4187952"/>
            <a:ext cx="3566160" cy="566928"/>
          </a:xfrm>
          <a:prstGeom prst="rect">
            <a:avLst/>
          </a:prstGeom>
          <a:solidFill>
            <a:srgbClr val="132039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257800" y="42062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214 FPS</a:t>
            </a:r>
            <a:endParaRPr lang="en-US" sz="2000"/>
          </a:p>
        </p:txBody>
      </p:sp>
      <p:sp>
        <p:nvSpPr>
          <p:cNvPr id="36" name="Text 34"/>
          <p:cNvSpPr/>
          <p:nvPr/>
        </p:nvSpPr>
        <p:spPr>
          <a:xfrm>
            <a:off x="6400800" y="420624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Hemoglobin 2HHB (4,532 atoms)</a:t>
            </a:r>
            <a:endParaRPr lang="en-US" sz="1050"/>
          </a:p>
        </p:txBody>
      </p:sp>
      <p:sp>
        <p:nvSpPr>
          <p:cNvPr id="37" name="Text 35"/>
          <p:cNvSpPr/>
          <p:nvPr/>
        </p:nvSpPr>
        <p:spPr>
          <a:xfrm>
            <a:off x="5166360" y="48463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 Ryzen 7 5825U integrated graphics · 2000×1300 resolution</a:t>
            </a:r>
            <a:endParaRPr lang="en-US" sz="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Interface: Seven Integrated Panels</a:t>
            </a:r>
            <a:endParaRPr lang="en-US" sz="3000"/>
          </a:p>
        </p:txBody>
      </p:sp>
      <p:sp>
        <p:nvSpPr>
          <p:cNvPr id="3" name="Text 1"/>
          <p:cNvSpPr/>
          <p:nvPr/>
        </p:nvSpPr>
        <p:spPr>
          <a:xfrm>
            <a:off x="502920" y="85039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rendered by Dear ImGui in the same OpenGL context as the 3D viewport</a:t>
            </a:r>
            <a:endParaRPr lang="en-US" sz="1300"/>
          </a:p>
        </p:txBody>
      </p:sp>
      <p:sp>
        <p:nvSpPr>
          <p:cNvPr id="4" name="Shape 2"/>
          <p:cNvSpPr/>
          <p:nvPr/>
        </p:nvSpPr>
        <p:spPr>
          <a:xfrm>
            <a:off x="502920" y="804672"/>
            <a:ext cx="100584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115568"/>
            <a:ext cx="2280920" cy="121076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115568"/>
            <a:ext cx="429625" cy="1210761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115568"/>
            <a:ext cx="429625" cy="121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/>
          </a:p>
        </p:txBody>
      </p:sp>
      <p:sp>
        <p:nvSpPr>
          <p:cNvPr id="8" name="Text 6"/>
          <p:cNvSpPr/>
          <p:nvPr/>
        </p:nvSpPr>
        <p:spPr>
          <a:xfrm>
            <a:off x="1005840" y="1207008"/>
            <a:ext cx="1718501" cy="296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Mutation Landscape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1005839" y="1483145"/>
            <a:ext cx="1718501" cy="749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Per-residue worst-case AlphaMissense score across the full protein. Color-coded: red (pathogenic ≥0.564), yellow, green. Click-to-select rows.</a:t>
            </a:r>
            <a:endParaRPr lang="en-US" sz="950"/>
          </a:p>
        </p:txBody>
      </p:sp>
      <p:sp>
        <p:nvSpPr>
          <p:cNvPr id="10" name="Shape 8"/>
          <p:cNvSpPr/>
          <p:nvPr/>
        </p:nvSpPr>
        <p:spPr>
          <a:xfrm>
            <a:off x="3227832" y="1115568"/>
            <a:ext cx="2280920" cy="121076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27832" y="1115568"/>
            <a:ext cx="429625" cy="1210761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27832" y="1115568"/>
            <a:ext cx="429625" cy="121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/>
          </a:p>
        </p:txBody>
      </p:sp>
      <p:sp>
        <p:nvSpPr>
          <p:cNvPr id="13" name="Text 11"/>
          <p:cNvSpPr/>
          <p:nvPr/>
        </p:nvSpPr>
        <p:spPr>
          <a:xfrm>
            <a:off x="3822192" y="1207008"/>
            <a:ext cx="1718501" cy="296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Mutation Focus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3822192" y="1498473"/>
            <a:ext cx="1718501" cy="749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Per-variant detail: wildtype/mutant AA boxes, physicochemical labels, AM progress bar, FoldX ΔΔG with 4-tier color scheme, structural flags.</a:t>
            </a:r>
            <a:endParaRPr lang="en-US" sz="950"/>
          </a:p>
        </p:txBody>
      </p:sp>
      <p:sp>
        <p:nvSpPr>
          <p:cNvPr id="15" name="Shape 13"/>
          <p:cNvSpPr/>
          <p:nvPr/>
        </p:nvSpPr>
        <p:spPr>
          <a:xfrm>
            <a:off x="6044184" y="1115568"/>
            <a:ext cx="2280920" cy="121076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044184" y="1115568"/>
            <a:ext cx="429625" cy="1210761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044184" y="1115568"/>
            <a:ext cx="429625" cy="121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/>
          </a:p>
        </p:txBody>
      </p:sp>
      <p:sp>
        <p:nvSpPr>
          <p:cNvPr id="18" name="Text 16"/>
          <p:cNvSpPr/>
          <p:nvPr/>
        </p:nvSpPr>
        <p:spPr>
          <a:xfrm>
            <a:off x="6638544" y="1207008"/>
            <a:ext cx="1718501" cy="296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Variant Selector</a:t>
            </a:r>
            <a:endParaRPr lang="en-US" sz="1200"/>
          </a:p>
        </p:txBody>
      </p:sp>
      <p:sp>
        <p:nvSpPr>
          <p:cNvPr id="19" name="Text 17"/>
          <p:cNvSpPr/>
          <p:nvPr/>
        </p:nvSpPr>
        <p:spPr>
          <a:xfrm>
            <a:off x="6672999" y="1505903"/>
            <a:ext cx="1718501" cy="749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19 possible substitutions at selected position with AlphaMissense scores. Manual FoldX mutation input mode.</a:t>
            </a:r>
            <a:endParaRPr lang="en-US" sz="950"/>
          </a:p>
        </p:txBody>
      </p:sp>
      <p:sp>
        <p:nvSpPr>
          <p:cNvPr id="20" name="Shape 18"/>
          <p:cNvSpPr/>
          <p:nvPr/>
        </p:nvSpPr>
        <p:spPr>
          <a:xfrm>
            <a:off x="411480" y="2490681"/>
            <a:ext cx="2280920" cy="121076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11480" y="2490681"/>
            <a:ext cx="429625" cy="1210761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11480" y="2490681"/>
            <a:ext cx="429625" cy="121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200"/>
          </a:p>
        </p:txBody>
      </p:sp>
      <p:sp>
        <p:nvSpPr>
          <p:cNvPr id="23" name="Text 21"/>
          <p:cNvSpPr/>
          <p:nvPr/>
        </p:nvSpPr>
        <p:spPr>
          <a:xfrm>
            <a:off x="1005840" y="2582121"/>
            <a:ext cx="1718501" cy="296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Mutant Viewer</a:t>
            </a:r>
            <a:endParaRPr lang="en-US" sz="1200"/>
          </a:p>
        </p:txBody>
      </p:sp>
      <p:sp>
        <p:nvSpPr>
          <p:cNvPr id="24" name="Text 22"/>
          <p:cNvSpPr/>
          <p:nvPr/>
        </p:nvSpPr>
        <p:spPr>
          <a:xfrm>
            <a:off x="1005840" y="2875354"/>
            <a:ext cx="1718501" cy="749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Toggle-based wildtype/mutant comparison. Lost atoms (dark orange), gained (bright green), shared (element color). Global RMSD badge.</a:t>
            </a:r>
            <a:endParaRPr lang="en-US" sz="950"/>
          </a:p>
        </p:txBody>
      </p:sp>
      <p:sp>
        <p:nvSpPr>
          <p:cNvPr id="25" name="Shape 23"/>
          <p:cNvSpPr/>
          <p:nvPr/>
        </p:nvSpPr>
        <p:spPr>
          <a:xfrm>
            <a:off x="3227832" y="2490681"/>
            <a:ext cx="2280920" cy="121076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227832" y="2490681"/>
            <a:ext cx="429625" cy="1210761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227832" y="2490681"/>
            <a:ext cx="429625" cy="121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200"/>
          </a:p>
        </p:txBody>
      </p:sp>
      <p:sp>
        <p:nvSpPr>
          <p:cNvPr id="28" name="Text 26"/>
          <p:cNvSpPr/>
          <p:nvPr/>
        </p:nvSpPr>
        <p:spPr>
          <a:xfrm>
            <a:off x="3822192" y="2582121"/>
            <a:ext cx="1718501" cy="296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Structure Comparison</a:t>
            </a:r>
            <a:endParaRPr lang="en-US" sz="1200"/>
          </a:p>
        </p:txBody>
      </p:sp>
      <p:sp>
        <p:nvSpPr>
          <p:cNvPr id="29" name="Text 27"/>
          <p:cNvSpPr/>
          <p:nvPr/>
        </p:nvSpPr>
        <p:spPr>
          <a:xfrm>
            <a:off x="3822191" y="2875354"/>
            <a:ext cx="1718501" cy="749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Per-residue Cα RMSD table and bar chart. Adjustable minimum RMSD filter slider. Top 40 affected residues.</a:t>
            </a:r>
            <a:endParaRPr lang="en-US" sz="950"/>
          </a:p>
        </p:txBody>
      </p:sp>
      <p:sp>
        <p:nvSpPr>
          <p:cNvPr id="30" name="Shape 28"/>
          <p:cNvSpPr/>
          <p:nvPr/>
        </p:nvSpPr>
        <p:spPr>
          <a:xfrm>
            <a:off x="6044184" y="2490681"/>
            <a:ext cx="2280920" cy="121076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044184" y="2490681"/>
            <a:ext cx="429625" cy="1210761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044184" y="2490681"/>
            <a:ext cx="429625" cy="121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2200"/>
          </a:p>
        </p:txBody>
      </p:sp>
      <p:sp>
        <p:nvSpPr>
          <p:cNvPr id="33" name="Text 31"/>
          <p:cNvSpPr/>
          <p:nvPr/>
        </p:nvSpPr>
        <p:spPr>
          <a:xfrm>
            <a:off x="6638544" y="2582121"/>
            <a:ext cx="1718501" cy="296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Color Legend</a:t>
            </a:r>
            <a:endParaRPr lang="en-US" sz="1200"/>
          </a:p>
        </p:txBody>
      </p:sp>
      <p:sp>
        <p:nvSpPr>
          <p:cNvPr id="34" name="Text 32"/>
          <p:cNvSpPr/>
          <p:nvPr/>
        </p:nvSpPr>
        <p:spPr>
          <a:xfrm>
            <a:off x="6673000" y="2875353"/>
            <a:ext cx="1718501" cy="749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CPK element coloring key. 3-letter to 1-letter amino acid code reference table.</a:t>
            </a:r>
            <a:endParaRPr lang="en-US" sz="950"/>
          </a:p>
        </p:txBody>
      </p:sp>
      <p:sp>
        <p:nvSpPr>
          <p:cNvPr id="35" name="Shape 33"/>
          <p:cNvSpPr/>
          <p:nvPr/>
        </p:nvSpPr>
        <p:spPr>
          <a:xfrm>
            <a:off x="411480" y="3865793"/>
            <a:ext cx="2280920" cy="121076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11480" y="3865793"/>
            <a:ext cx="429625" cy="1210761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11480" y="3865793"/>
            <a:ext cx="429625" cy="121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2200"/>
          </a:p>
        </p:txBody>
      </p:sp>
      <p:sp>
        <p:nvSpPr>
          <p:cNvPr id="38" name="Text 36"/>
          <p:cNvSpPr/>
          <p:nvPr/>
        </p:nvSpPr>
        <p:spPr>
          <a:xfrm>
            <a:off x="1005840" y="3957233"/>
            <a:ext cx="1718501" cy="296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Assistant</a:t>
            </a:r>
            <a:endParaRPr lang="en-US" sz="1200"/>
          </a:p>
        </p:txBody>
      </p:sp>
      <p:sp>
        <p:nvSpPr>
          <p:cNvPr id="39" name="Text 37"/>
          <p:cNvSpPr/>
          <p:nvPr/>
        </p:nvSpPr>
        <p:spPr>
          <a:xfrm>
            <a:off x="1005840" y="4212674"/>
            <a:ext cx="1718501" cy="749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Claude API interface. Context-aware (current PDB/variant/ΔΔG). Animated thinking indicator. Color-coded chat history.</a:t>
            </a:r>
            <a:endParaRPr lang="en-US" sz="95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6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SIFTS: A Hard Problem</a:t>
            </a:r>
            <a:endParaRPr lang="en-US" sz="3000"/>
          </a:p>
        </p:txBody>
      </p:sp>
      <p:sp>
        <p:nvSpPr>
          <p:cNvPr id="3" name="Text 1"/>
          <p:cNvSpPr/>
          <p:nvPr/>
        </p:nvSpPr>
        <p:spPr>
          <a:xfrm>
            <a:off x="502920" y="85039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PDB residue numbers ≠ UniProt sequence positions — and the mismatch is silent</a:t>
            </a:r>
            <a:endParaRPr lang="en-US" sz="1300"/>
          </a:p>
        </p:txBody>
      </p:sp>
      <p:sp>
        <p:nvSpPr>
          <p:cNvPr id="4" name="Shape 2"/>
          <p:cNvSpPr/>
          <p:nvPr/>
        </p:nvSpPr>
        <p:spPr>
          <a:xfrm>
            <a:off x="502920" y="804672"/>
            <a:ext cx="100584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1115568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residue numbered 175 in the PDB may correspond to a different UniProt position. Without explicit mapping, AlphaMissense returns data for the wrong amino acid — no error, just wrong data.</a:t>
            </a:r>
            <a:endParaRPr lang="en-US" sz="1250"/>
          </a:p>
        </p:txBody>
      </p:sp>
      <p:sp>
        <p:nvSpPr>
          <p:cNvPr id="6" name="Shape 4"/>
          <p:cNvSpPr/>
          <p:nvPr/>
        </p:nvSpPr>
        <p:spPr>
          <a:xfrm>
            <a:off x="411480" y="1810512"/>
            <a:ext cx="4114800" cy="960120"/>
          </a:xfrm>
          <a:prstGeom prst="rect">
            <a:avLst/>
          </a:prstGeom>
          <a:solidFill>
            <a:srgbClr val="132039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810512"/>
            <a:ext cx="54864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39496" y="189280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Insertion Codes</a:t>
            </a:r>
            <a:endParaRPr lang="en-US" sz="1300"/>
          </a:p>
        </p:txBody>
      </p:sp>
      <p:sp>
        <p:nvSpPr>
          <p:cNvPr id="9" name="Text 7"/>
          <p:cNvSpPr/>
          <p:nvPr/>
        </p:nvSpPr>
        <p:spPr>
          <a:xfrm>
            <a:off x="539496" y="2157984"/>
            <a:ext cx="3931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PDB allows 175A, 175B — multiple residues at 'position 175'. UniProt uses strict sequential numbering.</a:t>
            </a:r>
            <a:endParaRPr lang="en-US" sz="1100"/>
          </a:p>
        </p:txBody>
      </p:sp>
      <p:sp>
        <p:nvSpPr>
          <p:cNvPr id="10" name="Shape 8"/>
          <p:cNvSpPr/>
          <p:nvPr/>
        </p:nvSpPr>
        <p:spPr>
          <a:xfrm>
            <a:off x="4709160" y="1810512"/>
            <a:ext cx="4114800" cy="960120"/>
          </a:xfrm>
          <a:prstGeom prst="rect">
            <a:avLst/>
          </a:prstGeom>
          <a:solidFill>
            <a:srgbClr val="132039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09160" y="1810512"/>
            <a:ext cx="54864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37176" y="189280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Partial Coverage</a:t>
            </a:r>
            <a:endParaRPr lang="en-US" sz="1300"/>
          </a:p>
        </p:txBody>
      </p:sp>
      <p:sp>
        <p:nvSpPr>
          <p:cNvPr id="13" name="Text 11"/>
          <p:cNvSpPr/>
          <p:nvPr/>
        </p:nvSpPr>
        <p:spPr>
          <a:xfrm>
            <a:off x="4837176" y="2157984"/>
            <a:ext cx="3931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Crystallized fragment may not span the full UniProt sequence. Residue 1 in PDB ≠ residue 1 in UniProt.</a:t>
            </a:r>
            <a:endParaRPr lang="en-US" sz="1100"/>
          </a:p>
        </p:txBody>
      </p:sp>
      <p:sp>
        <p:nvSpPr>
          <p:cNvPr id="14" name="Shape 12"/>
          <p:cNvSpPr/>
          <p:nvPr/>
        </p:nvSpPr>
        <p:spPr>
          <a:xfrm>
            <a:off x="411480" y="2862072"/>
            <a:ext cx="4114800" cy="960120"/>
          </a:xfrm>
          <a:prstGeom prst="rect">
            <a:avLst/>
          </a:prstGeom>
          <a:solidFill>
            <a:srgbClr val="132039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11480" y="2862072"/>
            <a:ext cx="54864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39496" y="29443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Numbering Resets</a:t>
            </a:r>
            <a:endParaRPr lang="en-US" sz="1300"/>
          </a:p>
        </p:txBody>
      </p:sp>
      <p:sp>
        <p:nvSpPr>
          <p:cNvPr id="17" name="Text 15"/>
          <p:cNvSpPr/>
          <p:nvPr/>
        </p:nvSpPr>
        <p:spPr>
          <a:xfrm>
            <a:off x="539496" y="3209544"/>
            <a:ext cx="3931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PDB files restart numbering at chain boundaries or use negative residue numbers.</a:t>
            </a:r>
            <a:endParaRPr lang="en-US" sz="1100"/>
          </a:p>
        </p:txBody>
      </p:sp>
      <p:sp>
        <p:nvSpPr>
          <p:cNvPr id="18" name="Shape 16"/>
          <p:cNvSpPr/>
          <p:nvPr/>
        </p:nvSpPr>
        <p:spPr>
          <a:xfrm>
            <a:off x="4709160" y="2862072"/>
            <a:ext cx="4114800" cy="960120"/>
          </a:xfrm>
          <a:prstGeom prst="rect">
            <a:avLst/>
          </a:prstGeom>
          <a:solidFill>
            <a:srgbClr val="132039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709160" y="2862072"/>
            <a:ext cx="54864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37176" y="29443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Missing Loops</a:t>
            </a:r>
            <a:endParaRPr lang="en-US" sz="1300"/>
          </a:p>
        </p:txBody>
      </p:sp>
      <p:sp>
        <p:nvSpPr>
          <p:cNvPr id="21" name="Text 19"/>
          <p:cNvSpPr/>
          <p:nvPr/>
        </p:nvSpPr>
        <p:spPr>
          <a:xfrm>
            <a:off x="4837176" y="3209544"/>
            <a:ext cx="3931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Disordered loops absent from electron density cause gaps — standard alignment fails silently.</a:t>
            </a:r>
            <a:endParaRPr lang="en-US" sz="1100"/>
          </a:p>
        </p:txBody>
      </p:sp>
      <p:sp>
        <p:nvSpPr>
          <p:cNvPr id="22" name="Shape 20"/>
          <p:cNvSpPr/>
          <p:nvPr/>
        </p:nvSpPr>
        <p:spPr>
          <a:xfrm>
            <a:off x="411480" y="4059936"/>
            <a:ext cx="8321040" cy="822960"/>
          </a:xfrm>
          <a:prstGeom prst="rect">
            <a:avLst/>
          </a:prstGeom>
          <a:solidFill>
            <a:srgbClr val="0D3B36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2920" y="408736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DataLens Solution: SIFTS linear offset model</a:t>
            </a:r>
            <a:endParaRPr lang="en-US" sz="1200"/>
          </a:p>
        </p:txBody>
      </p:sp>
      <p:sp>
        <p:nvSpPr>
          <p:cNvPr id="24" name="Text 22"/>
          <p:cNvSpPr/>
          <p:nvPr/>
        </p:nvSpPr>
        <p:spPr>
          <a:xfrm>
            <a:off x="502920" y="437083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uniprot_pos = uniprot_start + (pdb_residue − pdb_start)   ·   Loaded once at protein fetch; no per-click round-trip. Known bug: column aliases inverted in get_all_chains_with_residue_ranges() — compensated on C++ side.</a:t>
            </a:r>
            <a:endParaRPr lang="en-US" sz="105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AlphaMissense Database Architecture</a:t>
            </a:r>
            <a:endParaRPr lang="en-US" sz="3000"/>
          </a:p>
        </p:txBody>
      </p:sp>
      <p:sp>
        <p:nvSpPr>
          <p:cNvPr id="3" name="Text 1"/>
          <p:cNvSpPr/>
          <p:nvPr/>
        </p:nvSpPr>
        <p:spPr>
          <a:xfrm>
            <a:off x="502920" y="85039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216M variants — sub-second interactive queries</a:t>
            </a:r>
            <a:endParaRPr lang="en-US" sz="1300"/>
          </a:p>
        </p:txBody>
      </p:sp>
      <p:sp>
        <p:nvSpPr>
          <p:cNvPr id="4" name="Shape 2"/>
          <p:cNvSpPr/>
          <p:nvPr/>
        </p:nvSpPr>
        <p:spPr>
          <a:xfrm>
            <a:off x="502920" y="804672"/>
            <a:ext cx="100584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1993392" cy="1188720"/>
          </a:xfrm>
          <a:prstGeom prst="rect">
            <a:avLst/>
          </a:prstGeom>
          <a:solidFill>
            <a:srgbClr val="F8FAFC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170432"/>
            <a:ext cx="1993392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216M+</a:t>
            </a:r>
            <a:endParaRPr lang="en-US" sz="3200"/>
          </a:p>
        </p:txBody>
      </p:sp>
      <p:sp>
        <p:nvSpPr>
          <p:cNvPr id="7" name="Text 5"/>
          <p:cNvSpPr/>
          <p:nvPr/>
        </p:nvSpPr>
        <p:spPr>
          <a:xfrm>
            <a:off x="411480" y="1751076"/>
            <a:ext cx="1993392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records</a:t>
            </a:r>
            <a:endParaRPr lang="en-US" sz="1100"/>
          </a:p>
        </p:txBody>
      </p:sp>
      <p:sp>
        <p:nvSpPr>
          <p:cNvPr id="8" name="Shape 6"/>
          <p:cNvSpPr/>
          <p:nvPr/>
        </p:nvSpPr>
        <p:spPr>
          <a:xfrm>
            <a:off x="2542032" y="1097280"/>
            <a:ext cx="1993392" cy="1188720"/>
          </a:xfrm>
          <a:prstGeom prst="rect">
            <a:avLst/>
          </a:prstGeom>
          <a:solidFill>
            <a:srgbClr val="F8FAFC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42032" y="1170432"/>
            <a:ext cx="1993392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 ms</a:t>
            </a:r>
            <a:endParaRPr lang="en-US" sz="3200"/>
          </a:p>
        </p:txBody>
      </p:sp>
      <p:sp>
        <p:nvSpPr>
          <p:cNvPr id="10" name="Text 8"/>
          <p:cNvSpPr/>
          <p:nvPr/>
        </p:nvSpPr>
        <p:spPr>
          <a:xfrm>
            <a:off x="2542032" y="1751076"/>
            <a:ext cx="1993392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 query latency</a:t>
            </a:r>
            <a:endParaRPr lang="en-US" sz="1100"/>
          </a:p>
        </p:txBody>
      </p:sp>
      <p:sp>
        <p:nvSpPr>
          <p:cNvPr id="11" name="Shape 9"/>
          <p:cNvSpPr/>
          <p:nvPr/>
        </p:nvSpPr>
        <p:spPr>
          <a:xfrm>
            <a:off x="4672584" y="1097280"/>
            <a:ext cx="1993392" cy="1188720"/>
          </a:xfrm>
          <a:prstGeom prst="rect">
            <a:avLst/>
          </a:prstGeom>
          <a:solidFill>
            <a:srgbClr val="F8FAFC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72584" y="1170432"/>
            <a:ext cx="1993392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28.4 s</a:t>
            </a:r>
            <a:endParaRPr lang="en-US" sz="3200"/>
          </a:p>
        </p:txBody>
      </p:sp>
      <p:sp>
        <p:nvSpPr>
          <p:cNvPr id="13" name="Text 11"/>
          <p:cNvSpPr/>
          <p:nvPr/>
        </p:nvSpPr>
        <p:spPr>
          <a:xfrm>
            <a:off x="4672584" y="1751076"/>
            <a:ext cx="1993392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Unindexed latency</a:t>
            </a:r>
            <a:endParaRPr lang="en-US" sz="1100"/>
          </a:p>
        </p:txBody>
      </p:sp>
      <p:sp>
        <p:nvSpPr>
          <p:cNvPr id="14" name="Shape 12"/>
          <p:cNvSpPr/>
          <p:nvPr/>
        </p:nvSpPr>
        <p:spPr>
          <a:xfrm>
            <a:off x="6803136" y="1097280"/>
            <a:ext cx="1993392" cy="1188720"/>
          </a:xfrm>
          <a:prstGeom prst="rect">
            <a:avLst/>
          </a:prstGeom>
          <a:solidFill>
            <a:srgbClr val="F8FAFC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03136" y="1170432"/>
            <a:ext cx="1993392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3,500×</a:t>
            </a:r>
            <a:endParaRPr lang="en-US" sz="3200"/>
          </a:p>
        </p:txBody>
      </p:sp>
      <p:sp>
        <p:nvSpPr>
          <p:cNvPr id="16" name="Text 14"/>
          <p:cNvSpPr/>
          <p:nvPr/>
        </p:nvSpPr>
        <p:spPr>
          <a:xfrm>
            <a:off x="6803136" y="1751076"/>
            <a:ext cx="1993392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Speedup from index</a:t>
            </a:r>
            <a:endParaRPr lang="en-US" sz="1100"/>
          </a:p>
        </p:txBody>
      </p:sp>
      <p:sp>
        <p:nvSpPr>
          <p:cNvPr id="17" name="Text 15"/>
          <p:cNvSpPr/>
          <p:nvPr/>
        </p:nvSpPr>
        <p:spPr>
          <a:xfrm>
            <a:off x="411480" y="248716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Two-Tier Query Architecture</a:t>
            </a:r>
            <a:endParaRPr lang="en-US" sz="1400"/>
          </a:p>
        </p:txBody>
      </p:sp>
      <p:sp>
        <p:nvSpPr>
          <p:cNvPr id="18" name="Shape 16"/>
          <p:cNvSpPr/>
          <p:nvPr/>
        </p:nvSpPr>
        <p:spPr>
          <a:xfrm>
            <a:off x="411480" y="2852928"/>
            <a:ext cx="4114800" cy="9144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11480" y="2852928"/>
            <a:ext cx="54864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39496" y="293522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Interactive Tier (&lt; 10 ms)</a:t>
            </a:r>
            <a:endParaRPr lang="en-US" sz="1300"/>
          </a:p>
        </p:txBody>
      </p:sp>
      <p:sp>
        <p:nvSpPr>
          <p:cNvPr id="21" name="Text 19"/>
          <p:cNvSpPr/>
          <p:nvPr/>
        </p:nvSpPr>
        <p:spPr>
          <a:xfrm>
            <a:off x="539496" y="320040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Single-residue click. Pre-translated UniProt coordinates from SIFTS offsets cached at load time. Pure index scan — no JOIN on hot path. Returns 19 substitutions for Mutation Focus Panel.</a:t>
            </a:r>
            <a:endParaRPr lang="en-US" sz="1100"/>
          </a:p>
        </p:txBody>
      </p:sp>
      <p:sp>
        <p:nvSpPr>
          <p:cNvPr id="22" name="Shape 20"/>
          <p:cNvSpPr/>
          <p:nvPr/>
        </p:nvSpPr>
        <p:spPr>
          <a:xfrm>
            <a:off x="411480" y="3858768"/>
            <a:ext cx="4114800" cy="9144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11480" y="3858768"/>
            <a:ext cx="54864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39496" y="394106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Background Tier (89–788 ms)</a:t>
            </a:r>
            <a:endParaRPr lang="en-US" sz="1300"/>
          </a:p>
        </p:txBody>
      </p:sp>
      <p:sp>
        <p:nvSpPr>
          <p:cNvPr id="25" name="Text 23"/>
          <p:cNvSpPr/>
          <p:nvPr/>
        </p:nvSpPr>
        <p:spPr>
          <a:xfrm>
            <a:off x="539496" y="420624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Full-protein landscape batch query. Joins mapping and predictions tables. Runs on background thread with atomic progress counter — viewport stays interactive throughout.</a:t>
            </a:r>
            <a:endParaRPr lang="en-US" sz="1100"/>
          </a:p>
        </p:txBody>
      </p:sp>
      <p:sp>
        <p:nvSpPr>
          <p:cNvPr id="26" name="Text 24"/>
          <p:cNvSpPr/>
          <p:nvPr/>
        </p:nvSpPr>
        <p:spPr>
          <a:xfrm>
            <a:off x="4846320" y="248716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 Design</a:t>
            </a:r>
            <a:endParaRPr lang="en-US" sz="1400"/>
          </a:p>
        </p:txBody>
      </p:sp>
      <p:sp>
        <p:nvSpPr>
          <p:cNvPr id="27" name="Shape 25"/>
          <p:cNvSpPr/>
          <p:nvPr/>
        </p:nvSpPr>
        <p:spPr>
          <a:xfrm>
            <a:off x="4846320" y="2852928"/>
            <a:ext cx="3886200" cy="19659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983480" y="2907792"/>
            <a:ext cx="361188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Primary lookup index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INDEX idx_am_lookup ON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alphamisense_predictions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(uniprot_id, position, alt_aa);</a:t>
            </a:r>
            <a:endParaRPr lang="en-US" sz="1050"/>
          </a:p>
          <a:p>
            <a:pPr marL="0" indent="0">
              <a:buNone/>
            </a:pP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Landscape join index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INDEX idx_sifts_pdb ON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uniprot_pdb_mapping (pdb_id);</a:t>
            </a:r>
            <a:endParaRPr lang="en-US" sz="105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6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FoldX Stability Prediction Pipeline</a:t>
            </a:r>
            <a:endParaRPr lang="en-US" sz="3000"/>
          </a:p>
        </p:txBody>
      </p:sp>
      <p:sp>
        <p:nvSpPr>
          <p:cNvPr id="3" name="Text 1"/>
          <p:cNvSpPr/>
          <p:nvPr/>
        </p:nvSpPr>
        <p:spPr>
          <a:xfrm>
            <a:off x="502920" y="85039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Asynchronous ΔΔG — background computation, interactive viewport</a:t>
            </a:r>
            <a:endParaRPr lang="en-US" sz="1300"/>
          </a:p>
        </p:txBody>
      </p:sp>
      <p:sp>
        <p:nvSpPr>
          <p:cNvPr id="4" name="Shape 2"/>
          <p:cNvSpPr/>
          <p:nvPr/>
        </p:nvSpPr>
        <p:spPr>
          <a:xfrm>
            <a:off x="502920" y="804672"/>
            <a:ext cx="100584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115568"/>
            <a:ext cx="1993392" cy="2834640"/>
          </a:xfrm>
          <a:prstGeom prst="rect">
            <a:avLst/>
          </a:prstGeom>
          <a:solidFill>
            <a:srgbClr val="132039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115568"/>
            <a:ext cx="1993392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115568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/>
          </a:p>
        </p:txBody>
      </p:sp>
      <p:sp>
        <p:nvSpPr>
          <p:cNvPr id="8" name="Text 6"/>
          <p:cNvSpPr/>
          <p:nvPr/>
        </p:nvSpPr>
        <p:spPr>
          <a:xfrm>
            <a:off x="50292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RepairPDB</a:t>
            </a:r>
            <a:endParaRPr lang="en-US" sz="1300"/>
          </a:p>
        </p:txBody>
      </p:sp>
      <p:sp>
        <p:nvSpPr>
          <p:cNvPr id="9" name="Text 7"/>
          <p:cNvSpPr/>
          <p:nvPr/>
        </p:nvSpPr>
        <p:spPr>
          <a:xfrm>
            <a:off x="502920" y="2176272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Optimises rotamers, resolves vdW clashes, adds missing atoms. One-time cost per PDB structure (cached 30 days). Required for reliable ΔΔG.</a:t>
            </a:r>
            <a:endParaRPr lang="en-US" sz="1050"/>
          </a:p>
        </p:txBody>
      </p:sp>
      <p:sp>
        <p:nvSpPr>
          <p:cNvPr id="10" name="Shape 8"/>
          <p:cNvSpPr/>
          <p:nvPr/>
        </p:nvSpPr>
        <p:spPr>
          <a:xfrm>
            <a:off x="2542032" y="1115568"/>
            <a:ext cx="1993392" cy="2834640"/>
          </a:xfrm>
          <a:prstGeom prst="rect">
            <a:avLst/>
          </a:prstGeom>
          <a:solidFill>
            <a:srgbClr val="132039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542032" y="1115568"/>
            <a:ext cx="1993392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542032" y="1115568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/>
          </a:p>
        </p:txBody>
      </p:sp>
      <p:sp>
        <p:nvSpPr>
          <p:cNvPr id="13" name="Text 11"/>
          <p:cNvSpPr/>
          <p:nvPr/>
        </p:nvSpPr>
        <p:spPr>
          <a:xfrm>
            <a:off x="2633472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BuildModel</a:t>
            </a:r>
            <a:endParaRPr lang="en-US" sz="1300"/>
          </a:p>
        </p:txBody>
      </p:sp>
      <p:sp>
        <p:nvSpPr>
          <p:cNvPr id="14" name="Text 12"/>
          <p:cNvSpPr/>
          <p:nvPr/>
        </p:nvSpPr>
        <p:spPr>
          <a:xfrm>
            <a:off x="2633472" y="2176272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substitution: WildtypeAA + Chain + Position + MutantAA. e.g. RA175H; Returns full mutant PDB coordinates + ΔΔG value.</a:t>
            </a:r>
            <a:endParaRPr lang="en-US" sz="1050"/>
          </a:p>
        </p:txBody>
      </p:sp>
      <p:sp>
        <p:nvSpPr>
          <p:cNvPr id="15" name="Shape 13"/>
          <p:cNvSpPr/>
          <p:nvPr/>
        </p:nvSpPr>
        <p:spPr>
          <a:xfrm>
            <a:off x="4672584" y="1115568"/>
            <a:ext cx="1993392" cy="2834640"/>
          </a:xfrm>
          <a:prstGeom prst="rect">
            <a:avLst/>
          </a:prstGeom>
          <a:solidFill>
            <a:srgbClr val="132039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672584" y="1115568"/>
            <a:ext cx="1993392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672584" y="1115568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/>
          </a:p>
        </p:txBody>
      </p:sp>
      <p:sp>
        <p:nvSpPr>
          <p:cNvPr id="18" name="Text 16"/>
          <p:cNvSpPr/>
          <p:nvPr/>
        </p:nvSpPr>
        <p:spPr>
          <a:xfrm>
            <a:off x="4764024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ΔΔG Tiers</a:t>
            </a:r>
            <a:endParaRPr lang="en-US" sz="1300"/>
          </a:p>
        </p:txBody>
      </p:sp>
      <p:sp>
        <p:nvSpPr>
          <p:cNvPr id="19" name="Text 17"/>
          <p:cNvSpPr/>
          <p:nvPr/>
        </p:nvSpPr>
        <p:spPr>
          <a:xfrm>
            <a:off x="4764024" y="2176272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destabilizing &gt;2.0 · Destabilizing &gt;0.5 · Neutral ±0.5 · Stabilizing &lt;−0.5 · Highly stabilizing &lt;−2.0 kcal/mol</a:t>
            </a:r>
            <a:endParaRPr lang="en-US" sz="1050"/>
          </a:p>
        </p:txBody>
      </p:sp>
      <p:sp>
        <p:nvSpPr>
          <p:cNvPr id="20" name="Shape 18"/>
          <p:cNvSpPr/>
          <p:nvPr/>
        </p:nvSpPr>
        <p:spPr>
          <a:xfrm>
            <a:off x="6803136" y="1115568"/>
            <a:ext cx="1993392" cy="2834640"/>
          </a:xfrm>
          <a:prstGeom prst="rect">
            <a:avLst/>
          </a:prstGeom>
          <a:solidFill>
            <a:srgbClr val="132039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803136" y="1115568"/>
            <a:ext cx="1993392" cy="502920"/>
          </a:xfrm>
          <a:prstGeom prst="rect">
            <a:avLst/>
          </a:prstGeom>
          <a:solidFill>
            <a:srgbClr val="6B1A1A"/>
          </a:solidFill>
          <a:ln w="12700">
            <a:solidFill>
              <a:srgbClr val="6B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803136" y="1115568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/>
          </a:p>
        </p:txBody>
      </p:sp>
      <p:sp>
        <p:nvSpPr>
          <p:cNvPr id="23" name="Text 21"/>
          <p:cNvSpPr/>
          <p:nvPr/>
        </p:nvSpPr>
        <p:spPr>
          <a:xfrm>
            <a:off x="6894576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Limitation</a:t>
            </a:r>
            <a:endParaRPr lang="en-US" sz="1300"/>
          </a:p>
        </p:txBody>
      </p:sp>
      <p:sp>
        <p:nvSpPr>
          <p:cNvPr id="24" name="Text 22"/>
          <p:cNvSpPr/>
          <p:nvPr/>
        </p:nvSpPr>
        <p:spPr>
          <a:xfrm>
            <a:off x="6894576" y="2176272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Fixed-backbone approximation → ΔΔG ≈ 0.00 kcal/mol for single missense. Meaningful ΔΔG requires compound mutations. AlphaMissense is primary discriminator.</a:t>
            </a:r>
            <a:endParaRPr lang="en-US" sz="1050"/>
          </a:p>
        </p:txBody>
      </p:sp>
      <p:sp>
        <p:nvSpPr>
          <p:cNvPr id="25" name="Shape 23"/>
          <p:cNvSpPr/>
          <p:nvPr/>
        </p:nvSpPr>
        <p:spPr>
          <a:xfrm>
            <a:off x="411480" y="4133088"/>
            <a:ext cx="8321040" cy="713232"/>
          </a:xfrm>
          <a:prstGeom prst="rect">
            <a:avLst/>
          </a:prstGeom>
          <a:solidFill>
            <a:srgbClr val="0D3B36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2920" y="42062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Concurrency Model: </a:t>
            </a:r>
            <a:endParaRPr lang="en-US" sz="1150"/>
          </a:p>
        </p:txBody>
      </p:sp>
      <p:sp>
        <p:nvSpPr>
          <p:cNvPr id="27" name="Text 25"/>
          <p:cNvSpPr/>
          <p:nvPr/>
        </p:nvSpPr>
        <p:spPr>
          <a:xfrm>
            <a:off x="502920" y="446227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/api/analyze_mutation dispatched on a detached std::thread. Rendering loop polls MutationFocusData.analyzing atomic flag each frame. No server-side polling — synchronous backend, async on C++ client side.</a:t>
            </a:r>
            <a:endParaRPr lang="en-US" sz="105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6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Interpretation: Grounded Prompting Architecture</a:t>
            </a:r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502920" y="85039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synthesizes provided facts — it does not recall from parametric memory</a:t>
            </a:r>
            <a:endParaRPr lang="en-US" sz="1300"/>
          </a:p>
        </p:txBody>
      </p:sp>
      <p:sp>
        <p:nvSpPr>
          <p:cNvPr id="4" name="Shape 2"/>
          <p:cNvSpPr/>
          <p:nvPr/>
        </p:nvSpPr>
        <p:spPr>
          <a:xfrm>
            <a:off x="502920" y="804672"/>
            <a:ext cx="100584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111556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Evidence Hierarchy (system prompt enforced)</a:t>
            </a:r>
            <a:endParaRPr lang="en-US" sz="1300"/>
          </a:p>
        </p:txBody>
      </p:sp>
      <p:sp>
        <p:nvSpPr>
          <p:cNvPr id="6" name="Shape 4"/>
          <p:cNvSpPr/>
          <p:nvPr/>
        </p:nvSpPr>
        <p:spPr>
          <a:xfrm>
            <a:off x="411480" y="1508760"/>
            <a:ext cx="4114800" cy="438912"/>
          </a:xfrm>
          <a:prstGeom prst="rect">
            <a:avLst/>
          </a:prstGeom>
          <a:solidFill>
            <a:srgbClr val="132039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75488" y="1508760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</a:t>
            </a:r>
            <a:endParaRPr lang="en-US" sz="1100"/>
          </a:p>
        </p:txBody>
      </p:sp>
      <p:sp>
        <p:nvSpPr>
          <p:cNvPr id="8" name="Text 6"/>
          <p:cNvSpPr/>
          <p:nvPr/>
        </p:nvSpPr>
        <p:spPr>
          <a:xfrm>
            <a:off x="1024128" y="150876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ClinVar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2423160" y="150876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Expert-reviewed clinical classification (highest weight)</a:t>
            </a: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411480" y="2020824"/>
            <a:ext cx="4114800" cy="438912"/>
          </a:xfrm>
          <a:prstGeom prst="rect">
            <a:avLst/>
          </a:prstGeom>
          <a:solidFill>
            <a:srgbClr val="132039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5488" y="2020824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</a:t>
            </a:r>
            <a:endParaRPr lang="en-US" sz="1100"/>
          </a:p>
        </p:txBody>
      </p:sp>
      <p:sp>
        <p:nvSpPr>
          <p:cNvPr id="12" name="Text 10"/>
          <p:cNvSpPr/>
          <p:nvPr/>
        </p:nvSpPr>
        <p:spPr>
          <a:xfrm>
            <a:off x="1024128" y="202082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COSMIC</a:t>
            </a:r>
            <a:endParaRPr lang="en-US" sz="1100"/>
          </a:p>
        </p:txBody>
      </p:sp>
      <p:sp>
        <p:nvSpPr>
          <p:cNvPr id="13" name="Text 11"/>
          <p:cNvSpPr/>
          <p:nvPr/>
        </p:nvSpPr>
        <p:spPr>
          <a:xfrm>
            <a:off x="2423160" y="202082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Somatic tumor observation count &amp; cancer type</a:t>
            </a:r>
            <a:endParaRPr lang="en-US" sz="1000"/>
          </a:p>
        </p:txBody>
      </p:sp>
      <p:sp>
        <p:nvSpPr>
          <p:cNvPr id="14" name="Shape 12"/>
          <p:cNvSpPr/>
          <p:nvPr/>
        </p:nvSpPr>
        <p:spPr>
          <a:xfrm>
            <a:off x="411480" y="2532888"/>
            <a:ext cx="4114800" cy="438912"/>
          </a:xfrm>
          <a:prstGeom prst="rect">
            <a:avLst/>
          </a:prstGeom>
          <a:solidFill>
            <a:srgbClr val="132039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5488" y="2532888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</a:t>
            </a:r>
            <a:endParaRPr lang="en-US" sz="1100"/>
          </a:p>
        </p:txBody>
      </p:sp>
      <p:sp>
        <p:nvSpPr>
          <p:cNvPr id="16" name="Text 14"/>
          <p:cNvSpPr/>
          <p:nvPr/>
        </p:nvSpPr>
        <p:spPr>
          <a:xfrm>
            <a:off x="1024128" y="253288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UniProt</a:t>
            </a:r>
            <a:endParaRPr lang="en-US" sz="1100"/>
          </a:p>
        </p:txBody>
      </p:sp>
      <p:sp>
        <p:nvSpPr>
          <p:cNvPr id="17" name="Text 15"/>
          <p:cNvSpPr/>
          <p:nvPr/>
        </p:nvSpPr>
        <p:spPr>
          <a:xfrm>
            <a:off x="2423160" y="253288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functional site annotation</a:t>
            </a:r>
            <a:endParaRPr lang="en-US" sz="1000"/>
          </a:p>
        </p:txBody>
      </p:sp>
      <p:sp>
        <p:nvSpPr>
          <p:cNvPr id="18" name="Shape 16"/>
          <p:cNvSpPr/>
          <p:nvPr/>
        </p:nvSpPr>
        <p:spPr>
          <a:xfrm>
            <a:off x="411480" y="3044952"/>
            <a:ext cx="4114800" cy="438912"/>
          </a:xfrm>
          <a:prstGeom prst="rect">
            <a:avLst/>
          </a:prstGeom>
          <a:solidFill>
            <a:srgbClr val="132039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5488" y="3044952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</a:t>
            </a:r>
            <a:endParaRPr lang="en-US" sz="1100"/>
          </a:p>
        </p:txBody>
      </p:sp>
      <p:sp>
        <p:nvSpPr>
          <p:cNvPr id="20" name="Text 18"/>
          <p:cNvSpPr/>
          <p:nvPr/>
        </p:nvSpPr>
        <p:spPr>
          <a:xfrm>
            <a:off x="1024128" y="304495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gnomAD</a:t>
            </a:r>
            <a:endParaRPr lang="en-US" sz="1100"/>
          </a:p>
        </p:txBody>
      </p:sp>
      <p:sp>
        <p:nvSpPr>
          <p:cNvPr id="21" name="Text 19"/>
          <p:cNvSpPr/>
          <p:nvPr/>
        </p:nvSpPr>
        <p:spPr>
          <a:xfrm>
            <a:off x="2423160" y="304495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allele frequency</a:t>
            </a:r>
            <a:endParaRPr lang="en-US" sz="1000"/>
          </a:p>
        </p:txBody>
      </p:sp>
      <p:sp>
        <p:nvSpPr>
          <p:cNvPr id="22" name="Shape 20"/>
          <p:cNvSpPr/>
          <p:nvPr/>
        </p:nvSpPr>
        <p:spPr>
          <a:xfrm>
            <a:off x="411480" y="3557016"/>
            <a:ext cx="4114800" cy="438912"/>
          </a:xfrm>
          <a:prstGeom prst="rect">
            <a:avLst/>
          </a:prstGeom>
          <a:solidFill>
            <a:srgbClr val="132039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5488" y="3557016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100"/>
          </a:p>
        </p:txBody>
      </p:sp>
      <p:sp>
        <p:nvSpPr>
          <p:cNvPr id="24" name="Text 22"/>
          <p:cNvSpPr/>
          <p:nvPr/>
        </p:nvSpPr>
        <p:spPr>
          <a:xfrm>
            <a:off x="1024128" y="355701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AlphaMissense</a:t>
            </a:r>
            <a:endParaRPr lang="en-US" sz="1100"/>
          </a:p>
        </p:txBody>
      </p:sp>
      <p:sp>
        <p:nvSpPr>
          <p:cNvPr id="25" name="Text 23"/>
          <p:cNvSpPr/>
          <p:nvPr/>
        </p:nvSpPr>
        <p:spPr>
          <a:xfrm>
            <a:off x="2423160" y="355701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pathogenicity score</a:t>
            </a:r>
            <a:endParaRPr lang="en-US" sz="1000"/>
          </a:p>
        </p:txBody>
      </p:sp>
      <p:sp>
        <p:nvSpPr>
          <p:cNvPr id="26" name="Shape 24"/>
          <p:cNvSpPr/>
          <p:nvPr/>
        </p:nvSpPr>
        <p:spPr>
          <a:xfrm>
            <a:off x="411480" y="4069080"/>
            <a:ext cx="4114800" cy="438912"/>
          </a:xfrm>
          <a:prstGeom prst="rect">
            <a:avLst/>
          </a:prstGeom>
          <a:solidFill>
            <a:srgbClr val="132039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5488" y="4069080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100"/>
          </a:p>
        </p:txBody>
      </p:sp>
      <p:sp>
        <p:nvSpPr>
          <p:cNvPr id="28" name="Text 26"/>
          <p:cNvSpPr/>
          <p:nvPr/>
        </p:nvSpPr>
        <p:spPr>
          <a:xfrm>
            <a:off x="1024128" y="406908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FoldX ΔΔG</a:t>
            </a:r>
            <a:endParaRPr lang="en-US" sz="1100"/>
          </a:p>
        </p:txBody>
      </p:sp>
      <p:sp>
        <p:nvSpPr>
          <p:cNvPr id="29" name="Text 27"/>
          <p:cNvSpPr/>
          <p:nvPr/>
        </p:nvSpPr>
        <p:spPr>
          <a:xfrm>
            <a:off x="2423160" y="406908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stability prediction (lowest weight)</a:t>
            </a:r>
            <a:endParaRPr lang="en-US" sz="1000"/>
          </a:p>
        </p:txBody>
      </p:sp>
      <p:sp>
        <p:nvSpPr>
          <p:cNvPr id="30" name="Text 28"/>
          <p:cNvSpPr/>
          <p:nvPr/>
        </p:nvSpPr>
        <p:spPr>
          <a:xfrm>
            <a:off x="4800600" y="111556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Required 5-Section Response Format</a:t>
            </a:r>
            <a:endParaRPr lang="en-US" sz="1300"/>
          </a:p>
        </p:txBody>
      </p:sp>
      <p:sp>
        <p:nvSpPr>
          <p:cNvPr id="31" name="Shape 29"/>
          <p:cNvSpPr/>
          <p:nvPr/>
        </p:nvSpPr>
        <p:spPr>
          <a:xfrm>
            <a:off x="4800600" y="1508760"/>
            <a:ext cx="3931920" cy="566928"/>
          </a:xfrm>
          <a:prstGeom prst="rect">
            <a:avLst/>
          </a:prstGeom>
          <a:solidFill>
            <a:srgbClr val="132039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800600" y="1508760"/>
            <a:ext cx="54864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919472" y="15544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Summary</a:t>
            </a:r>
            <a:endParaRPr lang="en-US" sz="1200"/>
          </a:p>
        </p:txBody>
      </p:sp>
      <p:sp>
        <p:nvSpPr>
          <p:cNvPr id="34" name="Text 32"/>
          <p:cNvSpPr/>
          <p:nvPr/>
        </p:nvSpPr>
        <p:spPr>
          <a:xfrm>
            <a:off x="4919472" y="1801368"/>
            <a:ext cx="3730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clinical or functional takeaway</a:t>
            </a:r>
            <a:endParaRPr lang="en-US" sz="1000"/>
          </a:p>
        </p:txBody>
      </p:sp>
      <p:sp>
        <p:nvSpPr>
          <p:cNvPr id="35" name="Shape 33"/>
          <p:cNvSpPr/>
          <p:nvPr/>
        </p:nvSpPr>
        <p:spPr>
          <a:xfrm>
            <a:off x="4800600" y="2148840"/>
            <a:ext cx="3931920" cy="566928"/>
          </a:xfrm>
          <a:prstGeom prst="rect">
            <a:avLst/>
          </a:prstGeom>
          <a:solidFill>
            <a:srgbClr val="132039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800600" y="2148840"/>
            <a:ext cx="54864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919472" y="21945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Evidence</a:t>
            </a:r>
            <a:endParaRPr lang="en-US" sz="1200"/>
          </a:p>
        </p:txBody>
      </p:sp>
      <p:sp>
        <p:nvSpPr>
          <p:cNvPr id="38" name="Text 36"/>
          <p:cNvSpPr/>
          <p:nvPr/>
        </p:nvSpPr>
        <p:spPr>
          <a:xfrm>
            <a:off x="4919472" y="2441448"/>
            <a:ext cx="3730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listed with [★★★/★★/★] ratings</a:t>
            </a:r>
            <a:endParaRPr lang="en-US" sz="1000"/>
          </a:p>
        </p:txBody>
      </p:sp>
      <p:sp>
        <p:nvSpPr>
          <p:cNvPr id="39" name="Shape 37"/>
          <p:cNvSpPr/>
          <p:nvPr/>
        </p:nvSpPr>
        <p:spPr>
          <a:xfrm>
            <a:off x="4800600" y="2788920"/>
            <a:ext cx="3931920" cy="566928"/>
          </a:xfrm>
          <a:prstGeom prst="rect">
            <a:avLst/>
          </a:prstGeom>
          <a:solidFill>
            <a:srgbClr val="132039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800600" y="2788920"/>
            <a:ext cx="54864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919472" y="28346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Mechanism</a:t>
            </a:r>
            <a:endParaRPr lang="en-US" sz="1200"/>
          </a:p>
        </p:txBody>
      </p:sp>
      <p:sp>
        <p:nvSpPr>
          <p:cNvPr id="42" name="Text 40"/>
          <p:cNvSpPr/>
          <p:nvPr/>
        </p:nvSpPr>
        <p:spPr>
          <a:xfrm>
            <a:off x="4919472" y="3081528"/>
            <a:ext cx="3730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1–3 sentences from structural context</a:t>
            </a:r>
            <a:endParaRPr lang="en-US" sz="1000"/>
          </a:p>
        </p:txBody>
      </p:sp>
      <p:sp>
        <p:nvSpPr>
          <p:cNvPr id="43" name="Shape 41"/>
          <p:cNvSpPr/>
          <p:nvPr/>
        </p:nvSpPr>
        <p:spPr>
          <a:xfrm>
            <a:off x="4800600" y="3429000"/>
            <a:ext cx="3931920" cy="566928"/>
          </a:xfrm>
          <a:prstGeom prst="rect">
            <a:avLst/>
          </a:prstGeom>
          <a:solidFill>
            <a:srgbClr val="132039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4800600" y="3429000"/>
            <a:ext cx="54864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919472" y="34747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Confidence</a:t>
            </a:r>
            <a:endParaRPr lang="en-US" sz="1200"/>
          </a:p>
        </p:txBody>
      </p:sp>
      <p:sp>
        <p:nvSpPr>
          <p:cNvPr id="46" name="Text 44"/>
          <p:cNvSpPr/>
          <p:nvPr/>
        </p:nvSpPr>
        <p:spPr>
          <a:xfrm>
            <a:off x="4919472" y="3721608"/>
            <a:ext cx="3730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Agreement/conflict of evidence sources</a:t>
            </a:r>
            <a:endParaRPr lang="en-US" sz="1000"/>
          </a:p>
        </p:txBody>
      </p:sp>
      <p:sp>
        <p:nvSpPr>
          <p:cNvPr id="47" name="Shape 45"/>
          <p:cNvSpPr/>
          <p:nvPr/>
        </p:nvSpPr>
        <p:spPr>
          <a:xfrm>
            <a:off x="4800600" y="4069080"/>
            <a:ext cx="3931920" cy="566928"/>
          </a:xfrm>
          <a:prstGeom prst="rect">
            <a:avLst/>
          </a:prstGeom>
          <a:solidFill>
            <a:srgbClr val="132039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4800600" y="4069080"/>
            <a:ext cx="54864" cy="56692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919472" y="41148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Disclaimer</a:t>
            </a:r>
            <a:endParaRPr lang="en-US" sz="1200"/>
          </a:p>
        </p:txBody>
      </p:sp>
      <p:sp>
        <p:nvSpPr>
          <p:cNvPr id="50" name="Text 48"/>
          <p:cNvSpPr/>
          <p:nvPr/>
        </p:nvSpPr>
        <p:spPr>
          <a:xfrm>
            <a:off x="4919472" y="4361688"/>
            <a:ext cx="3730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"For research use only. Not for clinical decisions."</a:t>
            </a:r>
            <a:endParaRPr lang="en-US" sz="1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Output Guardrails</a:t>
            </a:r>
            <a:endParaRPr lang="en-US" sz="3000"/>
          </a:p>
        </p:txBody>
      </p:sp>
      <p:sp>
        <p:nvSpPr>
          <p:cNvPr id="3" name="Text 1"/>
          <p:cNvSpPr/>
          <p:nvPr/>
        </p:nvSpPr>
        <p:spPr>
          <a:xfrm>
            <a:off x="502920" y="85039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Post-processing layer enforces safety constraints on every Claude response</a:t>
            </a:r>
            <a:endParaRPr lang="en-US" sz="1300"/>
          </a:p>
        </p:txBody>
      </p:sp>
      <p:sp>
        <p:nvSpPr>
          <p:cNvPr id="4" name="Shape 2"/>
          <p:cNvSpPr/>
          <p:nvPr/>
        </p:nvSpPr>
        <p:spPr>
          <a:xfrm>
            <a:off x="502920" y="804672"/>
            <a:ext cx="100584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115568"/>
            <a:ext cx="4114800" cy="171907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52728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225296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D4E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 Presence Validation</a:t>
            </a:r>
            <a:endParaRPr lang="en-US" sz="1300"/>
          </a:p>
        </p:txBody>
      </p:sp>
      <p:sp>
        <p:nvSpPr>
          <p:cNvPr id="8" name="Text 5"/>
          <p:cNvSpPr/>
          <p:nvPr/>
        </p:nvSpPr>
        <p:spPr>
          <a:xfrm>
            <a:off x="548640" y="173736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scanned for all 5 required headers: Summary, Evidence, Mechanism, Confidence, Disclaimer. If any section is absent, a warning token is prepended to alert the researcher.</a:t>
            </a:r>
            <a:endParaRPr lang="en-US" sz="1100"/>
          </a:p>
        </p:txBody>
      </p:sp>
      <p:sp>
        <p:nvSpPr>
          <p:cNvPr id="9" name="Shape 6"/>
          <p:cNvSpPr/>
          <p:nvPr/>
        </p:nvSpPr>
        <p:spPr>
          <a:xfrm>
            <a:off x="4709160" y="1115568"/>
            <a:ext cx="4114800" cy="1719072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252728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49240" y="1225296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Disclaimer Enforcement</a:t>
            </a:r>
            <a:endParaRPr lang="en-US" sz="1300"/>
          </a:p>
        </p:txBody>
      </p:sp>
      <p:sp>
        <p:nvSpPr>
          <p:cNvPr id="12" name="Text 8"/>
          <p:cNvSpPr/>
          <p:nvPr/>
        </p:nvSpPr>
        <p:spPr>
          <a:xfrm>
            <a:off x="4846320" y="173736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"For research use only. Do not use for clinical or diagnostic decisions." appended unconditionally if absent from the response — regardless of model behavior.</a:t>
            </a:r>
            <a:endParaRPr lang="en-US" sz="1100"/>
          </a:p>
        </p:txBody>
      </p:sp>
      <p:sp>
        <p:nvSpPr>
          <p:cNvPr id="13" name="Shape 9"/>
          <p:cNvSpPr/>
          <p:nvPr/>
        </p:nvSpPr>
        <p:spPr>
          <a:xfrm>
            <a:off x="411480" y="2990088"/>
            <a:ext cx="4114800" cy="1719072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127248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51560" y="3099816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Clinical Language Filtering</a:t>
            </a:r>
            <a:endParaRPr lang="en-US" sz="1300"/>
          </a:p>
        </p:txBody>
      </p:sp>
      <p:sp>
        <p:nvSpPr>
          <p:cNvPr id="16" name="Text 11"/>
          <p:cNvSpPr/>
          <p:nvPr/>
        </p:nvSpPr>
        <p:spPr>
          <a:xfrm>
            <a:off x="548640" y="361188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Forbidden phrases: diagnose, recommend treatment, prescribe, clinically indicated. Any match replaced with [REDACTED — clinical recommendation not permitted] with a full response warning.</a:t>
            </a:r>
            <a:endParaRPr lang="en-US" sz="1100"/>
          </a:p>
        </p:txBody>
      </p:sp>
      <p:sp>
        <p:nvSpPr>
          <p:cNvPr id="17" name="Shape 12"/>
          <p:cNvSpPr/>
          <p:nvPr/>
        </p:nvSpPr>
        <p:spPr>
          <a:xfrm>
            <a:off x="4709160" y="2990088"/>
            <a:ext cx="4114800" cy="171907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3127248"/>
            <a:ext cx="411480" cy="4114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349240" y="3099816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Computational Hedging</a:t>
            </a:r>
            <a:endParaRPr lang="en-US" sz="1300"/>
          </a:p>
        </p:txBody>
      </p:sp>
      <p:sp>
        <p:nvSpPr>
          <p:cNvPr id="20" name="Text 14"/>
          <p:cNvSpPr/>
          <p:nvPr/>
        </p:nvSpPr>
        <p:spPr>
          <a:xfrm>
            <a:off x="4846320" y="361188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"is pathogenic" → "is predicted to be pathogenic" — enforced by string scan. Prevents model from presenting computational results as clinical facts without a hedge qualifier.</a:t>
            </a:r>
            <a:endParaRPr lang="en-US" sz="1100"/>
          </a:p>
        </p:txBody>
      </p:sp>
      <p:sp>
        <p:nvSpPr>
          <p:cNvPr id="21" name="Text 15"/>
          <p:cNvSpPr/>
          <p:nvPr/>
        </p:nvSpPr>
        <p:spPr>
          <a:xfrm>
            <a:off x="411480" y="473659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Guardrails enforce structural and safety properties — not semantic accuracy of mechanistic claims.</a:t>
            </a:r>
            <a:endParaRPr lang="en-US" sz="105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6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Results: System Performance</a:t>
            </a:r>
            <a:endParaRPr lang="en-US" sz="3000"/>
          </a:p>
        </p:txBody>
      </p:sp>
      <p:sp>
        <p:nvSpPr>
          <p:cNvPr id="3" name="Text 1"/>
          <p:cNvSpPr/>
          <p:nvPr/>
        </p:nvSpPr>
        <p:spPr>
          <a:xfrm>
            <a:off x="502920" y="85039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Sub-second queries · 140–482 FPS rendering · non-blocking architecture</a:t>
            </a:r>
            <a:endParaRPr lang="en-US" sz="1300"/>
          </a:p>
        </p:txBody>
      </p:sp>
      <p:sp>
        <p:nvSpPr>
          <p:cNvPr id="4" name="Shape 2"/>
          <p:cNvSpPr/>
          <p:nvPr/>
        </p:nvSpPr>
        <p:spPr>
          <a:xfrm>
            <a:off x="502920" y="804672"/>
            <a:ext cx="100584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115568"/>
            <a:ext cx="1993392" cy="1280160"/>
          </a:xfrm>
          <a:prstGeom prst="rect">
            <a:avLst/>
          </a:prstGeom>
          <a:solidFill>
            <a:srgbClr val="132039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188720"/>
            <a:ext cx="199339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 10 ms</a:t>
            </a:r>
            <a:endParaRPr lang="en-US" sz="2800"/>
          </a:p>
        </p:txBody>
      </p:sp>
      <p:sp>
        <p:nvSpPr>
          <p:cNvPr id="7" name="Text 5"/>
          <p:cNvSpPr/>
          <p:nvPr/>
        </p:nvSpPr>
        <p:spPr>
          <a:xfrm>
            <a:off x="411480" y="1819656"/>
            <a:ext cx="1993392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Single-residue</a:t>
            </a:r>
            <a:endParaRPr lang="en-US" sz="1100"/>
          </a:p>
          <a:p>
            <a:pPr marL="0" indent="0" algn="ctr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query</a:t>
            </a:r>
            <a:endParaRPr lang="en-US" sz="1100"/>
          </a:p>
        </p:txBody>
      </p:sp>
      <p:sp>
        <p:nvSpPr>
          <p:cNvPr id="8" name="Shape 6"/>
          <p:cNvSpPr/>
          <p:nvPr/>
        </p:nvSpPr>
        <p:spPr>
          <a:xfrm>
            <a:off x="2542032" y="1115568"/>
            <a:ext cx="1993392" cy="1280160"/>
          </a:xfrm>
          <a:prstGeom prst="rect">
            <a:avLst/>
          </a:prstGeom>
          <a:solidFill>
            <a:srgbClr val="132039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42032" y="1188720"/>
            <a:ext cx="199339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89–788 ms</a:t>
            </a:r>
            <a:endParaRPr lang="en-US" sz="2800"/>
          </a:p>
        </p:txBody>
      </p:sp>
      <p:sp>
        <p:nvSpPr>
          <p:cNvPr id="10" name="Text 8"/>
          <p:cNvSpPr/>
          <p:nvPr/>
        </p:nvSpPr>
        <p:spPr>
          <a:xfrm>
            <a:off x="2542032" y="1819656"/>
            <a:ext cx="1993392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landscape</a:t>
            </a:r>
            <a:endParaRPr lang="en-US" sz="1100"/>
          </a:p>
          <a:p>
            <a:pPr marL="0" indent="0" algn="ctr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query</a:t>
            </a:r>
            <a:endParaRPr lang="en-US" sz="1100"/>
          </a:p>
        </p:txBody>
      </p:sp>
      <p:sp>
        <p:nvSpPr>
          <p:cNvPr id="11" name="Shape 9"/>
          <p:cNvSpPr/>
          <p:nvPr/>
        </p:nvSpPr>
        <p:spPr>
          <a:xfrm>
            <a:off x="4672584" y="1115568"/>
            <a:ext cx="1993392" cy="1280160"/>
          </a:xfrm>
          <a:prstGeom prst="rect">
            <a:avLst/>
          </a:prstGeom>
          <a:solidFill>
            <a:srgbClr val="132039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72584" y="1188720"/>
            <a:ext cx="199339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140–482</a:t>
            </a:r>
            <a:endParaRPr lang="en-US" sz="3200"/>
          </a:p>
          <a:p>
            <a:pPr marL="0" indent="0" algn="ctr">
              <a:buNone/>
            </a:pPr>
            <a:r>
              <a:rPr lang="en-US" sz="2000" b="1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FPS</a:t>
            </a:r>
            <a:endParaRPr lang="en-US" sz="2000"/>
          </a:p>
        </p:txBody>
      </p:sp>
      <p:sp>
        <p:nvSpPr>
          <p:cNvPr id="13" name="Text 11"/>
          <p:cNvSpPr/>
          <p:nvPr/>
        </p:nvSpPr>
        <p:spPr>
          <a:xfrm>
            <a:off x="4672584" y="1819656"/>
            <a:ext cx="1993392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Rendering</a:t>
            </a:r>
            <a:endParaRPr lang="en-US" sz="1100"/>
          </a:p>
          <a:p>
            <a:pPr marL="0" indent="0" algn="ctr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</a:t>
            </a:r>
            <a:endParaRPr lang="en-US" sz="1100"/>
          </a:p>
        </p:txBody>
      </p:sp>
      <p:sp>
        <p:nvSpPr>
          <p:cNvPr id="14" name="Shape 12"/>
          <p:cNvSpPr/>
          <p:nvPr/>
        </p:nvSpPr>
        <p:spPr>
          <a:xfrm>
            <a:off x="6803136" y="1115568"/>
            <a:ext cx="1993392" cy="1280160"/>
          </a:xfrm>
          <a:prstGeom prst="rect">
            <a:avLst/>
          </a:prstGeom>
          <a:solidFill>
            <a:srgbClr val="132039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03136" y="1188720"/>
            <a:ext cx="199339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 1 ms</a:t>
            </a:r>
            <a:endParaRPr lang="en-US" sz="2800"/>
          </a:p>
        </p:txBody>
      </p:sp>
      <p:sp>
        <p:nvSpPr>
          <p:cNvPr id="16" name="Text 14"/>
          <p:cNvSpPr/>
          <p:nvPr/>
        </p:nvSpPr>
        <p:spPr>
          <a:xfrm>
            <a:off x="6803136" y="1819656"/>
            <a:ext cx="1993392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ray-cast</a:t>
            </a:r>
            <a:endParaRPr lang="en-US" sz="1100"/>
          </a:p>
          <a:p>
            <a:pPr marL="0" indent="0" algn="ctr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picking</a:t>
            </a:r>
            <a:endParaRPr lang="en-US" sz="1100"/>
          </a:p>
        </p:txBody>
      </p:sp>
      <p:graphicFrame>
        <p:nvGraphicFramePr>
          <p:cNvPr id="17" name="Chart 0"/>
          <p:cNvGraphicFramePr/>
          <p:nvPr/>
        </p:nvGraphicFramePr>
        <p:xfrm>
          <a:off x="411480" y="2606040"/>
          <a:ext cx="502920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Text 15"/>
          <p:cNvSpPr/>
          <p:nvPr/>
        </p:nvSpPr>
        <p:spPr>
          <a:xfrm>
            <a:off x="411480" y="487832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thread · viewport interactive during load · progress bar tracks completion</a:t>
            </a:r>
            <a:endParaRPr lang="en-US" sz="950"/>
          </a:p>
        </p:txBody>
      </p:sp>
      <p:sp>
        <p:nvSpPr>
          <p:cNvPr id="19" name="Text 16"/>
          <p:cNvSpPr/>
          <p:nvPr/>
        </p:nvSpPr>
        <p:spPr>
          <a:xfrm>
            <a:off x="5669280" y="26060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Concurrency Architecture</a:t>
            </a:r>
            <a:endParaRPr lang="en-US" sz="1300"/>
          </a:p>
        </p:txBody>
      </p:sp>
      <p:sp>
        <p:nvSpPr>
          <p:cNvPr id="20" name="Shape 17"/>
          <p:cNvSpPr/>
          <p:nvPr/>
        </p:nvSpPr>
        <p:spPr>
          <a:xfrm>
            <a:off x="5669280" y="2999232"/>
            <a:ext cx="3063240" cy="594360"/>
          </a:xfrm>
          <a:prstGeom prst="rect">
            <a:avLst/>
          </a:prstGeom>
          <a:solidFill>
            <a:srgbClr val="132039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5669280" y="2999232"/>
            <a:ext cx="54864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5797296" y="3081528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Render Thread</a:t>
            </a:r>
            <a:endParaRPr lang="en-US" sz="1300"/>
          </a:p>
        </p:txBody>
      </p:sp>
      <p:sp>
        <p:nvSpPr>
          <p:cNvPr id="23" name="Text 20"/>
          <p:cNvSpPr/>
          <p:nvPr/>
        </p:nvSpPr>
        <p:spPr>
          <a:xfrm>
            <a:off x="5797296" y="3346704"/>
            <a:ext cx="2880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OpenGL loop · GLFW input · ImGui panels · polls result buffers each frame</a:t>
            </a:r>
            <a:endParaRPr lang="en-US" sz="1100"/>
          </a:p>
        </p:txBody>
      </p:sp>
      <p:sp>
        <p:nvSpPr>
          <p:cNvPr id="24" name="Shape 21"/>
          <p:cNvSpPr/>
          <p:nvPr/>
        </p:nvSpPr>
        <p:spPr>
          <a:xfrm>
            <a:off x="5669280" y="3685032"/>
            <a:ext cx="3063240" cy="594360"/>
          </a:xfrm>
          <a:prstGeom prst="rect">
            <a:avLst/>
          </a:prstGeom>
          <a:solidFill>
            <a:srgbClr val="132039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5669280" y="3685032"/>
            <a:ext cx="54864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5797296" y="3767328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Console Thread</a:t>
            </a:r>
            <a:endParaRPr lang="en-US" sz="1300"/>
          </a:p>
        </p:txBody>
      </p:sp>
      <p:sp>
        <p:nvSpPr>
          <p:cNvPr id="27" name="Text 24"/>
          <p:cNvSpPr/>
          <p:nvPr/>
        </p:nvSpPr>
        <p:spPr>
          <a:xfrm>
            <a:off x="5797296" y="4032504"/>
            <a:ext cx="2880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stdin commands · pushes to shared queue (rendering thread drains)</a:t>
            </a:r>
            <a:endParaRPr lang="en-US" sz="1100"/>
          </a:p>
        </p:txBody>
      </p:sp>
      <p:sp>
        <p:nvSpPr>
          <p:cNvPr id="28" name="Shape 25"/>
          <p:cNvSpPr/>
          <p:nvPr/>
        </p:nvSpPr>
        <p:spPr>
          <a:xfrm>
            <a:off x="5669280" y="4370832"/>
            <a:ext cx="3063240" cy="594360"/>
          </a:xfrm>
          <a:prstGeom prst="rect">
            <a:avLst/>
          </a:prstGeom>
          <a:solidFill>
            <a:srgbClr val="132039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5669280" y="4370832"/>
            <a:ext cx="54864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5797296" y="4453128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Worker Threads</a:t>
            </a:r>
            <a:endParaRPr lang="en-US" sz="1300"/>
          </a:p>
        </p:txBody>
      </p:sp>
      <p:sp>
        <p:nvSpPr>
          <p:cNvPr id="31" name="Text 28"/>
          <p:cNvSpPr/>
          <p:nvPr/>
        </p:nvSpPr>
        <p:spPr>
          <a:xfrm>
            <a:off x="5797296" y="4718304"/>
            <a:ext cx="2880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requests to backend · writes completed data to mutex-protected buffer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Results: TP53 Case Study</a:t>
            </a:r>
            <a:endParaRPr lang="en-US" sz="3000"/>
          </a:p>
        </p:txBody>
      </p:sp>
      <p:sp>
        <p:nvSpPr>
          <p:cNvPr id="3" name="Text 1"/>
          <p:cNvSpPr/>
          <p:nvPr/>
        </p:nvSpPr>
        <p:spPr>
          <a:xfrm>
            <a:off x="502920" y="85039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PDB 2OCJ · UniProt P04637 · Five canonical hotspot variants</a:t>
            </a:r>
            <a:endParaRPr lang="en-US" sz="1300"/>
          </a:p>
        </p:txBody>
      </p:sp>
      <p:sp>
        <p:nvSpPr>
          <p:cNvPr id="4" name="Shape 2"/>
          <p:cNvSpPr/>
          <p:nvPr/>
        </p:nvSpPr>
        <p:spPr>
          <a:xfrm>
            <a:off x="502920" y="804672"/>
            <a:ext cx="100584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1115568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TP53 selected as primary validation: densest mutational ground truth in cancer biology. All five variants have established UniProt pathogenic classifications and published structural mechanisms.</a:t>
            </a:r>
            <a:endParaRPr lang="en-US" sz="115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664208"/>
          <a:ext cx="8321040" cy="233172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Variant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Struct.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 Score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FoldX (kcal/mol)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gnomAD AF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UniProt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R248W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Contact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Loop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6.2 × 10⁻⁶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Pathogenic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R175H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Structural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Loop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 × 10⁻⁶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Pathogenic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Y220C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Structural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Loop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 × 10⁻⁶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Pathogenic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R273H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Contact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Sheet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 × 10⁻⁵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Pathogenic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G245S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Loop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 × 10⁻⁶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Pathogenic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11480" y="4133088"/>
            <a:ext cx="8321040" cy="713232"/>
          </a:xfrm>
          <a:prstGeom prst="rect">
            <a:avLst/>
          </a:prstGeom>
          <a:solidFill>
            <a:srgbClr val="F0FDF4"/>
          </a:solidFill>
          <a:ln w="889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02920" y="418795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Findings: </a:t>
            </a:r>
            <a:endParaRPr lang="en-US" sz="1200"/>
          </a:p>
        </p:txBody>
      </p:sp>
      <p:sp>
        <p:nvSpPr>
          <p:cNvPr id="9" name="Text 6"/>
          <p:cNvSpPr/>
          <p:nvPr/>
        </p:nvSpPr>
        <p:spPr>
          <a:xfrm>
            <a:off x="502920" y="4443984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variants: AM score &gt; 0.85 (above 0.564 pathogenic threshold) · gnomAD AF &lt; 10⁻⁵ (population rarity) · UniProt pathogenic. ΔΔG = 0.00 is expected — fixed-backbone approximation artifact, not a modeling result.</a:t>
            </a:r>
            <a:endParaRPr lang="en-US" sz="105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6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Results: BRCA1 BRCT Domain Case Study</a:t>
            </a:r>
            <a:endParaRPr lang="en-US" sz="3000"/>
          </a:p>
        </p:txBody>
      </p:sp>
      <p:sp>
        <p:nvSpPr>
          <p:cNvPr id="3" name="Text 1"/>
          <p:cNvSpPr/>
          <p:nvPr/>
        </p:nvSpPr>
        <p:spPr>
          <a:xfrm>
            <a:off x="502920" y="85039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PDB 1T29 · UniProt P38398 · Ten BRCT domain variants</a:t>
            </a:r>
            <a:endParaRPr lang="en-US" sz="1300"/>
          </a:p>
        </p:txBody>
      </p:sp>
      <p:sp>
        <p:nvSpPr>
          <p:cNvPr id="4" name="Shape 2"/>
          <p:cNvSpPr/>
          <p:nvPr/>
        </p:nvSpPr>
        <p:spPr>
          <a:xfrm>
            <a:off x="502920" y="804672"/>
            <a:ext cx="100584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1115568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BRCA1 extends TP53 validation to a multi-domain context (1,863 residues, 59,128 variants in AlphaMissense). Validates pipeline scalability and coordinate mapping across a larger protein.</a:t>
            </a:r>
            <a:endParaRPr lang="en-US" sz="115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7248662"/>
              </p:ext>
            </p:extLst>
          </p:nvPr>
        </p:nvGraphicFramePr>
        <p:xfrm>
          <a:off x="411480" y="1664208"/>
          <a:ext cx="8321040" cy="201168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Variant</a:t>
                      </a:r>
                      <a:endParaRPr lang="en-US" sz="1100">
                        <a:solidFill>
                          <a:schemeClr val="bg1">
                            <a:lumMod val="9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 Score</a:t>
                      </a:r>
                      <a:endParaRPr lang="en-US" sz="1100">
                        <a:solidFill>
                          <a:schemeClr val="bg1">
                            <a:lumMod val="9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FoldX ΔΔG</a:t>
                      </a:r>
                      <a:endParaRPr lang="en-US" sz="1100">
                        <a:solidFill>
                          <a:schemeClr val="bg1">
                            <a:lumMod val="9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gnomAD AF</a:t>
                      </a:r>
                      <a:endParaRPr lang="en-US" sz="1100">
                        <a:solidFill>
                          <a:schemeClr val="bg1">
                            <a:lumMod val="9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ClinVar</a:t>
                      </a:r>
                      <a:endParaRPr lang="en-US" sz="1100">
                        <a:solidFill>
                          <a:schemeClr val="bg1">
                            <a:lumMod val="9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9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M1775R</a:t>
                      </a:r>
                      <a:endParaRPr lang="en-US" sz="1100">
                        <a:solidFill>
                          <a:schemeClr val="bg1">
                            <a:lumMod val="9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</a:t>
                      </a:r>
                      <a:endParaRPr lang="en-US" sz="1100">
                        <a:solidFill>
                          <a:schemeClr val="bg1">
                            <a:lumMod val="9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100">
                        <a:solidFill>
                          <a:schemeClr val="bg1">
                            <a:lumMod val="9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10⁻⁶</a:t>
                      </a:r>
                      <a:endParaRPr lang="en-US" sz="1100">
                        <a:solidFill>
                          <a:schemeClr val="bg1">
                            <a:lumMod val="9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Pathogenic/Likely Path.</a:t>
                      </a:r>
                      <a:endParaRPr lang="en-US" sz="1100">
                        <a:solidFill>
                          <a:schemeClr val="bg1">
                            <a:lumMod val="9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T1685A</a:t>
                      </a:r>
                      <a:endParaRPr lang="en-US" sz="1100">
                        <a:solidFill>
                          <a:schemeClr val="bg1">
                            <a:lumMod val="9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</a:t>
                      </a:r>
                      <a:endParaRPr lang="en-US" sz="1100">
                        <a:solidFill>
                          <a:schemeClr val="bg1">
                            <a:lumMod val="9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100">
                        <a:solidFill>
                          <a:schemeClr val="bg1">
                            <a:lumMod val="9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1.2×10⁻⁵</a:t>
                      </a:r>
                      <a:endParaRPr lang="en-US" sz="1100">
                        <a:solidFill>
                          <a:schemeClr val="bg1">
                            <a:lumMod val="9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Likely Benign</a:t>
                      </a:r>
                      <a:endParaRPr lang="en-US" sz="1100">
                        <a:solidFill>
                          <a:schemeClr val="bg1">
                            <a:lumMod val="9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G1706E</a:t>
                      </a:r>
                      <a:endParaRPr lang="en-US" sz="1100">
                        <a:solidFill>
                          <a:schemeClr val="bg1">
                            <a:lumMod val="9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</a:t>
                      </a:r>
                      <a:endParaRPr lang="en-US" sz="1100">
                        <a:solidFill>
                          <a:schemeClr val="bg1">
                            <a:lumMod val="9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100">
                        <a:solidFill>
                          <a:schemeClr val="bg1">
                            <a:lumMod val="9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10⁻⁶</a:t>
                      </a:r>
                      <a:endParaRPr lang="en-US" sz="1100">
                        <a:solidFill>
                          <a:schemeClr val="bg1">
                            <a:lumMod val="9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Pathogenic</a:t>
                      </a:r>
                      <a:endParaRPr lang="en-US" sz="1100">
                        <a:solidFill>
                          <a:schemeClr val="bg1">
                            <a:lumMod val="9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L1764P</a:t>
                      </a:r>
                      <a:endParaRPr lang="en-US" sz="1100">
                        <a:solidFill>
                          <a:schemeClr val="bg1">
                            <a:lumMod val="9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</a:t>
                      </a:r>
                      <a:endParaRPr lang="en-US" sz="1100">
                        <a:solidFill>
                          <a:schemeClr val="bg1">
                            <a:lumMod val="9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100">
                        <a:solidFill>
                          <a:schemeClr val="bg1">
                            <a:lumMod val="9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10⁻⁶</a:t>
                      </a:r>
                      <a:endParaRPr lang="en-US" sz="1100">
                        <a:solidFill>
                          <a:schemeClr val="bg1">
                            <a:lumMod val="9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Likely Pathogenic</a:t>
                      </a:r>
                      <a:endParaRPr lang="en-US" sz="1100">
                        <a:solidFill>
                          <a:schemeClr val="bg1">
                            <a:lumMod val="9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K1702N</a:t>
                      </a:r>
                      <a:endParaRPr lang="en-US" sz="1100">
                        <a:solidFill>
                          <a:schemeClr val="bg1">
                            <a:lumMod val="9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</a:t>
                      </a:r>
                      <a:endParaRPr lang="en-US" sz="1100">
                        <a:solidFill>
                          <a:schemeClr val="bg1">
                            <a:lumMod val="9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100">
                        <a:solidFill>
                          <a:schemeClr val="bg1">
                            <a:lumMod val="9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3.4×10⁻⁵</a:t>
                      </a:r>
                      <a:endParaRPr lang="en-US" sz="1100">
                        <a:solidFill>
                          <a:schemeClr val="bg1">
                            <a:lumMod val="9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Uncertain Significance</a:t>
                      </a:r>
                      <a:endParaRPr lang="en-US" sz="1100">
                        <a:solidFill>
                          <a:schemeClr val="bg1">
                            <a:lumMod val="9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11480" y="3840480"/>
            <a:ext cx="4114800" cy="1005840"/>
          </a:xfrm>
          <a:prstGeom prst="rect">
            <a:avLst/>
          </a:prstGeom>
          <a:solidFill>
            <a:srgbClr val="132039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411480" y="3840480"/>
            <a:ext cx="54864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39496" y="392277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Pathogenicity Concordance</a:t>
            </a:r>
            <a:endParaRPr lang="en-US" sz="1300"/>
          </a:p>
        </p:txBody>
      </p:sp>
      <p:sp>
        <p:nvSpPr>
          <p:cNvPr id="10" name="Text 7"/>
          <p:cNvSpPr/>
          <p:nvPr/>
        </p:nvSpPr>
        <p:spPr>
          <a:xfrm>
            <a:off x="539496" y="4187952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High-scoring variants (&gt;0.90) consistently match ClinVar Pathogenic/Likely Pathogenic. Low-scoring variants align with Benign/VUS classifications — confirming AM lookup correctness.</a:t>
            </a:r>
            <a:endParaRPr lang="en-US" sz="1100"/>
          </a:p>
        </p:txBody>
      </p:sp>
      <p:sp>
        <p:nvSpPr>
          <p:cNvPr id="11" name="Shape 8"/>
          <p:cNvSpPr/>
          <p:nvPr/>
        </p:nvSpPr>
        <p:spPr>
          <a:xfrm>
            <a:off x="4663440" y="3840480"/>
            <a:ext cx="4114800" cy="1005840"/>
          </a:xfrm>
          <a:prstGeom prst="rect">
            <a:avLst/>
          </a:prstGeom>
          <a:solidFill>
            <a:srgbClr val="132039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663440" y="3840480"/>
            <a:ext cx="54864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791456" y="392277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Landscape Load Performance</a:t>
            </a:r>
            <a:endParaRPr lang="en-US" sz="1300"/>
          </a:p>
        </p:txBody>
      </p:sp>
      <p:sp>
        <p:nvSpPr>
          <p:cNvPr id="14" name="Text 11"/>
          <p:cNvSpPr/>
          <p:nvPr/>
        </p:nvSpPr>
        <p:spPr>
          <a:xfrm>
            <a:off x="4791456" y="4187952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59,128 variants across 1,863 residues loaded in ~10 seconds on background thread. 3D viewport fully interactive during population. Progress bar tracks completion per-residue.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Evaluation: DataLens vs. HOPE</a:t>
            </a:r>
            <a:endParaRPr lang="en-US" sz="3000"/>
          </a:p>
        </p:txBody>
      </p:sp>
      <p:sp>
        <p:nvSpPr>
          <p:cNvPr id="3" name="Text 1"/>
          <p:cNvSpPr/>
          <p:nvPr/>
        </p:nvSpPr>
        <p:spPr>
          <a:xfrm>
            <a:off x="502920" y="85039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Per-variant workflow timing across 10 mutations</a:t>
            </a:r>
            <a:endParaRPr lang="en-US" sz="1300"/>
          </a:p>
        </p:txBody>
      </p:sp>
      <p:sp>
        <p:nvSpPr>
          <p:cNvPr id="4" name="Shape 2"/>
          <p:cNvSpPr/>
          <p:nvPr/>
        </p:nvSpPr>
        <p:spPr>
          <a:xfrm>
            <a:off x="502920" y="804672"/>
            <a:ext cx="100584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5" name="Chart 0"/>
          <p:cNvGraphicFramePr/>
          <p:nvPr/>
        </p:nvGraphicFramePr>
        <p:xfrm>
          <a:off x="411480" y="1097280"/>
          <a:ext cx="54864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172200" y="1097280"/>
            <a:ext cx="25603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263640" y="11704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HOPE avg</a:t>
            </a:r>
            <a:endParaRPr lang="en-US" sz="1100"/>
          </a:p>
        </p:txBody>
      </p:sp>
      <p:sp>
        <p:nvSpPr>
          <p:cNvPr id="8" name="Text 5"/>
          <p:cNvSpPr/>
          <p:nvPr/>
        </p:nvSpPr>
        <p:spPr>
          <a:xfrm>
            <a:off x="6263640" y="14173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288 s</a:t>
            </a:r>
            <a:endParaRPr lang="en-US" sz="2800"/>
          </a:p>
        </p:txBody>
      </p:sp>
      <p:sp>
        <p:nvSpPr>
          <p:cNvPr id="9" name="Text 6"/>
          <p:cNvSpPr/>
          <p:nvPr/>
        </p:nvSpPr>
        <p:spPr>
          <a:xfrm>
            <a:off x="6263640" y="18836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variant</a:t>
            </a:r>
            <a:endParaRPr lang="en-US" sz="1000"/>
          </a:p>
        </p:txBody>
      </p:sp>
      <p:sp>
        <p:nvSpPr>
          <p:cNvPr id="10" name="Shape 7"/>
          <p:cNvSpPr/>
          <p:nvPr/>
        </p:nvSpPr>
        <p:spPr>
          <a:xfrm>
            <a:off x="6172200" y="2651760"/>
            <a:ext cx="25603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263640" y="27249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DataLens avg</a:t>
            </a:r>
            <a:endParaRPr lang="en-US" sz="1100"/>
          </a:p>
        </p:txBody>
      </p:sp>
      <p:sp>
        <p:nvSpPr>
          <p:cNvPr id="12" name="Text 9"/>
          <p:cNvSpPr/>
          <p:nvPr/>
        </p:nvSpPr>
        <p:spPr>
          <a:xfrm>
            <a:off x="6263640" y="29718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69.6 s</a:t>
            </a:r>
            <a:endParaRPr lang="en-US" sz="2800"/>
          </a:p>
        </p:txBody>
      </p:sp>
      <p:sp>
        <p:nvSpPr>
          <p:cNvPr id="13" name="Text 10"/>
          <p:cNvSpPr/>
          <p:nvPr/>
        </p:nvSpPr>
        <p:spPr>
          <a:xfrm>
            <a:off x="6263640" y="343814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variant</a:t>
            </a:r>
            <a:endParaRPr lang="en-US" sz="1000"/>
          </a:p>
        </p:txBody>
      </p:sp>
      <p:sp>
        <p:nvSpPr>
          <p:cNvPr id="14" name="Shape 11"/>
          <p:cNvSpPr/>
          <p:nvPr/>
        </p:nvSpPr>
        <p:spPr>
          <a:xfrm>
            <a:off x="6172200" y="4206240"/>
            <a:ext cx="2560320" cy="658368"/>
          </a:xfrm>
          <a:prstGeom prst="rect">
            <a:avLst/>
          </a:prstGeom>
          <a:solidFill>
            <a:srgbClr val="0D3B36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263640" y="42519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4.1× faster</a:t>
            </a:r>
            <a:endParaRPr lang="en-US" sz="1800"/>
          </a:p>
        </p:txBody>
      </p:sp>
      <p:sp>
        <p:nvSpPr>
          <p:cNvPr id="16" name="Text 13"/>
          <p:cNvSpPr/>
          <p:nvPr/>
        </p:nvSpPr>
        <p:spPr>
          <a:xfrm>
            <a:off x="6263640" y="45720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speedup</a:t>
            </a:r>
            <a:endParaRPr lang="en-US" sz="1000"/>
          </a:p>
        </p:txBody>
      </p:sp>
      <p:sp>
        <p:nvSpPr>
          <p:cNvPr id="17" name="Text 14"/>
          <p:cNvSpPr/>
          <p:nvPr/>
        </p:nvSpPr>
        <p:spPr>
          <a:xfrm>
            <a:off x="411480" y="446227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HOPE: server-side generation · full page reload per variant · no 3D context · linear scaling</a:t>
            </a:r>
            <a:endParaRPr lang="en-US" sz="10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6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Cumulative Time Scaling: Sub-linear vs. Linear</a:t>
            </a:r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502920" y="85039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DataLens amortizes protein load cost — HOPE pays per-variant full cost</a:t>
            </a:r>
            <a:endParaRPr lang="en-US" sz="1300"/>
          </a:p>
        </p:txBody>
      </p:sp>
      <p:sp>
        <p:nvSpPr>
          <p:cNvPr id="4" name="Shape 2"/>
          <p:cNvSpPr/>
          <p:nvPr/>
        </p:nvSpPr>
        <p:spPr>
          <a:xfrm>
            <a:off x="502920" y="804672"/>
            <a:ext cx="100584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3452211132"/>
              </p:ext>
            </p:extLst>
          </p:nvPr>
        </p:nvGraphicFramePr>
        <p:xfrm>
          <a:off x="883920" y="1161288"/>
          <a:ext cx="7551420" cy="29794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4247388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HOPE: O(N) — every variant incurs full server-side generation cost (~4.8 min)</a:t>
            </a:r>
            <a:endParaRPr lang="en-US" sz="1050"/>
          </a:p>
        </p:txBody>
      </p:sp>
      <p:sp>
        <p:nvSpPr>
          <p:cNvPr id="7" name="Text 4"/>
          <p:cNvSpPr/>
          <p:nvPr/>
        </p:nvSpPr>
        <p:spPr>
          <a:xfrm>
            <a:off x="502920" y="448513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DataLens fresh: ~10 min one-time FoldX RepairPDB + ~1.16 min/variant incremental</a:t>
            </a:r>
            <a:endParaRPr lang="en-US" sz="1050"/>
          </a:p>
        </p:txBody>
      </p:sp>
      <p:sp>
        <p:nvSpPr>
          <p:cNvPr id="8" name="Text 5"/>
          <p:cNvSpPr/>
          <p:nvPr/>
        </p:nvSpPr>
        <p:spPr>
          <a:xfrm>
            <a:off x="502920" y="4722876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DataLens cached: ~1.16 min/variant — protein structure already repaired</a:t>
            </a:r>
            <a:endParaRPr lang="en-US" sz="105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Information Coverage: DataLens vs. Existing Tools</a:t>
            </a:r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502920" y="85039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existing tool integrates all dimensions in a single interface</a:t>
            </a:r>
            <a:endParaRPr lang="en-US" sz="1300"/>
          </a:p>
        </p:txBody>
      </p:sp>
      <p:sp>
        <p:nvSpPr>
          <p:cNvPr id="4" name="Shape 2"/>
          <p:cNvSpPr/>
          <p:nvPr/>
        </p:nvSpPr>
        <p:spPr>
          <a:xfrm>
            <a:off x="502920" y="804672"/>
            <a:ext cx="100584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0" y="1115568"/>
            <a:ext cx="1280160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0" y="1115568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PyMOL /</a:t>
            </a:r>
            <a:endParaRPr lang="en-US" sz="950"/>
          </a:p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ChimeraX</a:t>
            </a:r>
            <a:endParaRPr lang="en-US" sz="950"/>
          </a:p>
        </p:txBody>
      </p:sp>
      <p:sp>
        <p:nvSpPr>
          <p:cNvPr id="7" name="Shape 5"/>
          <p:cNvSpPr/>
          <p:nvPr/>
        </p:nvSpPr>
        <p:spPr>
          <a:xfrm>
            <a:off x="4572000" y="1115568"/>
            <a:ext cx="1280160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0" y="1115568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HOPE</a:t>
            </a:r>
            <a:endParaRPr lang="en-US" sz="950"/>
          </a:p>
        </p:txBody>
      </p:sp>
      <p:sp>
        <p:nvSpPr>
          <p:cNvPr id="9" name="Shape 7"/>
          <p:cNvSpPr/>
          <p:nvPr/>
        </p:nvSpPr>
        <p:spPr>
          <a:xfrm>
            <a:off x="5943600" y="1115568"/>
            <a:ext cx="1280160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0" y="1115568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AlphaMissense</a:t>
            </a:r>
            <a:endParaRPr lang="en-US" sz="950"/>
          </a:p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Portal</a:t>
            </a:r>
            <a:endParaRPr lang="en-US" sz="950"/>
          </a:p>
        </p:txBody>
      </p:sp>
      <p:sp>
        <p:nvSpPr>
          <p:cNvPr id="11" name="Shape 9"/>
          <p:cNvSpPr/>
          <p:nvPr/>
        </p:nvSpPr>
        <p:spPr>
          <a:xfrm>
            <a:off x="7315200" y="1115568"/>
            <a:ext cx="128016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0" y="1115568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DataLens</a:t>
            </a:r>
            <a:endParaRPr lang="en-US" sz="950"/>
          </a:p>
        </p:txBody>
      </p:sp>
      <p:sp>
        <p:nvSpPr>
          <p:cNvPr id="13" name="Shape 11"/>
          <p:cNvSpPr/>
          <p:nvPr/>
        </p:nvSpPr>
        <p:spPr>
          <a:xfrm>
            <a:off x="411480" y="1737360"/>
            <a:ext cx="832104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173736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3D visualization</a:t>
            </a:r>
            <a:endParaRPr lang="en-US" sz="1050"/>
          </a:p>
        </p:txBody>
      </p:sp>
      <p:sp>
        <p:nvSpPr>
          <p:cNvPr id="15" name="Text 13"/>
          <p:cNvSpPr/>
          <p:nvPr/>
        </p:nvSpPr>
        <p:spPr>
          <a:xfrm>
            <a:off x="3200400" y="173736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/>
          </a:p>
        </p:txBody>
      </p:sp>
      <p:sp>
        <p:nvSpPr>
          <p:cNvPr id="16" name="Text 14"/>
          <p:cNvSpPr/>
          <p:nvPr/>
        </p:nvSpPr>
        <p:spPr>
          <a:xfrm>
            <a:off x="4572000" y="173736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/>
          </a:p>
        </p:txBody>
      </p:sp>
      <p:sp>
        <p:nvSpPr>
          <p:cNvPr id="17" name="Text 15"/>
          <p:cNvSpPr/>
          <p:nvPr/>
        </p:nvSpPr>
        <p:spPr>
          <a:xfrm>
            <a:off x="5943600" y="173736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/>
          </a:p>
        </p:txBody>
      </p:sp>
      <p:sp>
        <p:nvSpPr>
          <p:cNvPr id="18" name="Text 16"/>
          <p:cNvSpPr/>
          <p:nvPr/>
        </p:nvSpPr>
        <p:spPr>
          <a:xfrm>
            <a:off x="7315200" y="173736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/>
          </a:p>
        </p:txBody>
      </p:sp>
      <p:sp>
        <p:nvSpPr>
          <p:cNvPr id="19" name="Shape 17"/>
          <p:cNvSpPr/>
          <p:nvPr/>
        </p:nvSpPr>
        <p:spPr>
          <a:xfrm>
            <a:off x="411480" y="2066544"/>
            <a:ext cx="8321040" cy="310896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2920" y="206654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AlphaMissense pathogenicity</a:t>
            </a:r>
            <a:endParaRPr lang="en-US" sz="1050"/>
          </a:p>
        </p:txBody>
      </p:sp>
      <p:sp>
        <p:nvSpPr>
          <p:cNvPr id="21" name="Text 19"/>
          <p:cNvSpPr/>
          <p:nvPr/>
        </p:nvSpPr>
        <p:spPr>
          <a:xfrm>
            <a:off x="3200400" y="2066544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/>
          </a:p>
        </p:txBody>
      </p:sp>
      <p:sp>
        <p:nvSpPr>
          <p:cNvPr id="22" name="Text 20"/>
          <p:cNvSpPr/>
          <p:nvPr/>
        </p:nvSpPr>
        <p:spPr>
          <a:xfrm>
            <a:off x="4572000" y="2066544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/>
          </a:p>
        </p:txBody>
      </p:sp>
      <p:sp>
        <p:nvSpPr>
          <p:cNvPr id="23" name="Text 21"/>
          <p:cNvSpPr/>
          <p:nvPr/>
        </p:nvSpPr>
        <p:spPr>
          <a:xfrm>
            <a:off x="5943600" y="2066544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/>
          </a:p>
        </p:txBody>
      </p:sp>
      <p:sp>
        <p:nvSpPr>
          <p:cNvPr id="24" name="Text 22"/>
          <p:cNvSpPr/>
          <p:nvPr/>
        </p:nvSpPr>
        <p:spPr>
          <a:xfrm>
            <a:off x="7315200" y="2066544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/>
          </a:p>
        </p:txBody>
      </p:sp>
      <p:sp>
        <p:nvSpPr>
          <p:cNvPr id="25" name="Shape 23"/>
          <p:cNvSpPr/>
          <p:nvPr/>
        </p:nvSpPr>
        <p:spPr>
          <a:xfrm>
            <a:off x="411480" y="2395728"/>
            <a:ext cx="832104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2920" y="2395728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FoldX ΔΔG stability</a:t>
            </a:r>
            <a:endParaRPr lang="en-US" sz="1050"/>
          </a:p>
        </p:txBody>
      </p:sp>
      <p:sp>
        <p:nvSpPr>
          <p:cNvPr id="27" name="Text 25"/>
          <p:cNvSpPr/>
          <p:nvPr/>
        </p:nvSpPr>
        <p:spPr>
          <a:xfrm>
            <a:off x="3200400" y="239572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/>
          </a:p>
        </p:txBody>
      </p:sp>
      <p:sp>
        <p:nvSpPr>
          <p:cNvPr id="28" name="Text 26"/>
          <p:cNvSpPr/>
          <p:nvPr/>
        </p:nvSpPr>
        <p:spPr>
          <a:xfrm>
            <a:off x="4572000" y="239572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/>
          </a:p>
        </p:txBody>
      </p:sp>
      <p:sp>
        <p:nvSpPr>
          <p:cNvPr id="29" name="Text 27"/>
          <p:cNvSpPr/>
          <p:nvPr/>
        </p:nvSpPr>
        <p:spPr>
          <a:xfrm>
            <a:off x="5943600" y="239572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/>
          </a:p>
        </p:txBody>
      </p:sp>
      <p:sp>
        <p:nvSpPr>
          <p:cNvPr id="30" name="Text 28"/>
          <p:cNvSpPr/>
          <p:nvPr/>
        </p:nvSpPr>
        <p:spPr>
          <a:xfrm>
            <a:off x="7315200" y="239572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/>
          </a:p>
        </p:txBody>
      </p:sp>
      <p:sp>
        <p:nvSpPr>
          <p:cNvPr id="31" name="Shape 29"/>
          <p:cNvSpPr/>
          <p:nvPr/>
        </p:nvSpPr>
        <p:spPr>
          <a:xfrm>
            <a:off x="411480" y="2724912"/>
            <a:ext cx="8321040" cy="310896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02920" y="2724912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Wildtype/mutant atom comparison</a:t>
            </a:r>
            <a:endParaRPr lang="en-US" sz="1050"/>
          </a:p>
        </p:txBody>
      </p:sp>
      <p:sp>
        <p:nvSpPr>
          <p:cNvPr id="33" name="Text 31"/>
          <p:cNvSpPr/>
          <p:nvPr/>
        </p:nvSpPr>
        <p:spPr>
          <a:xfrm>
            <a:off x="3200400" y="272491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/>
          </a:p>
        </p:txBody>
      </p:sp>
      <p:sp>
        <p:nvSpPr>
          <p:cNvPr id="34" name="Text 32"/>
          <p:cNvSpPr/>
          <p:nvPr/>
        </p:nvSpPr>
        <p:spPr>
          <a:xfrm>
            <a:off x="4572000" y="272491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/>
          </a:p>
        </p:txBody>
      </p:sp>
      <p:sp>
        <p:nvSpPr>
          <p:cNvPr id="35" name="Text 33"/>
          <p:cNvSpPr/>
          <p:nvPr/>
        </p:nvSpPr>
        <p:spPr>
          <a:xfrm>
            <a:off x="5943600" y="272491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/>
          </a:p>
        </p:txBody>
      </p:sp>
      <p:sp>
        <p:nvSpPr>
          <p:cNvPr id="36" name="Text 34"/>
          <p:cNvSpPr/>
          <p:nvPr/>
        </p:nvSpPr>
        <p:spPr>
          <a:xfrm>
            <a:off x="7315200" y="272491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/>
          </a:p>
        </p:txBody>
      </p:sp>
      <p:sp>
        <p:nvSpPr>
          <p:cNvPr id="37" name="Shape 35"/>
          <p:cNvSpPr/>
          <p:nvPr/>
        </p:nvSpPr>
        <p:spPr>
          <a:xfrm>
            <a:off x="411480" y="3054096"/>
            <a:ext cx="832104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02920" y="3054096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landscape heatmap</a:t>
            </a:r>
            <a:endParaRPr lang="en-US" sz="1050"/>
          </a:p>
        </p:txBody>
      </p:sp>
      <p:sp>
        <p:nvSpPr>
          <p:cNvPr id="39" name="Text 37"/>
          <p:cNvSpPr/>
          <p:nvPr/>
        </p:nvSpPr>
        <p:spPr>
          <a:xfrm>
            <a:off x="3200400" y="3054096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/>
          </a:p>
        </p:txBody>
      </p:sp>
      <p:sp>
        <p:nvSpPr>
          <p:cNvPr id="40" name="Text 38"/>
          <p:cNvSpPr/>
          <p:nvPr/>
        </p:nvSpPr>
        <p:spPr>
          <a:xfrm>
            <a:off x="4572000" y="3054096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/>
          </a:p>
        </p:txBody>
      </p:sp>
      <p:sp>
        <p:nvSpPr>
          <p:cNvPr id="41" name="Text 39"/>
          <p:cNvSpPr/>
          <p:nvPr/>
        </p:nvSpPr>
        <p:spPr>
          <a:xfrm>
            <a:off x="5943600" y="3054096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/>
          </a:p>
        </p:txBody>
      </p:sp>
      <p:sp>
        <p:nvSpPr>
          <p:cNvPr id="42" name="Text 40"/>
          <p:cNvSpPr/>
          <p:nvPr/>
        </p:nvSpPr>
        <p:spPr>
          <a:xfrm>
            <a:off x="7315200" y="3054096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/>
          </a:p>
        </p:txBody>
      </p:sp>
      <p:sp>
        <p:nvSpPr>
          <p:cNvPr id="43" name="Shape 41"/>
          <p:cNvSpPr/>
          <p:nvPr/>
        </p:nvSpPr>
        <p:spPr>
          <a:xfrm>
            <a:off x="411480" y="3383280"/>
            <a:ext cx="8321040" cy="310896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02920" y="338328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interpretation</a:t>
            </a:r>
            <a:endParaRPr lang="en-US" sz="1050"/>
          </a:p>
        </p:txBody>
      </p:sp>
      <p:sp>
        <p:nvSpPr>
          <p:cNvPr id="45" name="Text 43"/>
          <p:cNvSpPr/>
          <p:nvPr/>
        </p:nvSpPr>
        <p:spPr>
          <a:xfrm>
            <a:off x="3200400" y="338328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/>
          </a:p>
        </p:txBody>
      </p:sp>
      <p:sp>
        <p:nvSpPr>
          <p:cNvPr id="46" name="Text 44"/>
          <p:cNvSpPr/>
          <p:nvPr/>
        </p:nvSpPr>
        <p:spPr>
          <a:xfrm>
            <a:off x="4572000" y="338328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/>
          </a:p>
        </p:txBody>
      </p:sp>
      <p:sp>
        <p:nvSpPr>
          <p:cNvPr id="47" name="Text 45"/>
          <p:cNvSpPr/>
          <p:nvPr/>
        </p:nvSpPr>
        <p:spPr>
          <a:xfrm>
            <a:off x="5943600" y="338328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/>
          </a:p>
        </p:txBody>
      </p:sp>
      <p:sp>
        <p:nvSpPr>
          <p:cNvPr id="48" name="Text 46"/>
          <p:cNvSpPr/>
          <p:nvPr/>
        </p:nvSpPr>
        <p:spPr>
          <a:xfrm>
            <a:off x="7315200" y="338328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/>
          </a:p>
        </p:txBody>
      </p:sp>
      <p:sp>
        <p:nvSpPr>
          <p:cNvPr id="49" name="Shape 47"/>
          <p:cNvSpPr/>
          <p:nvPr/>
        </p:nvSpPr>
        <p:spPr>
          <a:xfrm>
            <a:off x="411480" y="3712464"/>
            <a:ext cx="832104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502920" y="371246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ClinVar/gnomAD enrichment</a:t>
            </a:r>
            <a:endParaRPr lang="en-US" sz="1050"/>
          </a:p>
        </p:txBody>
      </p:sp>
      <p:sp>
        <p:nvSpPr>
          <p:cNvPr id="51" name="Text 49"/>
          <p:cNvSpPr/>
          <p:nvPr/>
        </p:nvSpPr>
        <p:spPr>
          <a:xfrm>
            <a:off x="3200400" y="3712464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/>
          </a:p>
        </p:txBody>
      </p:sp>
      <p:sp>
        <p:nvSpPr>
          <p:cNvPr id="52" name="Text 50"/>
          <p:cNvSpPr/>
          <p:nvPr/>
        </p:nvSpPr>
        <p:spPr>
          <a:xfrm>
            <a:off x="4572000" y="3712464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/>
          </a:p>
        </p:txBody>
      </p:sp>
      <p:sp>
        <p:nvSpPr>
          <p:cNvPr id="53" name="Text 51"/>
          <p:cNvSpPr/>
          <p:nvPr/>
        </p:nvSpPr>
        <p:spPr>
          <a:xfrm>
            <a:off x="5943600" y="3712464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/>
          </a:p>
        </p:txBody>
      </p:sp>
      <p:sp>
        <p:nvSpPr>
          <p:cNvPr id="54" name="Text 52"/>
          <p:cNvSpPr/>
          <p:nvPr/>
        </p:nvSpPr>
        <p:spPr>
          <a:xfrm>
            <a:off x="7315200" y="3712464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/>
          </a:p>
        </p:txBody>
      </p:sp>
      <p:sp>
        <p:nvSpPr>
          <p:cNvPr id="55" name="Shape 53"/>
          <p:cNvSpPr/>
          <p:nvPr/>
        </p:nvSpPr>
        <p:spPr>
          <a:xfrm>
            <a:off x="411480" y="4041648"/>
            <a:ext cx="8321040" cy="310896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502920" y="4041648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click-to-select</a:t>
            </a:r>
            <a:endParaRPr lang="en-US" sz="1050"/>
          </a:p>
        </p:txBody>
      </p:sp>
      <p:sp>
        <p:nvSpPr>
          <p:cNvPr id="57" name="Text 55"/>
          <p:cNvSpPr/>
          <p:nvPr/>
        </p:nvSpPr>
        <p:spPr>
          <a:xfrm>
            <a:off x="3200400" y="404164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/>
          </a:p>
        </p:txBody>
      </p:sp>
      <p:sp>
        <p:nvSpPr>
          <p:cNvPr id="58" name="Text 56"/>
          <p:cNvSpPr/>
          <p:nvPr/>
        </p:nvSpPr>
        <p:spPr>
          <a:xfrm>
            <a:off x="4572000" y="404164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/>
          </a:p>
        </p:txBody>
      </p:sp>
      <p:sp>
        <p:nvSpPr>
          <p:cNvPr id="59" name="Text 57"/>
          <p:cNvSpPr/>
          <p:nvPr/>
        </p:nvSpPr>
        <p:spPr>
          <a:xfrm>
            <a:off x="5943600" y="404164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/>
          </a:p>
        </p:txBody>
      </p:sp>
      <p:sp>
        <p:nvSpPr>
          <p:cNvPr id="60" name="Text 58"/>
          <p:cNvSpPr/>
          <p:nvPr/>
        </p:nvSpPr>
        <p:spPr>
          <a:xfrm>
            <a:off x="7315200" y="404164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/>
          </a:p>
        </p:txBody>
      </p:sp>
      <p:sp>
        <p:nvSpPr>
          <p:cNvPr id="61" name="Shape 59"/>
          <p:cNvSpPr/>
          <p:nvPr/>
        </p:nvSpPr>
        <p:spPr>
          <a:xfrm>
            <a:off x="411480" y="4370832"/>
            <a:ext cx="832104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502920" y="4370832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Sub-second query response</a:t>
            </a:r>
            <a:endParaRPr lang="en-US" sz="1050"/>
          </a:p>
        </p:txBody>
      </p:sp>
      <p:sp>
        <p:nvSpPr>
          <p:cNvPr id="63" name="Text 61"/>
          <p:cNvSpPr/>
          <p:nvPr/>
        </p:nvSpPr>
        <p:spPr>
          <a:xfrm>
            <a:off x="3200400" y="437083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/>
          </a:p>
        </p:txBody>
      </p:sp>
      <p:sp>
        <p:nvSpPr>
          <p:cNvPr id="64" name="Text 62"/>
          <p:cNvSpPr/>
          <p:nvPr/>
        </p:nvSpPr>
        <p:spPr>
          <a:xfrm>
            <a:off x="4572000" y="437083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/>
          </a:p>
        </p:txBody>
      </p:sp>
      <p:sp>
        <p:nvSpPr>
          <p:cNvPr id="65" name="Text 63"/>
          <p:cNvSpPr/>
          <p:nvPr/>
        </p:nvSpPr>
        <p:spPr>
          <a:xfrm>
            <a:off x="5943600" y="437083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/>
          </a:p>
        </p:txBody>
      </p:sp>
      <p:sp>
        <p:nvSpPr>
          <p:cNvPr id="66" name="Text 64"/>
          <p:cNvSpPr/>
          <p:nvPr/>
        </p:nvSpPr>
        <p:spPr>
          <a:xfrm>
            <a:off x="7315200" y="437083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6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Known Limitations</a:t>
            </a:r>
            <a:endParaRPr lang="en-US" sz="3000"/>
          </a:p>
        </p:txBody>
      </p:sp>
      <p:sp>
        <p:nvSpPr>
          <p:cNvPr id="3" name="Text 1"/>
          <p:cNvSpPr/>
          <p:nvPr/>
        </p:nvSpPr>
        <p:spPr>
          <a:xfrm>
            <a:off x="502920" y="85039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accounting — documented in the thesis, not discovered post-defense</a:t>
            </a:r>
            <a:endParaRPr lang="en-US" sz="1300"/>
          </a:p>
        </p:txBody>
      </p:sp>
      <p:sp>
        <p:nvSpPr>
          <p:cNvPr id="4" name="Shape 2"/>
          <p:cNvSpPr/>
          <p:nvPr/>
        </p:nvSpPr>
        <p:spPr>
          <a:xfrm>
            <a:off x="502920" y="804672"/>
            <a:ext cx="100584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115568"/>
            <a:ext cx="4114800" cy="1170432"/>
          </a:xfrm>
          <a:prstGeom prst="rect">
            <a:avLst/>
          </a:prstGeom>
          <a:solidFill>
            <a:srgbClr val="1A1008"/>
          </a:solidFill>
          <a:ln w="6350">
            <a:solidFill>
              <a:srgbClr val="6B3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1207008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20700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CD3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FoldX Fixed-Backbone Approx.</a:t>
            </a:r>
            <a:endParaRPr lang="en-US" sz="1200"/>
          </a:p>
        </p:txBody>
      </p:sp>
      <p:sp>
        <p:nvSpPr>
          <p:cNvPr id="8" name="Text 5"/>
          <p:cNvSpPr/>
          <p:nvPr/>
        </p:nvSpPr>
        <p:spPr>
          <a:xfrm>
            <a:off x="521208" y="1609344"/>
            <a:ext cx="3877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ΔΔG ≈ 0.00 kcal/mol for single missense due to backbone rigidity. Meaningful ΔΔG requires compound/multiple mutations submitted together. AlphaMissense remains primary discriminator.</a:t>
            </a:r>
            <a:endParaRPr lang="en-US" sz="1050"/>
          </a:p>
        </p:txBody>
      </p:sp>
      <p:sp>
        <p:nvSpPr>
          <p:cNvPr id="9" name="Shape 6"/>
          <p:cNvSpPr/>
          <p:nvPr/>
        </p:nvSpPr>
        <p:spPr>
          <a:xfrm>
            <a:off x="4709160" y="1115568"/>
            <a:ext cx="4114800" cy="1170432"/>
          </a:xfrm>
          <a:prstGeom prst="rect">
            <a:avLst/>
          </a:prstGeom>
          <a:solidFill>
            <a:srgbClr val="1A1008"/>
          </a:solidFill>
          <a:ln w="6350">
            <a:solidFill>
              <a:srgbClr val="6B3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888" y="1207008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57800" y="120700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CD3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Human Proteome Only</a:t>
            </a:r>
            <a:endParaRPr lang="en-US" sz="1200"/>
          </a:p>
        </p:txBody>
      </p:sp>
      <p:sp>
        <p:nvSpPr>
          <p:cNvPr id="12" name="Text 8"/>
          <p:cNvSpPr/>
          <p:nvPr/>
        </p:nvSpPr>
        <p:spPr>
          <a:xfrm>
            <a:off x="4818888" y="1609344"/>
            <a:ext cx="3877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AlphaMissense covers only human proteins. No viral, bacterial, or model organism proteins. Coverage check endpoint guards against empty responses for out-of-scope proteins.</a:t>
            </a:r>
            <a:endParaRPr lang="en-US" sz="1050"/>
          </a:p>
        </p:txBody>
      </p:sp>
      <p:sp>
        <p:nvSpPr>
          <p:cNvPr id="13" name="Shape 9"/>
          <p:cNvSpPr/>
          <p:nvPr/>
        </p:nvSpPr>
        <p:spPr>
          <a:xfrm>
            <a:off x="411480" y="2395728"/>
            <a:ext cx="4114800" cy="1170432"/>
          </a:xfrm>
          <a:prstGeom prst="rect">
            <a:avLst/>
          </a:prstGeom>
          <a:solidFill>
            <a:srgbClr val="1A1008"/>
          </a:solidFill>
          <a:ln w="6350">
            <a:solidFill>
              <a:srgbClr val="6B3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2487168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60120" y="248716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CD3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Blinn-Phong Discrepancy</a:t>
            </a:r>
            <a:endParaRPr lang="en-US" sz="1200"/>
          </a:p>
        </p:txBody>
      </p:sp>
      <p:sp>
        <p:nvSpPr>
          <p:cNvPr id="16" name="Text 11"/>
          <p:cNvSpPr/>
          <p:nvPr/>
        </p:nvSpPr>
        <p:spPr>
          <a:xfrm>
            <a:off x="521208" y="2889504"/>
            <a:ext cx="3877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describes Blinn-Phong shading. Current shader: ambient + Lambertian diffuse only. Specular half-vector term defined but not active. SSAO planned as highest-priority visual upgrade.</a:t>
            </a:r>
            <a:endParaRPr lang="en-US" sz="1050"/>
          </a:p>
        </p:txBody>
      </p:sp>
      <p:sp>
        <p:nvSpPr>
          <p:cNvPr id="17" name="Shape 12"/>
          <p:cNvSpPr/>
          <p:nvPr/>
        </p:nvSpPr>
        <p:spPr>
          <a:xfrm>
            <a:off x="4709160" y="2395728"/>
            <a:ext cx="4114800" cy="1170432"/>
          </a:xfrm>
          <a:prstGeom prst="rect">
            <a:avLst/>
          </a:prstGeom>
          <a:solidFill>
            <a:srgbClr val="1A1008"/>
          </a:solidFill>
          <a:ln w="6350">
            <a:solidFill>
              <a:srgbClr val="6B3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888" y="2487168"/>
            <a:ext cx="347472" cy="34747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257800" y="248716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CD3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Ribbon Rendering Disabled</a:t>
            </a:r>
            <a:endParaRPr lang="en-US" sz="1200"/>
          </a:p>
        </p:txBody>
      </p:sp>
      <p:sp>
        <p:nvSpPr>
          <p:cNvPr id="20" name="Text 14"/>
          <p:cNvSpPr/>
          <p:nvPr/>
        </p:nvSpPr>
        <p:spPr>
          <a:xfrm>
            <a:off x="4818888" y="2889504"/>
            <a:ext cx="3877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RibbonTemplate class exists and shaders are written. Output is incorrect. Ball-and-stick is the only active representation. Documented explicitly as planned but not functional.</a:t>
            </a:r>
            <a:endParaRPr lang="en-US" sz="1050"/>
          </a:p>
        </p:txBody>
      </p:sp>
      <p:sp>
        <p:nvSpPr>
          <p:cNvPr id="21" name="Shape 15"/>
          <p:cNvSpPr/>
          <p:nvPr/>
        </p:nvSpPr>
        <p:spPr>
          <a:xfrm>
            <a:off x="411480" y="3675888"/>
            <a:ext cx="4114800" cy="1170432"/>
          </a:xfrm>
          <a:prstGeom prst="rect">
            <a:avLst/>
          </a:prstGeom>
          <a:solidFill>
            <a:srgbClr val="1A1008"/>
          </a:solidFill>
          <a:ln w="6350">
            <a:solidFill>
              <a:srgbClr val="6B3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3767328"/>
            <a:ext cx="347472" cy="34747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60120" y="376732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CD3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RMSD Coloring Stubbed</a:t>
            </a:r>
            <a:endParaRPr lang="en-US" sz="1200"/>
          </a:p>
        </p:txBody>
      </p:sp>
      <p:sp>
        <p:nvSpPr>
          <p:cNvPr id="24" name="Text 17"/>
          <p:cNvSpPr/>
          <p:nvPr/>
        </p:nvSpPr>
        <p:spPr>
          <a:xfrm>
            <a:off x="521208" y="4169664"/>
            <a:ext cx="3877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renderMutationComparison() contains empty stubs. Cα RMSD computed but not applied as viewport heatmap. FoldX fixed-backbone makes heatmap uninformative anyway — future Rosetta integration would unlock it.</a:t>
            </a:r>
            <a:endParaRPr lang="en-US" sz="1050"/>
          </a:p>
        </p:txBody>
      </p:sp>
      <p:sp>
        <p:nvSpPr>
          <p:cNvPr id="25" name="Shape 18"/>
          <p:cNvSpPr/>
          <p:nvPr/>
        </p:nvSpPr>
        <p:spPr>
          <a:xfrm>
            <a:off x="4709160" y="3675888"/>
            <a:ext cx="4114800" cy="1170432"/>
          </a:xfrm>
          <a:prstGeom prst="rect">
            <a:avLst/>
          </a:prstGeom>
          <a:solidFill>
            <a:srgbClr val="1A1008"/>
          </a:solidFill>
          <a:ln w="6350">
            <a:solidFill>
              <a:srgbClr val="6B3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888" y="3767328"/>
            <a:ext cx="347472" cy="34747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257800" y="376732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CD3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AM Score Bug in Focus Panel</a:t>
            </a:r>
            <a:endParaRPr lang="en-US" sz="1200"/>
          </a:p>
        </p:txBody>
      </p:sp>
      <p:sp>
        <p:nvSpPr>
          <p:cNvPr id="28" name="Text 20"/>
          <p:cNvSpPr/>
          <p:nvPr/>
        </p:nvSpPr>
        <p:spPr>
          <a:xfrm>
            <a:off x="4818888" y="4169664"/>
            <a:ext cx="3877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Prompt-building pipeline bug causes AlphaMissense score to show 0.000 in Mutation Focus Panel. Correct score accessible via Variant Selector Panel. Used for all case study evaluations.</a:t>
            </a:r>
            <a:endParaRPr lang="en-US" sz="105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Work &amp; Roadmap</a:t>
            </a:r>
            <a:endParaRPr lang="en-US" sz="3000"/>
          </a:p>
        </p:txBody>
      </p:sp>
      <p:sp>
        <p:nvSpPr>
          <p:cNvPr id="3" name="Text 1"/>
          <p:cNvSpPr/>
          <p:nvPr/>
        </p:nvSpPr>
        <p:spPr>
          <a:xfrm>
            <a:off x="502920" y="85039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thesis prototype to publishable research platform</a:t>
            </a:r>
            <a:endParaRPr lang="en-US" sz="1300"/>
          </a:p>
        </p:txBody>
      </p:sp>
      <p:sp>
        <p:nvSpPr>
          <p:cNvPr id="4" name="Shape 2"/>
          <p:cNvSpPr/>
          <p:nvPr/>
        </p:nvSpPr>
        <p:spPr>
          <a:xfrm>
            <a:off x="502920" y="804672"/>
            <a:ext cx="100584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115568"/>
            <a:ext cx="411480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115568"/>
            <a:ext cx="411480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11556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Immediate</a:t>
            </a:r>
            <a:endParaRPr lang="en-US" sz="1300"/>
          </a:p>
        </p:txBody>
      </p:sp>
      <p:sp>
        <p:nvSpPr>
          <p:cNvPr id="8" name="Text 6"/>
          <p:cNvSpPr/>
          <p:nvPr/>
        </p:nvSpPr>
        <p:spPr>
          <a:xfrm>
            <a:off x="521208" y="1572768"/>
            <a:ext cx="38953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Seeking feedback from bio experts on ideas for improvement</a:t>
            </a:r>
            <a:endParaRPr lang="en-US" sz="1000"/>
          </a:p>
        </p:txBody>
      </p:sp>
      <p:sp>
        <p:nvSpPr>
          <p:cNvPr id="9" name="Shape 7"/>
          <p:cNvSpPr/>
          <p:nvPr/>
        </p:nvSpPr>
        <p:spPr>
          <a:xfrm>
            <a:off x="4709160" y="1115568"/>
            <a:ext cx="411480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09160" y="1115568"/>
            <a:ext cx="4114800" cy="38404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09160" y="111556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Visual Upgrades</a:t>
            </a:r>
            <a:endParaRPr lang="en-US" sz="1300"/>
          </a:p>
        </p:txBody>
      </p:sp>
      <p:sp>
        <p:nvSpPr>
          <p:cNvPr id="12" name="Text 10"/>
          <p:cNvSpPr/>
          <p:nvPr/>
        </p:nvSpPr>
        <p:spPr>
          <a:xfrm>
            <a:off x="4818888" y="1572768"/>
            <a:ext cx="38953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SSAO — highest-priority visual upgrade (ambient occlusion for depth perception)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Bloom for pathogenicity rim glow around high-scoring residues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Ray-cast impostors — pixel-perfect spheres replacing tessellated geometry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Secondary structure as structured field in Claude prompt</a:t>
            </a:r>
            <a:endParaRPr lang="en-US" sz="1000"/>
          </a:p>
        </p:txBody>
      </p:sp>
      <p:sp>
        <p:nvSpPr>
          <p:cNvPr id="13" name="Shape 11"/>
          <p:cNvSpPr/>
          <p:nvPr/>
        </p:nvSpPr>
        <p:spPr>
          <a:xfrm>
            <a:off x="411480" y="2990088"/>
            <a:ext cx="411480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11480" y="2990088"/>
            <a:ext cx="411480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1480" y="299008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</a:t>
            </a:r>
            <a:endParaRPr lang="en-US" sz="1300"/>
          </a:p>
        </p:txBody>
      </p:sp>
      <p:sp>
        <p:nvSpPr>
          <p:cNvPr id="16" name="Text 14"/>
          <p:cNvSpPr/>
          <p:nvPr/>
        </p:nvSpPr>
        <p:spPr>
          <a:xfrm>
            <a:off x="521208" y="3447288"/>
            <a:ext cx="38953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mmCIF/BCIF format support (replaces PDB format for large structures)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Multi-protein comparison view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WebGPU web-based version — browser-native, no install required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Structured Claude output fields (JSON schema) from day one</a:t>
            </a:r>
            <a:endParaRPr lang="en-US" sz="1000"/>
          </a:p>
        </p:txBody>
      </p:sp>
      <p:sp>
        <p:nvSpPr>
          <p:cNvPr id="17" name="Shape 15"/>
          <p:cNvSpPr/>
          <p:nvPr/>
        </p:nvSpPr>
        <p:spPr>
          <a:xfrm>
            <a:off x="4709160" y="2990088"/>
            <a:ext cx="411480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709160" y="2990088"/>
            <a:ext cx="4114800" cy="38404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09160" y="299008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 Extensions</a:t>
            </a:r>
            <a:endParaRPr lang="en-US" sz="1300"/>
          </a:p>
        </p:txBody>
      </p:sp>
      <p:sp>
        <p:nvSpPr>
          <p:cNvPr id="20" name="Text 18"/>
          <p:cNvSpPr/>
          <p:nvPr/>
        </p:nvSpPr>
        <p:spPr>
          <a:xfrm>
            <a:off x="4818888" y="3447288"/>
            <a:ext cx="38953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GAT on residue contact graphs (~2 weeks baseline)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E(3)-equivariant GNN/EGNN for programs like Zitnik/Leskovec labs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RC cluster compute (A100/H100) at Northeastern for training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affinityNET3D: point cloud deep learning for binding affinity</a:t>
            </a:r>
            <a:endParaRPr lang="en-US" sz="10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6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3000"/>
          </a:p>
        </p:txBody>
      </p:sp>
      <p:sp>
        <p:nvSpPr>
          <p:cNvPr id="3" name="Text 1"/>
          <p:cNvSpPr/>
          <p:nvPr/>
        </p:nvSpPr>
        <p:spPr>
          <a:xfrm>
            <a:off x="502920" y="85039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fragmented mutation analysis workflow is an integration problem with an engineering solution</a:t>
            </a:r>
            <a:endParaRPr lang="en-US" sz="1300"/>
          </a:p>
        </p:txBody>
      </p:sp>
      <p:sp>
        <p:nvSpPr>
          <p:cNvPr id="4" name="Shape 2"/>
          <p:cNvSpPr/>
          <p:nvPr/>
        </p:nvSpPr>
        <p:spPr>
          <a:xfrm>
            <a:off x="502920" y="804672"/>
            <a:ext cx="100584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11155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DataLens demonstrates that combining real-time 3D visualization with interactive mutation analysis is technically feasible on commodity hardware — and that the primary barrier was integration, not science.</a:t>
            </a:r>
            <a:endParaRPr lang="en-US" sz="1250"/>
          </a:p>
        </p:txBody>
      </p:sp>
      <p:sp>
        <p:nvSpPr>
          <p:cNvPr id="6" name="Shape 4"/>
          <p:cNvSpPr/>
          <p:nvPr/>
        </p:nvSpPr>
        <p:spPr>
          <a:xfrm>
            <a:off x="411480" y="1828800"/>
            <a:ext cx="2670048" cy="1188720"/>
          </a:xfrm>
          <a:prstGeom prst="rect">
            <a:avLst/>
          </a:prstGeom>
          <a:solidFill>
            <a:srgbClr val="132039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1920240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192024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Engineering Contribution</a:t>
            </a:r>
            <a:endParaRPr lang="en-US" sz="1150"/>
          </a:p>
        </p:txBody>
      </p:sp>
      <p:sp>
        <p:nvSpPr>
          <p:cNvPr id="9" name="Text 6"/>
          <p:cNvSpPr/>
          <p:nvPr/>
        </p:nvSpPr>
        <p:spPr>
          <a:xfrm>
            <a:off x="521208" y="2331720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of GPU rendering + 216M-variant database + async FoldX + Claude AI in a single desktop application.</a:t>
            </a:r>
            <a:endParaRPr lang="en-US" sz="1000"/>
          </a:p>
        </p:txBody>
      </p:sp>
      <p:sp>
        <p:nvSpPr>
          <p:cNvPr id="10" name="Shape 7"/>
          <p:cNvSpPr/>
          <p:nvPr/>
        </p:nvSpPr>
        <p:spPr>
          <a:xfrm>
            <a:off x="3227832" y="1828800"/>
            <a:ext cx="2670048" cy="1188720"/>
          </a:xfrm>
          <a:prstGeom prst="rect">
            <a:avLst/>
          </a:prstGeom>
          <a:solidFill>
            <a:srgbClr val="132039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1920240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76472" y="192024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4× Workflow Speedup</a:t>
            </a:r>
            <a:endParaRPr lang="en-US" sz="1150"/>
          </a:p>
        </p:txBody>
      </p:sp>
      <p:sp>
        <p:nvSpPr>
          <p:cNvPr id="13" name="Text 9"/>
          <p:cNvSpPr/>
          <p:nvPr/>
        </p:nvSpPr>
        <p:spPr>
          <a:xfrm>
            <a:off x="3337560" y="2331720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69.6 s vs. 288 s per variant against HOPE. Sub-linear cumulative scaling — protein load amortized across all variants.</a:t>
            </a:r>
            <a:endParaRPr lang="en-US" sz="1000"/>
          </a:p>
        </p:txBody>
      </p:sp>
      <p:sp>
        <p:nvSpPr>
          <p:cNvPr id="14" name="Shape 10"/>
          <p:cNvSpPr/>
          <p:nvPr/>
        </p:nvSpPr>
        <p:spPr>
          <a:xfrm>
            <a:off x="6044184" y="1828800"/>
            <a:ext cx="2670048" cy="1188720"/>
          </a:xfrm>
          <a:prstGeom prst="rect">
            <a:avLst/>
          </a:prstGeom>
          <a:solidFill>
            <a:srgbClr val="132039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3912" y="1920240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592824" y="192024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 Architecture</a:t>
            </a:r>
            <a:endParaRPr lang="en-US" sz="1150"/>
          </a:p>
        </p:txBody>
      </p:sp>
      <p:sp>
        <p:nvSpPr>
          <p:cNvPr id="17" name="Text 12"/>
          <p:cNvSpPr/>
          <p:nvPr/>
        </p:nvSpPr>
        <p:spPr>
          <a:xfrm>
            <a:off x="6153912" y="2331720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index reduces AlphaMissense query from 28.4 s → 8 ms on 216M records. SIFTS mapping eliminates silent misidentification.</a:t>
            </a:r>
            <a:endParaRPr lang="en-US" sz="1000"/>
          </a:p>
        </p:txBody>
      </p:sp>
      <p:sp>
        <p:nvSpPr>
          <p:cNvPr id="18" name="Shape 13"/>
          <p:cNvSpPr/>
          <p:nvPr/>
        </p:nvSpPr>
        <p:spPr>
          <a:xfrm>
            <a:off x="411480" y="3127248"/>
            <a:ext cx="2670048" cy="1188720"/>
          </a:xfrm>
          <a:prstGeom prst="rect">
            <a:avLst/>
          </a:prstGeom>
          <a:solidFill>
            <a:srgbClr val="132039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208" y="3218688"/>
            <a:ext cx="347472" cy="34747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60120" y="3218688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Grounded AI Layer</a:t>
            </a:r>
            <a:endParaRPr lang="en-US" sz="1150"/>
          </a:p>
        </p:txBody>
      </p:sp>
      <p:sp>
        <p:nvSpPr>
          <p:cNvPr id="21" name="Text 15"/>
          <p:cNvSpPr/>
          <p:nvPr/>
        </p:nvSpPr>
        <p:spPr>
          <a:xfrm>
            <a:off x="521208" y="3630168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hierarchy (ClinVar → gnomAD → AM → FoldX). Post-processing guardrails prevent clinical overreach. Framed as hypothesis-generation tool.</a:t>
            </a:r>
            <a:endParaRPr lang="en-US" sz="1000"/>
          </a:p>
        </p:txBody>
      </p:sp>
      <p:sp>
        <p:nvSpPr>
          <p:cNvPr id="22" name="Shape 16"/>
          <p:cNvSpPr/>
          <p:nvPr/>
        </p:nvSpPr>
        <p:spPr>
          <a:xfrm>
            <a:off x="3227832" y="3127248"/>
            <a:ext cx="2670048" cy="1188720"/>
          </a:xfrm>
          <a:prstGeom prst="rect">
            <a:avLst/>
          </a:prstGeom>
          <a:solidFill>
            <a:srgbClr val="132039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37560" y="3218688"/>
            <a:ext cx="347472" cy="34747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3776472" y="3218688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Honest Limitations</a:t>
            </a:r>
            <a:endParaRPr lang="en-US" sz="1150"/>
          </a:p>
        </p:txBody>
      </p:sp>
      <p:sp>
        <p:nvSpPr>
          <p:cNvPr id="25" name="Text 18"/>
          <p:cNvSpPr/>
          <p:nvPr/>
        </p:nvSpPr>
        <p:spPr>
          <a:xfrm>
            <a:off x="3337560" y="3630168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Ribbon rendering disabled, RMSD coloring stubbed, FoldX fixed-backbone ΔΔG = 0. All documented. Correctness over completeness.</a:t>
            </a:r>
            <a:endParaRPr lang="en-US" sz="1000"/>
          </a:p>
        </p:txBody>
      </p:sp>
      <p:sp>
        <p:nvSpPr>
          <p:cNvPr id="26" name="Shape 19"/>
          <p:cNvSpPr/>
          <p:nvPr/>
        </p:nvSpPr>
        <p:spPr>
          <a:xfrm>
            <a:off x="6044184" y="3127248"/>
            <a:ext cx="2670048" cy="1188720"/>
          </a:xfrm>
          <a:prstGeom prst="rect">
            <a:avLst/>
          </a:prstGeom>
          <a:solidFill>
            <a:srgbClr val="132039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53912" y="3218688"/>
            <a:ext cx="347472" cy="34747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592824" y="3218688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Research Trajectory</a:t>
            </a:r>
            <a:endParaRPr lang="en-US" sz="1150"/>
          </a:p>
        </p:txBody>
      </p:sp>
      <p:sp>
        <p:nvSpPr>
          <p:cNvPr id="29" name="Text 21"/>
          <p:cNvSpPr/>
          <p:nvPr/>
        </p:nvSpPr>
        <p:spPr>
          <a:xfrm>
            <a:off x="6153912" y="3630168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affinityNET3D (geometric deep learning) as next project.</a:t>
            </a:r>
            <a:endParaRPr lang="en-US" sz="10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6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029200" y="-1371600"/>
            <a:ext cx="5486400" cy="5486400"/>
          </a:xfrm>
          <a:prstGeom prst="ellipse">
            <a:avLst/>
          </a:prstGeom>
          <a:solidFill>
            <a:srgbClr val="0D2A3D">
              <a:alpha val="80000"/>
            </a:srgbClr>
          </a:solidFill>
          <a:ln w="12700">
            <a:solidFill>
              <a:srgbClr val="0D2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292608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5943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4800"/>
          </a:p>
        </p:txBody>
      </p:sp>
      <p:sp>
        <p:nvSpPr>
          <p:cNvPr id="6" name="Text 3"/>
          <p:cNvSpPr/>
          <p:nvPr/>
        </p:nvSpPr>
        <p:spPr>
          <a:xfrm>
            <a:off x="502920" y="14630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/>
          </a:p>
        </p:txBody>
      </p:sp>
      <p:sp>
        <p:nvSpPr>
          <p:cNvPr id="7" name="Shape 4"/>
          <p:cNvSpPr/>
          <p:nvPr/>
        </p:nvSpPr>
        <p:spPr>
          <a:xfrm>
            <a:off x="502920" y="2029968"/>
            <a:ext cx="32004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02920" y="217627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Thy Yen Tran  ·  MS Software Engineering Systems</a:t>
            </a:r>
            <a:endParaRPr lang="en-US" sz="1300"/>
          </a:p>
        </p:txBody>
      </p:sp>
      <p:sp>
        <p:nvSpPr>
          <p:cNvPr id="9" name="Text 6"/>
          <p:cNvSpPr/>
          <p:nvPr/>
        </p:nvSpPr>
        <p:spPr>
          <a:xfrm>
            <a:off x="502920" y="2523744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Northeastern University, College of Engineering</a:t>
            </a:r>
            <a:endParaRPr lang="en-US" sz="1300"/>
          </a:p>
        </p:txBody>
      </p:sp>
      <p:sp>
        <p:nvSpPr>
          <p:cNvPr id="10" name="Text 7"/>
          <p:cNvSpPr/>
          <p:nvPr/>
        </p:nvSpPr>
        <p:spPr>
          <a:xfrm>
            <a:off x="502920" y="2871216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Advisor: Prof. Robin Hillyard</a:t>
            </a:r>
            <a:endParaRPr lang="en-US" sz="1300"/>
          </a:p>
        </p:txBody>
      </p:sp>
      <p:sp>
        <p:nvSpPr>
          <p:cNvPr id="11" name="Text 8"/>
          <p:cNvSpPr/>
          <p:nvPr/>
        </p:nvSpPr>
        <p:spPr>
          <a:xfrm>
            <a:off x="502920" y="321868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Committee: Profs. Konstantopoulos · Liu · O'Reilly</a:t>
            </a:r>
            <a:endParaRPr lang="en-US" sz="1300"/>
          </a:p>
        </p:txBody>
      </p:sp>
      <p:sp>
        <p:nvSpPr>
          <p:cNvPr id="12" name="Shape 9"/>
          <p:cNvSpPr/>
          <p:nvPr/>
        </p:nvSpPr>
        <p:spPr>
          <a:xfrm>
            <a:off x="502920" y="3611880"/>
            <a:ext cx="7315200" cy="1234440"/>
          </a:xfrm>
          <a:prstGeom prst="rect">
            <a:avLst/>
          </a:prstGeom>
          <a:solidFill>
            <a:srgbClr val="132039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94360" y="367588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Defense Q&amp;A — Quick References</a:t>
            </a:r>
            <a:endParaRPr lang="en-US" sz="1100"/>
          </a:p>
        </p:txBody>
      </p:sp>
      <p:sp>
        <p:nvSpPr>
          <p:cNvPr id="14" name="Text 11"/>
          <p:cNvSpPr/>
          <p:nvPr/>
        </p:nvSpPr>
        <p:spPr>
          <a:xfrm>
            <a:off x="594360" y="3986784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/>
          </a:p>
        </p:txBody>
      </p:sp>
      <p:sp>
        <p:nvSpPr>
          <p:cNvPr id="15" name="Text 12"/>
          <p:cNvSpPr/>
          <p:nvPr/>
        </p:nvSpPr>
        <p:spPr>
          <a:xfrm>
            <a:off x="594360" y="401421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Hallucination mitigation → Grounded prompting; raw numbers co-displayed; framed as hypothesis-generation</a:t>
            </a:r>
            <a:endParaRPr lang="en-US" sz="950"/>
          </a:p>
        </p:txBody>
      </p:sp>
      <p:sp>
        <p:nvSpPr>
          <p:cNvPr id="16" name="Text 13"/>
          <p:cNvSpPr/>
          <p:nvPr/>
        </p:nvSpPr>
        <p:spPr>
          <a:xfrm>
            <a:off x="594360" y="423367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Why not Vulkan? → DataLens is CPU-bound on data loading, not GPU-bound; Vulkan adds ~800 lines for zero visual benefit</a:t>
            </a:r>
            <a:endParaRPr lang="en-US" sz="950"/>
          </a:p>
        </p:txBody>
      </p:sp>
      <p:sp>
        <p:nvSpPr>
          <p:cNvPr id="17" name="Text 14"/>
          <p:cNvSpPr/>
          <p:nvPr/>
        </p:nvSpPr>
        <p:spPr>
          <a:xfrm>
            <a:off x="594360" y="4453128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Why not user study? → IRB + recruitment + analysis = weeks; acknowledged gap; planned for App Note</a:t>
            </a:r>
            <a:endParaRPr lang="en-US" sz="95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16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0" y="-1828800"/>
            <a:ext cx="6400800" cy="6400800"/>
          </a:xfrm>
          <a:prstGeom prst="ellipse">
            <a:avLst/>
          </a:prstGeom>
          <a:solidFill>
            <a:srgbClr val="0D2A3D">
              <a:alpha val="75000"/>
            </a:srgbClr>
          </a:solidFill>
          <a:ln w="12700">
            <a:solidFill>
              <a:srgbClr val="0D2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00584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20116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Committee Q&amp;A</a:t>
            </a:r>
            <a:endParaRPr lang="en-US" sz="4600"/>
          </a:p>
        </p:txBody>
      </p:sp>
      <p:sp>
        <p:nvSpPr>
          <p:cNvPr id="6" name="Text 3"/>
          <p:cNvSpPr/>
          <p:nvPr/>
        </p:nvSpPr>
        <p:spPr>
          <a:xfrm>
            <a:off x="502920" y="30175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addressing questions raised by the examination committee</a:t>
            </a:r>
            <a:endParaRPr lang="en-US" sz="1600"/>
          </a:p>
        </p:txBody>
      </p:sp>
      <p:sp>
        <p:nvSpPr>
          <p:cNvPr id="7" name="Shape 4"/>
          <p:cNvSpPr/>
          <p:nvPr/>
        </p:nvSpPr>
        <p:spPr>
          <a:xfrm>
            <a:off x="502920" y="3520440"/>
            <a:ext cx="54864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FB87F45E-7AB0-D677-B70F-3763ADF18A9D}"/>
              </a:ext>
            </a:extLst>
          </p:cNvPr>
          <p:cNvSpPr/>
          <p:nvPr/>
        </p:nvSpPr>
        <p:spPr>
          <a:xfrm>
            <a:off x="594360" y="3703320"/>
            <a:ext cx="7679014" cy="238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Biology fundamentals: residue, variant, protein size, mutation causes</a:t>
            </a:r>
            <a:endParaRPr lang="en-US" sz="900"/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46A1BF12-8CF8-8C22-3CCA-277061EAB6F0}"/>
              </a:ext>
            </a:extLst>
          </p:cNvPr>
          <p:cNvSpPr/>
          <p:nvPr/>
        </p:nvSpPr>
        <p:spPr>
          <a:xfrm>
            <a:off x="594360" y="3899346"/>
            <a:ext cx="7679014" cy="238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Claude's role in DataLens and LLM portability</a:t>
            </a:r>
            <a:endParaRPr lang="en-US" sz="900"/>
          </a:p>
        </p:txBody>
      </p:sp>
      <p:sp>
        <p:nvSpPr>
          <p:cNvPr id="21" name="Text 7">
            <a:extLst>
              <a:ext uri="{FF2B5EF4-FFF2-40B4-BE49-F238E27FC236}">
                <a16:creationId xmlns:a16="http://schemas.microsoft.com/office/drawing/2014/main" id="{F489CBAE-8532-20AD-53CD-27F67FBBAA36}"/>
              </a:ext>
            </a:extLst>
          </p:cNvPr>
          <p:cNvSpPr/>
          <p:nvPr/>
        </p:nvSpPr>
        <p:spPr>
          <a:xfrm>
            <a:off x="594360" y="4086513"/>
            <a:ext cx="7679014" cy="238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System architecture deep dive</a:t>
            </a:r>
            <a:endParaRPr lang="en-US" sz="900"/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536BFE0A-293F-0DFE-FE52-DB23F7E34BBF}"/>
              </a:ext>
            </a:extLst>
          </p:cNvPr>
          <p:cNvSpPr/>
          <p:nvPr/>
        </p:nvSpPr>
        <p:spPr>
          <a:xfrm>
            <a:off x="594360" y="4282539"/>
            <a:ext cx="7679014" cy="238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OpenGL: architecture, GPU usage, and why not CUDA/Metal/Vulkan</a:t>
            </a:r>
            <a:endParaRPr lang="en-US" sz="900"/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A5A90FD0-053F-9220-D747-6565AB671DD3}"/>
              </a:ext>
            </a:extLst>
          </p:cNvPr>
          <p:cNvSpPr/>
          <p:nvPr/>
        </p:nvSpPr>
        <p:spPr>
          <a:xfrm>
            <a:off x="594360" y="4478565"/>
            <a:ext cx="7679014" cy="238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Swapping the variant database · Adding new AI information sources</a:t>
            </a:r>
            <a:endParaRPr lang="en-US" sz="900"/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947125C0-39AC-9DBB-CBF8-2630F1644D14}"/>
              </a:ext>
            </a:extLst>
          </p:cNvPr>
          <p:cNvSpPr/>
          <p:nvPr/>
        </p:nvSpPr>
        <p:spPr>
          <a:xfrm>
            <a:off x="594360" y="4659175"/>
            <a:ext cx="7679014" cy="238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Some pre-defense questions</a:t>
            </a:r>
            <a:endParaRPr lang="en-US" sz="9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16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Q: What is a Residue?</a:t>
            </a:r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502920" y="85039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building block of every protein in DataLens</a:t>
            </a:r>
            <a:endParaRPr lang="en-US" sz="1300"/>
          </a:p>
        </p:txBody>
      </p:sp>
      <p:sp>
        <p:nvSpPr>
          <p:cNvPr id="4" name="Shape 2"/>
          <p:cNvSpPr/>
          <p:nvPr/>
        </p:nvSpPr>
        <p:spPr>
          <a:xfrm>
            <a:off x="502920" y="804672"/>
            <a:ext cx="100584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111556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Amino Acid → Residue</a:t>
            </a:r>
            <a:endParaRPr lang="en-US" sz="1400"/>
          </a:p>
        </p:txBody>
      </p:sp>
      <p:sp>
        <p:nvSpPr>
          <p:cNvPr id="6" name="Text 4"/>
          <p:cNvSpPr/>
          <p:nvPr/>
        </p:nvSpPr>
        <p:spPr>
          <a:xfrm>
            <a:off x="411480" y="1536192"/>
            <a:ext cx="411480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protein is a chain of amino acids bonded together. When an amino acid is incorporated into that chain — losing a water molecule in the process — it is called a residue. The word "residue" simply means "what remains" after the bonding reaction.</a:t>
            </a:r>
            <a:endParaRPr lang="en-US" sz="1150"/>
          </a:p>
          <a:p>
            <a:pPr marL="0" indent="0">
              <a:buNone/>
            </a:pP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residue in a protein has:</a:t>
            </a: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A sequence position (residue number)</a:t>
            </a: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A 3-letter code  e.g. ARG, TYR, GLY</a:t>
            </a: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A 1-letter code  e.g. R, Y, G</a:t>
            </a: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A chemical side chain (determines all its properties)</a:t>
            </a:r>
            <a:endParaRPr lang="en-US" sz="1150"/>
          </a:p>
          <a:p>
            <a:pPr marL="0" indent="0">
              <a:buNone/>
            </a:pP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DataLens displays each residue as one or more spheres in the 3D viewer. Clicking a residue retrieves all AlphaMissense variants at that position.</a:t>
            </a:r>
            <a:endParaRPr lang="en-US" sz="1150"/>
          </a:p>
        </p:txBody>
      </p:sp>
      <p:sp>
        <p:nvSpPr>
          <p:cNvPr id="7" name="Text 5"/>
          <p:cNvSpPr/>
          <p:nvPr/>
        </p:nvSpPr>
        <p:spPr>
          <a:xfrm>
            <a:off x="4754880" y="111556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20 Standard Amino Acids</a:t>
            </a:r>
            <a:endParaRPr lang="en-US" sz="1300"/>
          </a:p>
        </p:txBody>
      </p:sp>
      <p:sp>
        <p:nvSpPr>
          <p:cNvPr id="8" name="Shape 6"/>
          <p:cNvSpPr/>
          <p:nvPr/>
        </p:nvSpPr>
        <p:spPr>
          <a:xfrm>
            <a:off x="4754880" y="1536192"/>
            <a:ext cx="1938528" cy="310896"/>
          </a:xfrm>
          <a:prstGeom prst="rect">
            <a:avLst/>
          </a:prstGeom>
          <a:solidFill>
            <a:srgbClr val="132039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09744" y="1536192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100"/>
          </a:p>
        </p:txBody>
      </p:sp>
      <p:sp>
        <p:nvSpPr>
          <p:cNvPr id="10" name="Text 8"/>
          <p:cNvSpPr/>
          <p:nvPr/>
        </p:nvSpPr>
        <p:spPr>
          <a:xfrm>
            <a:off x="5102352" y="1536192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</a:t>
            </a:r>
            <a:endParaRPr lang="en-US" sz="1000"/>
          </a:p>
        </p:txBody>
      </p:sp>
      <p:sp>
        <p:nvSpPr>
          <p:cNvPr id="11" name="Text 9"/>
          <p:cNvSpPr/>
          <p:nvPr/>
        </p:nvSpPr>
        <p:spPr>
          <a:xfrm>
            <a:off x="5577840" y="1536192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Alanine</a:t>
            </a:r>
            <a:endParaRPr lang="en-US" sz="950"/>
          </a:p>
        </p:txBody>
      </p:sp>
      <p:sp>
        <p:nvSpPr>
          <p:cNvPr id="12" name="Shape 10"/>
          <p:cNvSpPr/>
          <p:nvPr/>
        </p:nvSpPr>
        <p:spPr>
          <a:xfrm>
            <a:off x="6748272" y="1536192"/>
            <a:ext cx="1938528" cy="310896"/>
          </a:xfrm>
          <a:prstGeom prst="rect">
            <a:avLst/>
          </a:prstGeom>
          <a:solidFill>
            <a:srgbClr val="132039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03136" y="1536192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100"/>
          </a:p>
        </p:txBody>
      </p:sp>
      <p:sp>
        <p:nvSpPr>
          <p:cNvPr id="14" name="Text 12"/>
          <p:cNvSpPr/>
          <p:nvPr/>
        </p:nvSpPr>
        <p:spPr>
          <a:xfrm>
            <a:off x="7095744" y="1536192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</a:t>
            </a:r>
            <a:endParaRPr lang="en-US" sz="1000"/>
          </a:p>
        </p:txBody>
      </p:sp>
      <p:sp>
        <p:nvSpPr>
          <p:cNvPr id="15" name="Text 13"/>
          <p:cNvSpPr/>
          <p:nvPr/>
        </p:nvSpPr>
        <p:spPr>
          <a:xfrm>
            <a:off x="7571232" y="1536192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Arginine</a:t>
            </a:r>
            <a:endParaRPr lang="en-US" sz="950"/>
          </a:p>
        </p:txBody>
      </p:sp>
      <p:sp>
        <p:nvSpPr>
          <p:cNvPr id="16" name="Shape 14"/>
          <p:cNvSpPr/>
          <p:nvPr/>
        </p:nvSpPr>
        <p:spPr>
          <a:xfrm>
            <a:off x="4754880" y="1883664"/>
            <a:ext cx="1938528" cy="310896"/>
          </a:xfrm>
          <a:prstGeom prst="rect">
            <a:avLst/>
          </a:prstGeom>
          <a:solidFill>
            <a:srgbClr val="132A42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09744" y="1883664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100"/>
          </a:p>
        </p:txBody>
      </p:sp>
      <p:sp>
        <p:nvSpPr>
          <p:cNvPr id="18" name="Text 16"/>
          <p:cNvSpPr/>
          <p:nvPr/>
        </p:nvSpPr>
        <p:spPr>
          <a:xfrm>
            <a:off x="5102352" y="1883664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Asn</a:t>
            </a:r>
            <a:endParaRPr lang="en-US" sz="1000"/>
          </a:p>
        </p:txBody>
      </p:sp>
      <p:sp>
        <p:nvSpPr>
          <p:cNvPr id="19" name="Text 17"/>
          <p:cNvSpPr/>
          <p:nvPr/>
        </p:nvSpPr>
        <p:spPr>
          <a:xfrm>
            <a:off x="5577840" y="1883664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Asparagine</a:t>
            </a:r>
            <a:endParaRPr lang="en-US" sz="950"/>
          </a:p>
        </p:txBody>
      </p:sp>
      <p:sp>
        <p:nvSpPr>
          <p:cNvPr id="20" name="Shape 18"/>
          <p:cNvSpPr/>
          <p:nvPr/>
        </p:nvSpPr>
        <p:spPr>
          <a:xfrm>
            <a:off x="6748272" y="1883664"/>
            <a:ext cx="1938528" cy="310896"/>
          </a:xfrm>
          <a:prstGeom prst="rect">
            <a:avLst/>
          </a:prstGeom>
          <a:solidFill>
            <a:srgbClr val="132A42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803136" y="1883664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100"/>
          </a:p>
        </p:txBody>
      </p:sp>
      <p:sp>
        <p:nvSpPr>
          <p:cNvPr id="22" name="Text 20"/>
          <p:cNvSpPr/>
          <p:nvPr/>
        </p:nvSpPr>
        <p:spPr>
          <a:xfrm>
            <a:off x="7095744" y="1883664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</a:t>
            </a:r>
            <a:endParaRPr lang="en-US" sz="1000"/>
          </a:p>
        </p:txBody>
      </p:sp>
      <p:sp>
        <p:nvSpPr>
          <p:cNvPr id="23" name="Text 21"/>
          <p:cNvSpPr/>
          <p:nvPr/>
        </p:nvSpPr>
        <p:spPr>
          <a:xfrm>
            <a:off x="7571232" y="1883664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Aspartate</a:t>
            </a:r>
            <a:endParaRPr lang="en-US" sz="950"/>
          </a:p>
        </p:txBody>
      </p:sp>
      <p:sp>
        <p:nvSpPr>
          <p:cNvPr id="24" name="Shape 22"/>
          <p:cNvSpPr/>
          <p:nvPr/>
        </p:nvSpPr>
        <p:spPr>
          <a:xfrm>
            <a:off x="4754880" y="2231136"/>
            <a:ext cx="1938528" cy="310896"/>
          </a:xfrm>
          <a:prstGeom prst="rect">
            <a:avLst/>
          </a:prstGeom>
          <a:solidFill>
            <a:srgbClr val="132039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09744" y="2231136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100"/>
          </a:p>
        </p:txBody>
      </p:sp>
      <p:sp>
        <p:nvSpPr>
          <p:cNvPr id="26" name="Text 24"/>
          <p:cNvSpPr/>
          <p:nvPr/>
        </p:nvSpPr>
        <p:spPr>
          <a:xfrm>
            <a:off x="5102352" y="2231136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Cys</a:t>
            </a:r>
            <a:endParaRPr lang="en-US" sz="1000"/>
          </a:p>
        </p:txBody>
      </p:sp>
      <p:sp>
        <p:nvSpPr>
          <p:cNvPr id="27" name="Text 25"/>
          <p:cNvSpPr/>
          <p:nvPr/>
        </p:nvSpPr>
        <p:spPr>
          <a:xfrm>
            <a:off x="5577840" y="2231136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Cysteine</a:t>
            </a:r>
            <a:endParaRPr lang="en-US" sz="950"/>
          </a:p>
        </p:txBody>
      </p:sp>
      <p:sp>
        <p:nvSpPr>
          <p:cNvPr id="28" name="Shape 26"/>
          <p:cNvSpPr/>
          <p:nvPr/>
        </p:nvSpPr>
        <p:spPr>
          <a:xfrm>
            <a:off x="6748272" y="2231136"/>
            <a:ext cx="1938528" cy="310896"/>
          </a:xfrm>
          <a:prstGeom prst="rect">
            <a:avLst/>
          </a:prstGeom>
          <a:solidFill>
            <a:srgbClr val="132039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803136" y="2231136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</a:t>
            </a:r>
            <a:endParaRPr lang="en-US" sz="1100"/>
          </a:p>
        </p:txBody>
      </p:sp>
      <p:sp>
        <p:nvSpPr>
          <p:cNvPr id="30" name="Text 28"/>
          <p:cNvSpPr/>
          <p:nvPr/>
        </p:nvSpPr>
        <p:spPr>
          <a:xfrm>
            <a:off x="7095744" y="2231136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Gln</a:t>
            </a:r>
            <a:endParaRPr lang="en-US" sz="1000"/>
          </a:p>
        </p:txBody>
      </p:sp>
      <p:sp>
        <p:nvSpPr>
          <p:cNvPr id="31" name="Text 29"/>
          <p:cNvSpPr/>
          <p:nvPr/>
        </p:nvSpPr>
        <p:spPr>
          <a:xfrm>
            <a:off x="7571232" y="2231136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Glutamine</a:t>
            </a:r>
            <a:endParaRPr lang="en-US" sz="950"/>
          </a:p>
        </p:txBody>
      </p:sp>
      <p:sp>
        <p:nvSpPr>
          <p:cNvPr id="32" name="Shape 30"/>
          <p:cNvSpPr/>
          <p:nvPr/>
        </p:nvSpPr>
        <p:spPr>
          <a:xfrm>
            <a:off x="4754880" y="2578608"/>
            <a:ext cx="1938528" cy="310896"/>
          </a:xfrm>
          <a:prstGeom prst="rect">
            <a:avLst/>
          </a:prstGeom>
          <a:solidFill>
            <a:srgbClr val="132A42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809744" y="2578608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100"/>
          </a:p>
        </p:txBody>
      </p:sp>
      <p:sp>
        <p:nvSpPr>
          <p:cNvPr id="34" name="Text 32"/>
          <p:cNvSpPr/>
          <p:nvPr/>
        </p:nvSpPr>
        <p:spPr>
          <a:xfrm>
            <a:off x="5102352" y="2578608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</a:t>
            </a:r>
            <a:endParaRPr lang="en-US" sz="1000"/>
          </a:p>
        </p:txBody>
      </p:sp>
      <p:sp>
        <p:nvSpPr>
          <p:cNvPr id="35" name="Text 33"/>
          <p:cNvSpPr/>
          <p:nvPr/>
        </p:nvSpPr>
        <p:spPr>
          <a:xfrm>
            <a:off x="5577840" y="2578608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Glutamate</a:t>
            </a:r>
            <a:endParaRPr lang="en-US" sz="950"/>
          </a:p>
        </p:txBody>
      </p:sp>
      <p:sp>
        <p:nvSpPr>
          <p:cNvPr id="36" name="Shape 34"/>
          <p:cNvSpPr/>
          <p:nvPr/>
        </p:nvSpPr>
        <p:spPr>
          <a:xfrm>
            <a:off x="6748272" y="2578608"/>
            <a:ext cx="1938528" cy="310896"/>
          </a:xfrm>
          <a:prstGeom prst="rect">
            <a:avLst/>
          </a:prstGeom>
          <a:solidFill>
            <a:srgbClr val="132A42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803136" y="2578608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1100"/>
          </a:p>
        </p:txBody>
      </p:sp>
      <p:sp>
        <p:nvSpPr>
          <p:cNvPr id="38" name="Text 36"/>
          <p:cNvSpPr/>
          <p:nvPr/>
        </p:nvSpPr>
        <p:spPr>
          <a:xfrm>
            <a:off x="7095744" y="2578608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Gly</a:t>
            </a:r>
            <a:endParaRPr lang="en-US" sz="1000"/>
          </a:p>
        </p:txBody>
      </p:sp>
      <p:sp>
        <p:nvSpPr>
          <p:cNvPr id="39" name="Text 37"/>
          <p:cNvSpPr/>
          <p:nvPr/>
        </p:nvSpPr>
        <p:spPr>
          <a:xfrm>
            <a:off x="7571232" y="2578608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Glycine</a:t>
            </a:r>
            <a:endParaRPr lang="en-US" sz="950"/>
          </a:p>
        </p:txBody>
      </p:sp>
      <p:sp>
        <p:nvSpPr>
          <p:cNvPr id="40" name="Shape 38"/>
          <p:cNvSpPr/>
          <p:nvPr/>
        </p:nvSpPr>
        <p:spPr>
          <a:xfrm>
            <a:off x="4754880" y="2926080"/>
            <a:ext cx="1938528" cy="310896"/>
          </a:xfrm>
          <a:prstGeom prst="rect">
            <a:avLst/>
          </a:prstGeom>
          <a:solidFill>
            <a:srgbClr val="132039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809744" y="2926080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</a:t>
            </a:r>
            <a:endParaRPr lang="en-US" sz="1100"/>
          </a:p>
        </p:txBody>
      </p:sp>
      <p:sp>
        <p:nvSpPr>
          <p:cNvPr id="42" name="Text 40"/>
          <p:cNvSpPr/>
          <p:nvPr/>
        </p:nvSpPr>
        <p:spPr>
          <a:xfrm>
            <a:off x="5102352" y="2926080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</a:t>
            </a:r>
            <a:endParaRPr lang="en-US" sz="1000"/>
          </a:p>
        </p:txBody>
      </p:sp>
      <p:sp>
        <p:nvSpPr>
          <p:cNvPr id="43" name="Text 41"/>
          <p:cNvSpPr/>
          <p:nvPr/>
        </p:nvSpPr>
        <p:spPr>
          <a:xfrm>
            <a:off x="5577840" y="2926080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Histidine</a:t>
            </a:r>
            <a:endParaRPr lang="en-US" sz="950"/>
          </a:p>
        </p:txBody>
      </p:sp>
      <p:sp>
        <p:nvSpPr>
          <p:cNvPr id="44" name="Shape 42"/>
          <p:cNvSpPr/>
          <p:nvPr/>
        </p:nvSpPr>
        <p:spPr>
          <a:xfrm>
            <a:off x="6748272" y="2926080"/>
            <a:ext cx="1938528" cy="310896"/>
          </a:xfrm>
          <a:prstGeom prst="rect">
            <a:avLst/>
          </a:prstGeom>
          <a:solidFill>
            <a:srgbClr val="132039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803136" y="2926080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100"/>
          </a:p>
        </p:txBody>
      </p:sp>
      <p:sp>
        <p:nvSpPr>
          <p:cNvPr id="46" name="Text 44"/>
          <p:cNvSpPr/>
          <p:nvPr/>
        </p:nvSpPr>
        <p:spPr>
          <a:xfrm>
            <a:off x="7095744" y="2926080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Ile</a:t>
            </a:r>
            <a:endParaRPr lang="en-US" sz="1000"/>
          </a:p>
        </p:txBody>
      </p:sp>
      <p:sp>
        <p:nvSpPr>
          <p:cNvPr id="47" name="Text 45"/>
          <p:cNvSpPr/>
          <p:nvPr/>
        </p:nvSpPr>
        <p:spPr>
          <a:xfrm>
            <a:off x="7571232" y="2926080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Isoleucine</a:t>
            </a:r>
            <a:endParaRPr lang="en-US" sz="950"/>
          </a:p>
        </p:txBody>
      </p:sp>
      <p:sp>
        <p:nvSpPr>
          <p:cNvPr id="48" name="Shape 46"/>
          <p:cNvSpPr/>
          <p:nvPr/>
        </p:nvSpPr>
        <p:spPr>
          <a:xfrm>
            <a:off x="4754880" y="3273552"/>
            <a:ext cx="1938528" cy="310896"/>
          </a:xfrm>
          <a:prstGeom prst="rect">
            <a:avLst/>
          </a:prstGeom>
          <a:solidFill>
            <a:srgbClr val="132A42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809744" y="3273552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100"/>
          </a:p>
        </p:txBody>
      </p:sp>
      <p:sp>
        <p:nvSpPr>
          <p:cNvPr id="50" name="Text 48"/>
          <p:cNvSpPr/>
          <p:nvPr/>
        </p:nvSpPr>
        <p:spPr>
          <a:xfrm>
            <a:off x="5102352" y="3273552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Leu</a:t>
            </a:r>
            <a:endParaRPr lang="en-US" sz="1000"/>
          </a:p>
        </p:txBody>
      </p:sp>
      <p:sp>
        <p:nvSpPr>
          <p:cNvPr id="51" name="Text 49"/>
          <p:cNvSpPr/>
          <p:nvPr/>
        </p:nvSpPr>
        <p:spPr>
          <a:xfrm>
            <a:off x="5577840" y="3273552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Leucine</a:t>
            </a:r>
            <a:endParaRPr lang="en-US" sz="950"/>
          </a:p>
        </p:txBody>
      </p:sp>
      <p:sp>
        <p:nvSpPr>
          <p:cNvPr id="52" name="Shape 50"/>
          <p:cNvSpPr/>
          <p:nvPr/>
        </p:nvSpPr>
        <p:spPr>
          <a:xfrm>
            <a:off x="6748272" y="3273552"/>
            <a:ext cx="1938528" cy="310896"/>
          </a:xfrm>
          <a:prstGeom prst="rect">
            <a:avLst/>
          </a:prstGeom>
          <a:solidFill>
            <a:srgbClr val="132A42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6803136" y="3273552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</a:t>
            </a:r>
            <a:endParaRPr lang="en-US" sz="1100"/>
          </a:p>
        </p:txBody>
      </p:sp>
      <p:sp>
        <p:nvSpPr>
          <p:cNvPr id="54" name="Text 52"/>
          <p:cNvSpPr/>
          <p:nvPr/>
        </p:nvSpPr>
        <p:spPr>
          <a:xfrm>
            <a:off x="7095744" y="3273552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Lys</a:t>
            </a:r>
            <a:endParaRPr lang="en-US" sz="1000"/>
          </a:p>
        </p:txBody>
      </p:sp>
      <p:sp>
        <p:nvSpPr>
          <p:cNvPr id="55" name="Text 53"/>
          <p:cNvSpPr/>
          <p:nvPr/>
        </p:nvSpPr>
        <p:spPr>
          <a:xfrm>
            <a:off x="7571232" y="3273552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Lysine</a:t>
            </a:r>
            <a:endParaRPr lang="en-US" sz="950"/>
          </a:p>
        </p:txBody>
      </p:sp>
      <p:sp>
        <p:nvSpPr>
          <p:cNvPr id="56" name="Shape 54"/>
          <p:cNvSpPr/>
          <p:nvPr/>
        </p:nvSpPr>
        <p:spPr>
          <a:xfrm>
            <a:off x="4754880" y="3621024"/>
            <a:ext cx="1938528" cy="310896"/>
          </a:xfrm>
          <a:prstGeom prst="rect">
            <a:avLst/>
          </a:prstGeom>
          <a:solidFill>
            <a:srgbClr val="132039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4809744" y="3621024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1100"/>
          </a:p>
        </p:txBody>
      </p:sp>
      <p:sp>
        <p:nvSpPr>
          <p:cNvPr id="58" name="Text 56"/>
          <p:cNvSpPr/>
          <p:nvPr/>
        </p:nvSpPr>
        <p:spPr>
          <a:xfrm>
            <a:off x="5102352" y="3621024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</a:t>
            </a:r>
            <a:endParaRPr lang="en-US" sz="1000"/>
          </a:p>
        </p:txBody>
      </p:sp>
      <p:sp>
        <p:nvSpPr>
          <p:cNvPr id="59" name="Text 57"/>
          <p:cNvSpPr/>
          <p:nvPr/>
        </p:nvSpPr>
        <p:spPr>
          <a:xfrm>
            <a:off x="5577840" y="3621024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Methionine</a:t>
            </a:r>
            <a:endParaRPr lang="en-US" sz="950"/>
          </a:p>
        </p:txBody>
      </p:sp>
      <p:sp>
        <p:nvSpPr>
          <p:cNvPr id="60" name="Shape 58"/>
          <p:cNvSpPr/>
          <p:nvPr/>
        </p:nvSpPr>
        <p:spPr>
          <a:xfrm>
            <a:off x="6748272" y="3621024"/>
            <a:ext cx="1938528" cy="310896"/>
          </a:xfrm>
          <a:prstGeom prst="rect">
            <a:avLst/>
          </a:prstGeom>
          <a:solidFill>
            <a:srgbClr val="132039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6803136" y="3621024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1100"/>
          </a:p>
        </p:txBody>
      </p:sp>
      <p:sp>
        <p:nvSpPr>
          <p:cNvPr id="62" name="Text 60"/>
          <p:cNvSpPr/>
          <p:nvPr/>
        </p:nvSpPr>
        <p:spPr>
          <a:xfrm>
            <a:off x="7095744" y="3621024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Phe</a:t>
            </a:r>
            <a:endParaRPr lang="en-US" sz="1000"/>
          </a:p>
        </p:txBody>
      </p:sp>
      <p:sp>
        <p:nvSpPr>
          <p:cNvPr id="63" name="Text 61"/>
          <p:cNvSpPr/>
          <p:nvPr/>
        </p:nvSpPr>
        <p:spPr>
          <a:xfrm>
            <a:off x="7571232" y="3621024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Phenylalanine</a:t>
            </a:r>
            <a:endParaRPr lang="en-US" sz="950"/>
          </a:p>
        </p:txBody>
      </p:sp>
      <p:sp>
        <p:nvSpPr>
          <p:cNvPr id="64" name="Shape 62"/>
          <p:cNvSpPr/>
          <p:nvPr/>
        </p:nvSpPr>
        <p:spPr>
          <a:xfrm>
            <a:off x="4754880" y="3968496"/>
            <a:ext cx="1938528" cy="310896"/>
          </a:xfrm>
          <a:prstGeom prst="rect">
            <a:avLst/>
          </a:prstGeom>
          <a:solidFill>
            <a:srgbClr val="132A42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4809744" y="3968496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100"/>
          </a:p>
        </p:txBody>
      </p:sp>
      <p:sp>
        <p:nvSpPr>
          <p:cNvPr id="66" name="Text 64"/>
          <p:cNvSpPr/>
          <p:nvPr/>
        </p:nvSpPr>
        <p:spPr>
          <a:xfrm>
            <a:off x="5102352" y="3968496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000"/>
          </a:p>
        </p:txBody>
      </p:sp>
      <p:sp>
        <p:nvSpPr>
          <p:cNvPr id="67" name="Text 65"/>
          <p:cNvSpPr/>
          <p:nvPr/>
        </p:nvSpPr>
        <p:spPr>
          <a:xfrm>
            <a:off x="5577840" y="3968496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Proline</a:t>
            </a:r>
            <a:endParaRPr lang="en-US" sz="950"/>
          </a:p>
        </p:txBody>
      </p:sp>
      <p:sp>
        <p:nvSpPr>
          <p:cNvPr id="68" name="Shape 66"/>
          <p:cNvSpPr/>
          <p:nvPr/>
        </p:nvSpPr>
        <p:spPr>
          <a:xfrm>
            <a:off x="6748272" y="3968496"/>
            <a:ext cx="1938528" cy="310896"/>
          </a:xfrm>
          <a:prstGeom prst="rect">
            <a:avLst/>
          </a:prstGeom>
          <a:solidFill>
            <a:srgbClr val="132A42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6803136" y="3968496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100"/>
          </a:p>
        </p:txBody>
      </p:sp>
      <p:sp>
        <p:nvSpPr>
          <p:cNvPr id="70" name="Text 68"/>
          <p:cNvSpPr/>
          <p:nvPr/>
        </p:nvSpPr>
        <p:spPr>
          <a:xfrm>
            <a:off x="7095744" y="3968496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</a:t>
            </a:r>
            <a:endParaRPr lang="en-US" sz="1000"/>
          </a:p>
        </p:txBody>
      </p:sp>
      <p:sp>
        <p:nvSpPr>
          <p:cNvPr id="71" name="Text 69"/>
          <p:cNvSpPr/>
          <p:nvPr/>
        </p:nvSpPr>
        <p:spPr>
          <a:xfrm>
            <a:off x="7571232" y="3968496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Serine</a:t>
            </a:r>
            <a:endParaRPr lang="en-US" sz="950"/>
          </a:p>
        </p:txBody>
      </p:sp>
      <p:sp>
        <p:nvSpPr>
          <p:cNvPr id="72" name="Shape 70"/>
          <p:cNvSpPr/>
          <p:nvPr/>
        </p:nvSpPr>
        <p:spPr>
          <a:xfrm>
            <a:off x="4754880" y="4315968"/>
            <a:ext cx="1938528" cy="310896"/>
          </a:xfrm>
          <a:prstGeom prst="rect">
            <a:avLst/>
          </a:prstGeom>
          <a:solidFill>
            <a:srgbClr val="132039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4809744" y="4315968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100"/>
          </a:p>
        </p:txBody>
      </p:sp>
      <p:sp>
        <p:nvSpPr>
          <p:cNvPr id="74" name="Text 72"/>
          <p:cNvSpPr/>
          <p:nvPr/>
        </p:nvSpPr>
        <p:spPr>
          <a:xfrm>
            <a:off x="5102352" y="4315968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</a:t>
            </a:r>
            <a:endParaRPr lang="en-US" sz="1000"/>
          </a:p>
        </p:txBody>
      </p:sp>
      <p:sp>
        <p:nvSpPr>
          <p:cNvPr id="75" name="Text 73"/>
          <p:cNvSpPr/>
          <p:nvPr/>
        </p:nvSpPr>
        <p:spPr>
          <a:xfrm>
            <a:off x="5577840" y="4315968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Threonine</a:t>
            </a:r>
            <a:endParaRPr lang="en-US" sz="950"/>
          </a:p>
        </p:txBody>
      </p:sp>
      <p:sp>
        <p:nvSpPr>
          <p:cNvPr id="76" name="Shape 74"/>
          <p:cNvSpPr/>
          <p:nvPr/>
        </p:nvSpPr>
        <p:spPr>
          <a:xfrm>
            <a:off x="6748272" y="4315968"/>
            <a:ext cx="1938528" cy="310896"/>
          </a:xfrm>
          <a:prstGeom prst="rect">
            <a:avLst/>
          </a:prstGeom>
          <a:solidFill>
            <a:srgbClr val="132039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6803136" y="4315968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</a:t>
            </a:r>
            <a:endParaRPr lang="en-US" sz="1100"/>
          </a:p>
        </p:txBody>
      </p:sp>
      <p:sp>
        <p:nvSpPr>
          <p:cNvPr id="78" name="Text 76"/>
          <p:cNvSpPr/>
          <p:nvPr/>
        </p:nvSpPr>
        <p:spPr>
          <a:xfrm>
            <a:off x="7095744" y="4315968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Trp</a:t>
            </a:r>
            <a:endParaRPr lang="en-US" sz="1000"/>
          </a:p>
        </p:txBody>
      </p:sp>
      <p:sp>
        <p:nvSpPr>
          <p:cNvPr id="79" name="Text 77"/>
          <p:cNvSpPr/>
          <p:nvPr/>
        </p:nvSpPr>
        <p:spPr>
          <a:xfrm>
            <a:off x="7571232" y="4315968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Tryptophan</a:t>
            </a:r>
            <a:endParaRPr lang="en-US" sz="950"/>
          </a:p>
        </p:txBody>
      </p:sp>
      <p:sp>
        <p:nvSpPr>
          <p:cNvPr id="80" name="Shape 78"/>
          <p:cNvSpPr/>
          <p:nvPr/>
        </p:nvSpPr>
        <p:spPr>
          <a:xfrm>
            <a:off x="4754880" y="4663440"/>
            <a:ext cx="1938528" cy="310896"/>
          </a:xfrm>
          <a:prstGeom prst="rect">
            <a:avLst/>
          </a:prstGeom>
          <a:solidFill>
            <a:srgbClr val="132A42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4809744" y="4663440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100"/>
          </a:p>
        </p:txBody>
      </p:sp>
      <p:sp>
        <p:nvSpPr>
          <p:cNvPr id="82" name="Text 80"/>
          <p:cNvSpPr/>
          <p:nvPr/>
        </p:nvSpPr>
        <p:spPr>
          <a:xfrm>
            <a:off x="5102352" y="4663440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Tyr</a:t>
            </a:r>
            <a:endParaRPr lang="en-US" sz="1000"/>
          </a:p>
        </p:txBody>
      </p:sp>
      <p:sp>
        <p:nvSpPr>
          <p:cNvPr id="83" name="Text 81"/>
          <p:cNvSpPr/>
          <p:nvPr/>
        </p:nvSpPr>
        <p:spPr>
          <a:xfrm>
            <a:off x="5577840" y="4663440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Tyrosine</a:t>
            </a:r>
            <a:endParaRPr lang="en-US" sz="950"/>
          </a:p>
        </p:txBody>
      </p:sp>
      <p:sp>
        <p:nvSpPr>
          <p:cNvPr id="84" name="Shape 82"/>
          <p:cNvSpPr/>
          <p:nvPr/>
        </p:nvSpPr>
        <p:spPr>
          <a:xfrm>
            <a:off x="6748272" y="4663440"/>
            <a:ext cx="1938528" cy="310896"/>
          </a:xfrm>
          <a:prstGeom prst="rect">
            <a:avLst/>
          </a:prstGeom>
          <a:solidFill>
            <a:srgbClr val="132A42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6803136" y="4663440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1100"/>
          </a:p>
        </p:txBody>
      </p:sp>
      <p:sp>
        <p:nvSpPr>
          <p:cNvPr id="86" name="Text 84"/>
          <p:cNvSpPr/>
          <p:nvPr/>
        </p:nvSpPr>
        <p:spPr>
          <a:xfrm>
            <a:off x="7095744" y="4663440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</a:t>
            </a:r>
            <a:endParaRPr lang="en-US" sz="1000"/>
          </a:p>
        </p:txBody>
      </p:sp>
      <p:sp>
        <p:nvSpPr>
          <p:cNvPr id="87" name="Text 85"/>
          <p:cNvSpPr/>
          <p:nvPr/>
        </p:nvSpPr>
        <p:spPr>
          <a:xfrm>
            <a:off x="7571232" y="4663440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Valine</a:t>
            </a:r>
            <a:endParaRPr lang="en-US" sz="95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19" y="201168"/>
            <a:ext cx="818864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Q: What is a Variant? Is it the Same as a Mutation?</a:t>
            </a:r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502920" y="85039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but distinct — bioinformatics uses both terms with specific meaning</a:t>
            </a:r>
            <a:endParaRPr lang="en-US" sz="1300"/>
          </a:p>
        </p:txBody>
      </p:sp>
      <p:sp>
        <p:nvSpPr>
          <p:cNvPr id="4" name="Shape 2"/>
          <p:cNvSpPr/>
          <p:nvPr/>
        </p:nvSpPr>
        <p:spPr>
          <a:xfrm>
            <a:off x="502920" y="804672"/>
            <a:ext cx="100584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115568"/>
            <a:ext cx="40690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115568"/>
            <a:ext cx="406908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115568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Mutation  (molecular event)</a:t>
            </a:r>
            <a:endParaRPr lang="en-US" sz="1300"/>
          </a:p>
        </p:txBody>
      </p:sp>
      <p:sp>
        <p:nvSpPr>
          <p:cNvPr id="8" name="Text 6"/>
          <p:cNvSpPr/>
          <p:nvPr/>
        </p:nvSpPr>
        <p:spPr>
          <a:xfrm>
            <a:off x="502920" y="155448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change in the DNA sequence. Caused by replication errors, mutagens (UV, chemicals), or inherited changes. The word implies the process that produced the change.</a:t>
            </a:r>
            <a:endParaRPr lang="en-US" sz="1150"/>
          </a:p>
        </p:txBody>
      </p:sp>
      <p:sp>
        <p:nvSpPr>
          <p:cNvPr id="9" name="Shape 7"/>
          <p:cNvSpPr/>
          <p:nvPr/>
        </p:nvSpPr>
        <p:spPr>
          <a:xfrm>
            <a:off x="4663440" y="1115568"/>
            <a:ext cx="40690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663440" y="1115568"/>
            <a:ext cx="406908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54880" y="1115568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Variant  (observed difference)</a:t>
            </a:r>
            <a:endParaRPr lang="en-US" sz="1300"/>
          </a:p>
        </p:txBody>
      </p:sp>
      <p:sp>
        <p:nvSpPr>
          <p:cNvPr id="12" name="Text 10"/>
          <p:cNvSpPr/>
          <p:nvPr/>
        </p:nvSpPr>
        <p:spPr>
          <a:xfrm>
            <a:off x="4754880" y="155448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protein-level difference from a reference sequence: position X carries amino acid B instead of A. Preferred in bioinformatics — descriptive, with no implied pathogenicity.</a:t>
            </a:r>
            <a:endParaRPr lang="en-US" sz="1150"/>
          </a:p>
        </p:txBody>
      </p:sp>
      <p:sp>
        <p:nvSpPr>
          <p:cNvPr id="13" name="Shape 11"/>
          <p:cNvSpPr/>
          <p:nvPr/>
        </p:nvSpPr>
        <p:spPr>
          <a:xfrm>
            <a:off x="411480" y="2697480"/>
            <a:ext cx="8321040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272491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Standard Notation: </a:t>
            </a:r>
            <a:endParaRPr lang="en-US" sz="1250"/>
          </a:p>
        </p:txBody>
      </p:sp>
      <p:sp>
        <p:nvSpPr>
          <p:cNvPr id="15" name="Text 13"/>
          <p:cNvSpPr/>
          <p:nvPr/>
        </p:nvSpPr>
        <p:spPr>
          <a:xfrm>
            <a:off x="2423160" y="2724912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R175H  =  Arginine (R) at position 175 changed to Histidine (H)  ·  also written p.Arg175His in HGVS notation</a:t>
            </a:r>
            <a:endParaRPr lang="en-US" sz="1200"/>
          </a:p>
        </p:txBody>
      </p:sp>
      <p:sp>
        <p:nvSpPr>
          <p:cNvPr id="16" name="Shape 14"/>
          <p:cNvSpPr/>
          <p:nvPr/>
        </p:nvSpPr>
        <p:spPr>
          <a:xfrm>
            <a:off x="411480" y="3429000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11480" y="3429000"/>
            <a:ext cx="54864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39496" y="348386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Missense</a:t>
            </a:r>
            <a:endParaRPr lang="en-US" sz="1200"/>
          </a:p>
        </p:txBody>
      </p:sp>
      <p:sp>
        <p:nvSpPr>
          <p:cNvPr id="19" name="Text 17"/>
          <p:cNvSpPr/>
          <p:nvPr/>
        </p:nvSpPr>
        <p:spPr>
          <a:xfrm>
            <a:off x="539496" y="3758184"/>
            <a:ext cx="3913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amino acid → a different amino acid. R248W, R175H. AlphaMissense and DataLens focus here — 216M missense variants indexed.</a:t>
            </a:r>
            <a:endParaRPr lang="en-US" sz="1000"/>
          </a:p>
        </p:txBody>
      </p:sp>
      <p:sp>
        <p:nvSpPr>
          <p:cNvPr id="20" name="Shape 18"/>
          <p:cNvSpPr/>
          <p:nvPr/>
        </p:nvSpPr>
        <p:spPr>
          <a:xfrm>
            <a:off x="4709160" y="3429000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09160" y="3429000"/>
            <a:ext cx="54864" cy="7132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37176" y="348386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Nonsense</a:t>
            </a:r>
            <a:endParaRPr lang="en-US" sz="1200"/>
          </a:p>
        </p:txBody>
      </p:sp>
      <p:sp>
        <p:nvSpPr>
          <p:cNvPr id="23" name="Text 21"/>
          <p:cNvSpPr/>
          <p:nvPr/>
        </p:nvSpPr>
        <p:spPr>
          <a:xfrm>
            <a:off x="4837176" y="3758184"/>
            <a:ext cx="3913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amino acid codon → a stop codon. Protein is truncated. Often severely disruptive (e.g., BRCA1 stop variants).</a:t>
            </a:r>
            <a:endParaRPr lang="en-US" sz="1000"/>
          </a:p>
        </p:txBody>
      </p:sp>
      <p:sp>
        <p:nvSpPr>
          <p:cNvPr id="24" name="Shape 22"/>
          <p:cNvSpPr/>
          <p:nvPr/>
        </p:nvSpPr>
        <p:spPr>
          <a:xfrm>
            <a:off x="411480" y="4233672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11480" y="4233672"/>
            <a:ext cx="54864" cy="71323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39496" y="428853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Silent</a:t>
            </a:r>
            <a:endParaRPr lang="en-US" sz="1200"/>
          </a:p>
          <a:p>
            <a:pPr marL="0" indent="0">
              <a:buNone/>
            </a:pPr>
            <a:r>
              <a:rPr lang="en-US" sz="120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(Synonymous)</a:t>
            </a:r>
            <a:endParaRPr lang="en-US" sz="1200"/>
          </a:p>
        </p:txBody>
      </p:sp>
      <p:sp>
        <p:nvSpPr>
          <p:cNvPr id="27" name="Text 25"/>
          <p:cNvSpPr/>
          <p:nvPr/>
        </p:nvSpPr>
        <p:spPr>
          <a:xfrm>
            <a:off x="539496" y="4562856"/>
            <a:ext cx="3913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 changes but the amino acid stays the same (genetic code degeneracy). No protein effect — not analysed by DataLens.</a:t>
            </a:r>
            <a:endParaRPr lang="en-US" sz="1000"/>
          </a:p>
        </p:txBody>
      </p:sp>
      <p:sp>
        <p:nvSpPr>
          <p:cNvPr id="28" name="Shape 26"/>
          <p:cNvSpPr/>
          <p:nvPr/>
        </p:nvSpPr>
        <p:spPr>
          <a:xfrm>
            <a:off x="4709160" y="4233672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709160" y="4233672"/>
            <a:ext cx="54864" cy="7132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37176" y="428853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Frameshift</a:t>
            </a:r>
            <a:endParaRPr lang="en-US" sz="1200"/>
          </a:p>
        </p:txBody>
      </p:sp>
      <p:sp>
        <p:nvSpPr>
          <p:cNvPr id="31" name="Text 29"/>
          <p:cNvSpPr/>
          <p:nvPr/>
        </p:nvSpPr>
        <p:spPr>
          <a:xfrm>
            <a:off x="4837176" y="4562856"/>
            <a:ext cx="3913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Insertion or deletion that shifts the reading frame. Typically catastrophic — all downstream residues change.</a:t>
            </a:r>
            <a:endParaRPr lang="en-US" sz="10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16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Q: What are Typical Protein Sizes?</a:t>
            </a:r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502920" y="85039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50 residues to 35,000 residues — DataLens targets the most clinically relevant range</a:t>
            </a:r>
            <a:endParaRPr lang="en-US" sz="1300"/>
          </a:p>
        </p:txBody>
      </p:sp>
      <p:sp>
        <p:nvSpPr>
          <p:cNvPr id="4" name="Shape 2"/>
          <p:cNvSpPr/>
          <p:nvPr/>
        </p:nvSpPr>
        <p:spPr>
          <a:xfrm>
            <a:off x="502920" y="804672"/>
            <a:ext cx="100584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780794"/>
            <a:ext cx="832104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671066"/>
            <a:ext cx="914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-182880" y="1338453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Insulin</a:t>
            </a:r>
            <a:endParaRPr lang="en-US" sz="950"/>
          </a:p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(51 aa)</a:t>
            </a:r>
            <a:endParaRPr lang="en-US" sz="950"/>
          </a:p>
        </p:txBody>
      </p:sp>
      <p:sp>
        <p:nvSpPr>
          <p:cNvPr id="8" name="Text 6"/>
          <p:cNvSpPr/>
          <p:nvPr/>
        </p:nvSpPr>
        <p:spPr>
          <a:xfrm>
            <a:off x="-182880" y="2329434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residues</a:t>
            </a:r>
            <a:endParaRPr lang="en-US" sz="900"/>
          </a:p>
          <a:p>
            <a:pPr marL="0" indent="0" algn="ctr">
              <a:buNone/>
            </a:pPr>
            <a:r>
              <a:rPr lang="en-US" sz="9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~800 atoms</a:t>
            </a:r>
            <a:endParaRPr lang="en-US" sz="900"/>
          </a:p>
        </p:txBody>
      </p:sp>
      <p:sp>
        <p:nvSpPr>
          <p:cNvPr id="9" name="Shape 7"/>
          <p:cNvSpPr/>
          <p:nvPr/>
        </p:nvSpPr>
        <p:spPr>
          <a:xfrm>
            <a:off x="865022" y="1671066"/>
            <a:ext cx="914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16382" y="135102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Ubiquitin</a:t>
            </a:r>
            <a:endParaRPr lang="en-US" sz="950"/>
          </a:p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(76 aa)</a:t>
            </a:r>
            <a:endParaRPr lang="en-US" sz="950"/>
          </a:p>
        </p:txBody>
      </p:sp>
      <p:sp>
        <p:nvSpPr>
          <p:cNvPr id="11" name="Text 9"/>
          <p:cNvSpPr/>
          <p:nvPr/>
        </p:nvSpPr>
        <p:spPr>
          <a:xfrm>
            <a:off x="316382" y="2329434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 residues</a:t>
            </a:r>
            <a:endParaRPr lang="en-US" sz="900"/>
          </a:p>
          <a:p>
            <a:pPr marL="0" indent="0" algn="ctr">
              <a:buNone/>
            </a:pPr>
            <a:r>
              <a:rPr lang="en-US" sz="9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~600 atoms</a:t>
            </a:r>
            <a:endParaRPr lang="en-US" sz="900"/>
          </a:p>
        </p:txBody>
      </p:sp>
      <p:sp>
        <p:nvSpPr>
          <p:cNvPr id="12" name="Shape 10"/>
          <p:cNvSpPr/>
          <p:nvPr/>
        </p:nvSpPr>
        <p:spPr>
          <a:xfrm>
            <a:off x="3255835" y="1671066"/>
            <a:ext cx="914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29484" y="135102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TP53 DBD</a:t>
            </a:r>
            <a:endParaRPr lang="en-US" sz="950"/>
          </a:p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(393 aa)</a:t>
            </a:r>
            <a:endParaRPr lang="en-US" sz="950"/>
          </a:p>
        </p:txBody>
      </p:sp>
      <p:sp>
        <p:nvSpPr>
          <p:cNvPr id="14" name="Text 12"/>
          <p:cNvSpPr/>
          <p:nvPr/>
        </p:nvSpPr>
        <p:spPr>
          <a:xfrm>
            <a:off x="2729484" y="2329434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393 residues</a:t>
            </a:r>
            <a:endParaRPr lang="en-US" sz="900"/>
          </a:p>
          <a:p>
            <a:pPr marL="0" indent="0" algn="ctr">
              <a:buNone/>
            </a:pPr>
            <a:r>
              <a:rPr lang="en-US" sz="9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~3,000 atoms</a:t>
            </a:r>
            <a:endParaRPr lang="en-US" sz="900"/>
          </a:p>
        </p:txBody>
      </p:sp>
      <p:sp>
        <p:nvSpPr>
          <p:cNvPr id="15" name="Shape 13"/>
          <p:cNvSpPr/>
          <p:nvPr/>
        </p:nvSpPr>
        <p:spPr>
          <a:xfrm>
            <a:off x="5774436" y="1671066"/>
            <a:ext cx="914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225796" y="135102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BRCA1</a:t>
            </a:r>
            <a:endParaRPr lang="en-US" sz="950"/>
          </a:p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(1,863 aa)</a:t>
            </a:r>
            <a:endParaRPr lang="en-US" sz="950"/>
          </a:p>
        </p:txBody>
      </p:sp>
      <p:sp>
        <p:nvSpPr>
          <p:cNvPr id="17" name="Text 15"/>
          <p:cNvSpPr/>
          <p:nvPr/>
        </p:nvSpPr>
        <p:spPr>
          <a:xfrm>
            <a:off x="5225796" y="2329434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1,863 residues</a:t>
            </a:r>
            <a:endParaRPr lang="en-US" sz="900"/>
          </a:p>
          <a:p>
            <a:pPr marL="0" indent="0" algn="ctr">
              <a:buNone/>
            </a:pPr>
            <a:r>
              <a:rPr lang="en-US" sz="9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~15,000 atoms</a:t>
            </a:r>
            <a:endParaRPr lang="en-US" sz="900"/>
          </a:p>
        </p:txBody>
      </p:sp>
      <p:sp>
        <p:nvSpPr>
          <p:cNvPr id="18" name="Shape 16"/>
          <p:cNvSpPr/>
          <p:nvPr/>
        </p:nvSpPr>
        <p:spPr>
          <a:xfrm>
            <a:off x="8686800" y="1671066"/>
            <a:ext cx="914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138160" y="135102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Titin</a:t>
            </a:r>
            <a:endParaRPr lang="en-US" sz="950"/>
          </a:p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(~34,000 aa)</a:t>
            </a:r>
            <a:endParaRPr lang="en-US" sz="950"/>
          </a:p>
        </p:txBody>
      </p:sp>
      <p:sp>
        <p:nvSpPr>
          <p:cNvPr id="20" name="Text 18"/>
          <p:cNvSpPr/>
          <p:nvPr/>
        </p:nvSpPr>
        <p:spPr>
          <a:xfrm>
            <a:off x="8138160" y="2329434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known</a:t>
            </a:r>
            <a:endParaRPr lang="en-US" sz="900"/>
          </a:p>
          <a:p>
            <a:pPr marL="0" indent="0" algn="ctr">
              <a:buNone/>
            </a:pPr>
            <a:r>
              <a:rPr lang="en-US" sz="9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protein</a:t>
            </a:r>
            <a:endParaRPr lang="en-US" sz="900"/>
          </a:p>
        </p:txBody>
      </p:sp>
      <p:sp>
        <p:nvSpPr>
          <p:cNvPr id="21" name="Shape 19"/>
          <p:cNvSpPr/>
          <p:nvPr/>
        </p:nvSpPr>
        <p:spPr>
          <a:xfrm>
            <a:off x="411480" y="2137410"/>
            <a:ext cx="5486400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11480" y="2192274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DataLens optimal range (up to ~15,000 atoms)</a:t>
            </a:r>
            <a:endParaRPr lang="en-US" sz="1000"/>
          </a:p>
        </p:txBody>
      </p:sp>
      <p:sp>
        <p:nvSpPr>
          <p:cNvPr id="23" name="Shape 21"/>
          <p:cNvSpPr/>
          <p:nvPr/>
        </p:nvSpPr>
        <p:spPr>
          <a:xfrm>
            <a:off x="411480" y="2930653"/>
            <a:ext cx="4114800" cy="566928"/>
          </a:xfrm>
          <a:prstGeom prst="rect">
            <a:avLst/>
          </a:prstGeom>
          <a:solidFill>
            <a:srgbClr val="132039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02920" y="2930653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~8–10</a:t>
            </a:r>
            <a:endParaRPr lang="en-US" sz="1800"/>
          </a:p>
        </p:txBody>
      </p:sp>
      <p:sp>
        <p:nvSpPr>
          <p:cNvPr id="25" name="Text 23"/>
          <p:cNvSpPr/>
          <p:nvPr/>
        </p:nvSpPr>
        <p:spPr>
          <a:xfrm>
            <a:off x="1783080" y="2930653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atoms per residue (average side chain)</a:t>
            </a:r>
            <a:endParaRPr lang="en-US" sz="1100"/>
          </a:p>
        </p:txBody>
      </p:sp>
      <p:sp>
        <p:nvSpPr>
          <p:cNvPr id="26" name="Shape 24"/>
          <p:cNvSpPr/>
          <p:nvPr/>
        </p:nvSpPr>
        <p:spPr>
          <a:xfrm>
            <a:off x="4709160" y="2930653"/>
            <a:ext cx="4114800" cy="566928"/>
          </a:xfrm>
          <a:prstGeom prst="rect">
            <a:avLst/>
          </a:prstGeom>
          <a:solidFill>
            <a:srgbClr val="132039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00600" y="2930653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3,650</a:t>
            </a:r>
            <a:endParaRPr lang="en-US" sz="1800"/>
          </a:p>
        </p:txBody>
      </p:sp>
      <p:sp>
        <p:nvSpPr>
          <p:cNvPr id="28" name="Text 26"/>
          <p:cNvSpPr/>
          <p:nvPr/>
        </p:nvSpPr>
        <p:spPr>
          <a:xfrm>
            <a:off x="6080760" y="2930653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atoms — GFP 1GFL, 279 FPS in DataLens</a:t>
            </a:r>
            <a:endParaRPr lang="en-US" sz="1100"/>
          </a:p>
        </p:txBody>
      </p:sp>
      <p:sp>
        <p:nvSpPr>
          <p:cNvPr id="29" name="Shape 27"/>
          <p:cNvSpPr/>
          <p:nvPr/>
        </p:nvSpPr>
        <p:spPr>
          <a:xfrm>
            <a:off x="411480" y="3589021"/>
            <a:ext cx="4114800" cy="566928"/>
          </a:xfrm>
          <a:prstGeom prst="rect">
            <a:avLst/>
          </a:prstGeom>
          <a:solidFill>
            <a:srgbClr val="132039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02920" y="3589021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6,092</a:t>
            </a:r>
            <a:endParaRPr lang="en-US" sz="1800"/>
          </a:p>
        </p:txBody>
      </p:sp>
      <p:sp>
        <p:nvSpPr>
          <p:cNvPr id="31" name="Text 29"/>
          <p:cNvSpPr/>
          <p:nvPr/>
        </p:nvSpPr>
        <p:spPr>
          <a:xfrm>
            <a:off x="1783080" y="3589021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atoms — TP53 dimer 2OCJ, 141 FPS</a:t>
            </a:r>
            <a:endParaRPr lang="en-US" sz="1100"/>
          </a:p>
        </p:txBody>
      </p:sp>
      <p:sp>
        <p:nvSpPr>
          <p:cNvPr id="32" name="Shape 30"/>
          <p:cNvSpPr/>
          <p:nvPr/>
        </p:nvSpPr>
        <p:spPr>
          <a:xfrm>
            <a:off x="4709160" y="3589021"/>
            <a:ext cx="4114800" cy="566928"/>
          </a:xfrm>
          <a:prstGeom prst="rect">
            <a:avLst/>
          </a:prstGeom>
          <a:solidFill>
            <a:srgbClr val="132039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800600" y="3589021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~15,000</a:t>
            </a:r>
            <a:endParaRPr lang="en-US" sz="1800"/>
          </a:p>
        </p:txBody>
      </p:sp>
      <p:sp>
        <p:nvSpPr>
          <p:cNvPr id="34" name="Text 32"/>
          <p:cNvSpPr/>
          <p:nvPr/>
        </p:nvSpPr>
        <p:spPr>
          <a:xfrm>
            <a:off x="6080760" y="3589021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atoms — DataLens upper target (O(N) ray cast &lt; 1 ms)</a:t>
            </a:r>
            <a:endParaRPr lang="en-US" sz="1100"/>
          </a:p>
        </p:txBody>
      </p:sp>
      <p:sp>
        <p:nvSpPr>
          <p:cNvPr id="35" name="Shape 33"/>
          <p:cNvSpPr/>
          <p:nvPr/>
        </p:nvSpPr>
        <p:spPr>
          <a:xfrm>
            <a:off x="411480" y="4247389"/>
            <a:ext cx="4114800" cy="566928"/>
          </a:xfrm>
          <a:prstGeom prst="rect">
            <a:avLst/>
          </a:prstGeom>
          <a:solidFill>
            <a:srgbClr val="132039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02920" y="4247389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5–50 nm</a:t>
            </a:r>
            <a:endParaRPr lang="en-US" sz="1800"/>
          </a:p>
        </p:txBody>
      </p:sp>
      <p:sp>
        <p:nvSpPr>
          <p:cNvPr id="37" name="Text 35"/>
          <p:cNvSpPr/>
          <p:nvPr/>
        </p:nvSpPr>
        <p:spPr>
          <a:xfrm>
            <a:off x="1783080" y="4247389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protein diameter (below optical microscope resolution)</a:t>
            </a:r>
            <a:endParaRPr lang="en-US" sz="1100"/>
          </a:p>
        </p:txBody>
      </p:sp>
      <p:sp>
        <p:nvSpPr>
          <p:cNvPr id="38" name="Shape 36"/>
          <p:cNvSpPr/>
          <p:nvPr/>
        </p:nvSpPr>
        <p:spPr>
          <a:xfrm>
            <a:off x="4709160" y="4247389"/>
            <a:ext cx="4114800" cy="566928"/>
          </a:xfrm>
          <a:prstGeom prst="rect">
            <a:avLst/>
          </a:prstGeom>
          <a:solidFill>
            <a:srgbClr val="132039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800600" y="4247389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1–3 Å</a:t>
            </a:r>
            <a:endParaRPr lang="en-US" sz="1800"/>
          </a:p>
        </p:txBody>
      </p:sp>
      <p:sp>
        <p:nvSpPr>
          <p:cNvPr id="40" name="Text 38"/>
          <p:cNvSpPr/>
          <p:nvPr/>
        </p:nvSpPr>
        <p:spPr>
          <a:xfrm>
            <a:off x="6080760" y="4247389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resolution in PDB crystal structures</a:t>
            </a:r>
            <a:endParaRPr lang="en-US" sz="11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Q: What Causes Mutations? Why Must We Evaluate Them?</a:t>
            </a:r>
            <a:endParaRPr lang="en-US" sz="2000"/>
          </a:p>
        </p:txBody>
      </p:sp>
      <p:sp>
        <p:nvSpPr>
          <p:cNvPr id="3" name="Text 1"/>
          <p:cNvSpPr/>
          <p:nvPr/>
        </p:nvSpPr>
        <p:spPr>
          <a:xfrm>
            <a:off x="502920" y="85039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Mutations arise from multiple sources and have consequences spanning disease to biotechnology</a:t>
            </a:r>
            <a:endParaRPr lang="en-US" sz="1300"/>
          </a:p>
        </p:txBody>
      </p:sp>
      <p:sp>
        <p:nvSpPr>
          <p:cNvPr id="4" name="Shape 2"/>
          <p:cNvSpPr/>
          <p:nvPr/>
        </p:nvSpPr>
        <p:spPr>
          <a:xfrm>
            <a:off x="502920" y="804672"/>
            <a:ext cx="100584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111556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Mutations Arise</a:t>
            </a:r>
            <a:endParaRPr lang="en-US" sz="1300"/>
          </a:p>
        </p:txBody>
      </p:sp>
      <p:sp>
        <p:nvSpPr>
          <p:cNvPr id="6" name="Shape 4"/>
          <p:cNvSpPr/>
          <p:nvPr/>
        </p:nvSpPr>
        <p:spPr>
          <a:xfrm>
            <a:off x="411480" y="1508760"/>
            <a:ext cx="4114800" cy="8046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508760"/>
            <a:ext cx="54864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39496" y="159105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DNA Replication</a:t>
            </a:r>
            <a:endParaRPr lang="en-US" sz="1300"/>
          </a:p>
          <a:p>
            <a:pPr marL="0" indent="0">
              <a:buNone/>
            </a:pPr>
            <a:r>
              <a:rPr lang="en-US" sz="130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Errors</a:t>
            </a:r>
            <a:endParaRPr lang="en-US" sz="1300"/>
          </a:p>
        </p:txBody>
      </p:sp>
      <p:sp>
        <p:nvSpPr>
          <p:cNvPr id="9" name="Text 7"/>
          <p:cNvSpPr/>
          <p:nvPr/>
        </p:nvSpPr>
        <p:spPr>
          <a:xfrm>
            <a:off x="539496" y="185623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Polymerase occasionally incorporates the wrong nucleotide. Normally corrected by proofreading — ~1 error per 10⁹ base pairs.</a:t>
            </a:r>
            <a:endParaRPr lang="en-US" sz="1100"/>
          </a:p>
        </p:txBody>
      </p:sp>
      <p:sp>
        <p:nvSpPr>
          <p:cNvPr id="10" name="Shape 8"/>
          <p:cNvSpPr/>
          <p:nvPr/>
        </p:nvSpPr>
        <p:spPr>
          <a:xfrm>
            <a:off x="411480" y="2404872"/>
            <a:ext cx="4114800" cy="8046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11480" y="2404872"/>
            <a:ext cx="54864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39496" y="24871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Environmental</a:t>
            </a:r>
            <a:endParaRPr lang="en-US" sz="1300"/>
          </a:p>
          <a:p>
            <a:pPr marL="0" indent="0">
              <a:buNone/>
            </a:pPr>
            <a:r>
              <a:rPr lang="en-US" sz="130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Mutagens</a:t>
            </a:r>
            <a:endParaRPr lang="en-US" sz="1300"/>
          </a:p>
        </p:txBody>
      </p:sp>
      <p:sp>
        <p:nvSpPr>
          <p:cNvPr id="13" name="Text 11"/>
          <p:cNvSpPr/>
          <p:nvPr/>
        </p:nvSpPr>
        <p:spPr>
          <a:xfrm>
            <a:off x="539496" y="275234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 radiation (C→T transitions), chemical mutagens, ionising radiation, reactive oxygen species damage DNA bases.</a:t>
            </a:r>
            <a:endParaRPr lang="en-US" sz="1100"/>
          </a:p>
        </p:txBody>
      </p:sp>
      <p:sp>
        <p:nvSpPr>
          <p:cNvPr id="14" name="Shape 12"/>
          <p:cNvSpPr/>
          <p:nvPr/>
        </p:nvSpPr>
        <p:spPr>
          <a:xfrm>
            <a:off x="411480" y="3300984"/>
            <a:ext cx="4114800" cy="8046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11480" y="3300984"/>
            <a:ext cx="54864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39496" y="33832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Inherited</a:t>
            </a:r>
            <a:endParaRPr lang="en-US" sz="1300"/>
          </a:p>
          <a:p>
            <a:pPr marL="0" indent="0">
              <a:buNone/>
            </a:pPr>
            <a:r>
              <a:rPr lang="en-US" sz="130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(Germline)</a:t>
            </a:r>
            <a:endParaRPr lang="en-US" sz="1300"/>
          </a:p>
        </p:txBody>
      </p:sp>
      <p:sp>
        <p:nvSpPr>
          <p:cNvPr id="17" name="Text 15"/>
          <p:cNvSpPr/>
          <p:nvPr/>
        </p:nvSpPr>
        <p:spPr>
          <a:xfrm>
            <a:off x="539496" y="364845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Variants present in every cell from birth, inherited from one or both parents. BRCA1 and TP53 variants can be germline.</a:t>
            </a:r>
            <a:endParaRPr lang="en-US" sz="1100"/>
          </a:p>
        </p:txBody>
      </p:sp>
      <p:sp>
        <p:nvSpPr>
          <p:cNvPr id="18" name="Shape 16"/>
          <p:cNvSpPr/>
          <p:nvPr/>
        </p:nvSpPr>
        <p:spPr>
          <a:xfrm>
            <a:off x="411480" y="4197096"/>
            <a:ext cx="4114800" cy="8046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11480" y="4197096"/>
            <a:ext cx="54864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39496" y="427939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Somatic</a:t>
            </a:r>
            <a:endParaRPr lang="en-US" sz="1300"/>
          </a:p>
          <a:p>
            <a:pPr marL="0" indent="0">
              <a:buNone/>
            </a:pPr>
            <a:r>
              <a:rPr lang="en-US" sz="130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(Acquired)</a:t>
            </a:r>
            <a:endParaRPr lang="en-US" sz="1300"/>
          </a:p>
        </p:txBody>
      </p:sp>
      <p:sp>
        <p:nvSpPr>
          <p:cNvPr id="21" name="Text 19"/>
          <p:cNvSpPr/>
          <p:nvPr/>
        </p:nvSpPr>
        <p:spPr>
          <a:xfrm>
            <a:off x="539496" y="45445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Mutations that accumulate in individual cells during a person's lifetime — the primary driver of most cancers.</a:t>
            </a:r>
            <a:endParaRPr lang="en-US" sz="1100"/>
          </a:p>
        </p:txBody>
      </p:sp>
      <p:sp>
        <p:nvSpPr>
          <p:cNvPr id="22" name="Text 20"/>
          <p:cNvSpPr/>
          <p:nvPr/>
        </p:nvSpPr>
        <p:spPr>
          <a:xfrm>
            <a:off x="4663440" y="1115568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Evaluate Mutations</a:t>
            </a:r>
            <a:endParaRPr lang="en-US" sz="1300"/>
          </a:p>
        </p:txBody>
      </p:sp>
      <p:sp>
        <p:nvSpPr>
          <p:cNvPr id="23" name="Shape 21"/>
          <p:cNvSpPr/>
          <p:nvPr/>
        </p:nvSpPr>
        <p:spPr>
          <a:xfrm>
            <a:off x="4663440" y="1508760"/>
            <a:ext cx="40690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663440" y="1508760"/>
            <a:ext cx="54864" cy="6217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773168" y="1554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Cancer Biology</a:t>
            </a:r>
            <a:endParaRPr lang="en-US" sz="1150"/>
          </a:p>
        </p:txBody>
      </p:sp>
      <p:sp>
        <p:nvSpPr>
          <p:cNvPr id="26" name="Text 24"/>
          <p:cNvSpPr/>
          <p:nvPr/>
        </p:nvSpPr>
        <p:spPr>
          <a:xfrm>
            <a:off x="4773168" y="182880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Somatic mutations in TP53, BRCA1, KRAS, EGFR drive tumour growth. Identifying them guides therapy selection.</a:t>
            </a:r>
            <a:endParaRPr lang="en-US" sz="1000"/>
          </a:p>
        </p:txBody>
      </p:sp>
      <p:sp>
        <p:nvSpPr>
          <p:cNvPr id="27" name="Shape 25"/>
          <p:cNvSpPr/>
          <p:nvPr/>
        </p:nvSpPr>
        <p:spPr>
          <a:xfrm>
            <a:off x="4663440" y="2221992"/>
            <a:ext cx="40690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663440" y="2221992"/>
            <a:ext cx="54864" cy="6217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73168" y="22677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Inherited Disease</a:t>
            </a:r>
            <a:endParaRPr lang="en-US" sz="1150"/>
          </a:p>
        </p:txBody>
      </p:sp>
      <p:sp>
        <p:nvSpPr>
          <p:cNvPr id="30" name="Text 28"/>
          <p:cNvSpPr/>
          <p:nvPr/>
        </p:nvSpPr>
        <p:spPr>
          <a:xfrm>
            <a:off x="4773168" y="254203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Germline variants in BRCA1/2, CFTR, HBB cause inherited conditions. Clinical classification determines screening recommendations.</a:t>
            </a:r>
            <a:endParaRPr lang="en-US" sz="1000"/>
          </a:p>
        </p:txBody>
      </p:sp>
      <p:sp>
        <p:nvSpPr>
          <p:cNvPr id="31" name="Shape 29"/>
          <p:cNvSpPr/>
          <p:nvPr/>
        </p:nvSpPr>
        <p:spPr>
          <a:xfrm>
            <a:off x="4663440" y="2935224"/>
            <a:ext cx="40690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663440" y="2935224"/>
            <a:ext cx="54864" cy="6217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773168" y="298094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Drug Resistance</a:t>
            </a:r>
            <a:endParaRPr lang="en-US" sz="1150"/>
          </a:p>
        </p:txBody>
      </p:sp>
      <p:sp>
        <p:nvSpPr>
          <p:cNvPr id="34" name="Text 32"/>
          <p:cNvSpPr/>
          <p:nvPr/>
        </p:nvSpPr>
        <p:spPr>
          <a:xfrm>
            <a:off x="4773168" y="325526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mutations can abolish drug binding (e.g., BCR-ABL T315I in CML conferring imatinib resistance). Must be anticipated.</a:t>
            </a:r>
            <a:endParaRPr lang="en-US" sz="1000"/>
          </a:p>
        </p:txBody>
      </p:sp>
      <p:sp>
        <p:nvSpPr>
          <p:cNvPr id="35" name="Shape 33"/>
          <p:cNvSpPr/>
          <p:nvPr/>
        </p:nvSpPr>
        <p:spPr>
          <a:xfrm>
            <a:off x="4663440" y="3648456"/>
            <a:ext cx="40690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663440" y="3648456"/>
            <a:ext cx="54864" cy="62179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773168" y="36941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Drug Target</a:t>
            </a:r>
            <a:endParaRPr lang="en-US" sz="1150"/>
          </a:p>
          <a:p>
            <a:pPr marL="0" indent="0">
              <a:buNone/>
            </a:pPr>
            <a:r>
              <a:rPr lang="en-US" sz="115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Validation</a:t>
            </a:r>
            <a:endParaRPr lang="en-US" sz="1150"/>
          </a:p>
        </p:txBody>
      </p:sp>
      <p:sp>
        <p:nvSpPr>
          <p:cNvPr id="38" name="Text 36"/>
          <p:cNvSpPr/>
          <p:nvPr/>
        </p:nvSpPr>
        <p:spPr>
          <a:xfrm>
            <a:off x="4773168" y="396849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binding-site positions are functionally constrained? Variant-sensitive sites are higher-risk drug targets.</a:t>
            </a:r>
            <a:endParaRPr lang="en-US" sz="1000"/>
          </a:p>
        </p:txBody>
      </p:sp>
      <p:sp>
        <p:nvSpPr>
          <p:cNvPr id="39" name="Shape 37"/>
          <p:cNvSpPr/>
          <p:nvPr/>
        </p:nvSpPr>
        <p:spPr>
          <a:xfrm>
            <a:off x="4663440" y="4361688"/>
            <a:ext cx="40690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663440" y="4361688"/>
            <a:ext cx="54864" cy="62179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773168" y="44074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Protein Engineering</a:t>
            </a:r>
            <a:endParaRPr lang="en-US" sz="1150"/>
          </a:p>
        </p:txBody>
      </p:sp>
      <p:sp>
        <p:nvSpPr>
          <p:cNvPr id="42" name="Text 40"/>
          <p:cNvSpPr/>
          <p:nvPr/>
        </p:nvSpPr>
        <p:spPr>
          <a:xfrm>
            <a:off x="4773168" y="468172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introduce stabilising mutations for industrial enzymes, biosimilars, or therapeutic proteins.</a:t>
            </a:r>
            <a:endParaRPr lang="en-US" sz="10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B16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Where Variants Come From — and Why It Matters for </a:t>
            </a:r>
            <a:r>
              <a:rPr lang="en-US" sz="2000" b="1" err="1">
                <a:solidFill>
                  <a:srgbClr val="FFFFF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DataLens</a:t>
            </a:r>
            <a:endParaRPr lang="en-US" sz="2000">
              <a:latin typeface="Trebuchet MS"/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85039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Germline, somatic, and drug-induced variants each map to a different downstream use case</a:t>
            </a:r>
            <a:endParaRPr lang="en-US" sz="1300"/>
          </a:p>
        </p:txBody>
      </p:sp>
      <p:sp>
        <p:nvSpPr>
          <p:cNvPr id="4" name="Shape 2"/>
          <p:cNvSpPr/>
          <p:nvPr/>
        </p:nvSpPr>
        <p:spPr>
          <a:xfrm>
            <a:off x="502920" y="804672"/>
            <a:ext cx="100584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29719" y="1133807"/>
            <a:ext cx="2651809" cy="2537412"/>
          </a:xfrm>
          <a:prstGeom prst="rect">
            <a:avLst/>
          </a:prstGeom>
          <a:solidFill>
            <a:srgbClr val="132039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115568"/>
            <a:ext cx="2670048" cy="45720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11556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Germline</a:t>
            </a:r>
            <a:endParaRPr lang="en-US" sz="1400"/>
          </a:p>
        </p:txBody>
      </p:sp>
      <p:sp>
        <p:nvSpPr>
          <p:cNvPr id="8" name="Text 6"/>
          <p:cNvSpPr/>
          <p:nvPr/>
        </p:nvSpPr>
        <p:spPr>
          <a:xfrm>
            <a:off x="502920" y="138988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Inherited — in every cell</a:t>
            </a:r>
            <a:endParaRPr lang="en-US" sz="1000"/>
          </a:p>
        </p:txBody>
      </p:sp>
      <p:sp>
        <p:nvSpPr>
          <p:cNvPr id="9" name="Text 7"/>
          <p:cNvSpPr/>
          <p:nvPr/>
        </p:nvSpPr>
        <p:spPr>
          <a:xfrm>
            <a:off x="502920" y="1664208"/>
            <a:ext cx="2514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Variants present from birth, inherited from parents or arising de novo in egg/sperm. Affect the whole organism. Examples: BRCA1/2, TP53 Li-Fraumeni, CFTR in cystic fibrosis.</a:t>
            </a:r>
            <a:endParaRPr lang="en-US" sz="1050"/>
          </a:p>
        </p:txBody>
      </p:sp>
      <p:sp>
        <p:nvSpPr>
          <p:cNvPr id="10" name="Shape 8"/>
          <p:cNvSpPr/>
          <p:nvPr/>
        </p:nvSpPr>
        <p:spPr>
          <a:xfrm>
            <a:off x="502920" y="2774620"/>
            <a:ext cx="2514600" cy="36576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2920730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DataLens:</a:t>
            </a:r>
            <a:endParaRPr lang="en-US" sz="1000"/>
          </a:p>
        </p:txBody>
      </p:sp>
      <p:sp>
        <p:nvSpPr>
          <p:cNvPr id="12" name="Text 10"/>
          <p:cNvSpPr/>
          <p:nvPr/>
        </p:nvSpPr>
        <p:spPr>
          <a:xfrm>
            <a:off x="502920" y="3073697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DataLens primary context. All five TP53 case study variants are germline hotspots.</a:t>
            </a:r>
            <a:endParaRPr lang="en-US" sz="950"/>
          </a:p>
        </p:txBody>
      </p:sp>
      <p:sp>
        <p:nvSpPr>
          <p:cNvPr id="13" name="Shape 11"/>
          <p:cNvSpPr/>
          <p:nvPr/>
        </p:nvSpPr>
        <p:spPr>
          <a:xfrm>
            <a:off x="3246071" y="1127727"/>
            <a:ext cx="2651809" cy="2543492"/>
          </a:xfrm>
          <a:prstGeom prst="rect">
            <a:avLst/>
          </a:prstGeom>
          <a:solidFill>
            <a:srgbClr val="132039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27832" y="1115568"/>
            <a:ext cx="2670048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319272" y="111556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Somatic</a:t>
            </a:r>
            <a:endParaRPr lang="en-US" sz="1400"/>
          </a:p>
        </p:txBody>
      </p:sp>
      <p:sp>
        <p:nvSpPr>
          <p:cNvPr id="16" name="Text 14"/>
          <p:cNvSpPr/>
          <p:nvPr/>
        </p:nvSpPr>
        <p:spPr>
          <a:xfrm>
            <a:off x="3319272" y="138988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Acquired — tissue-specific</a:t>
            </a:r>
            <a:endParaRPr lang="en-US" sz="1000"/>
          </a:p>
        </p:txBody>
      </p:sp>
      <p:sp>
        <p:nvSpPr>
          <p:cNvPr id="17" name="Text 15"/>
          <p:cNvSpPr/>
          <p:nvPr/>
        </p:nvSpPr>
        <p:spPr>
          <a:xfrm>
            <a:off x="3319272" y="1664208"/>
            <a:ext cx="2514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Mutations that accumulate in individual cells over a lifetime via replication errors, UV, or oxidative damage. Not inherited. The primary driver of cancer — every tumour is a somatic evolution.</a:t>
            </a:r>
            <a:endParaRPr lang="en-US" sz="1050"/>
          </a:p>
        </p:txBody>
      </p:sp>
      <p:sp>
        <p:nvSpPr>
          <p:cNvPr id="18" name="Shape 16"/>
          <p:cNvSpPr/>
          <p:nvPr/>
        </p:nvSpPr>
        <p:spPr>
          <a:xfrm>
            <a:off x="3319272" y="2774620"/>
            <a:ext cx="2514600" cy="3657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319272" y="2920730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DataLens:</a:t>
            </a:r>
            <a:endParaRPr lang="en-US" sz="1000"/>
          </a:p>
        </p:txBody>
      </p:sp>
      <p:sp>
        <p:nvSpPr>
          <p:cNvPr id="20" name="Text 18"/>
          <p:cNvSpPr/>
          <p:nvPr/>
        </p:nvSpPr>
        <p:spPr>
          <a:xfrm>
            <a:off x="3319272" y="3073697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COSMIC somatic counts are injected into every Claude prompt. R248W: 2,847 somatic observations.</a:t>
            </a:r>
            <a:endParaRPr lang="en-US" sz="950"/>
          </a:p>
        </p:txBody>
      </p:sp>
      <p:sp>
        <p:nvSpPr>
          <p:cNvPr id="21" name="Shape 19"/>
          <p:cNvSpPr/>
          <p:nvPr/>
        </p:nvSpPr>
        <p:spPr>
          <a:xfrm>
            <a:off x="6062423" y="1121647"/>
            <a:ext cx="2663968" cy="2549572"/>
          </a:xfrm>
          <a:prstGeom prst="rect">
            <a:avLst/>
          </a:prstGeom>
          <a:solidFill>
            <a:srgbClr val="132039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044184" y="1115568"/>
            <a:ext cx="2670048" cy="457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135624" y="111556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Drug-Induced</a:t>
            </a:r>
            <a:endParaRPr lang="en-US" sz="1400"/>
          </a:p>
        </p:txBody>
      </p:sp>
      <p:sp>
        <p:nvSpPr>
          <p:cNvPr id="24" name="Text 22"/>
          <p:cNvSpPr/>
          <p:nvPr/>
        </p:nvSpPr>
        <p:spPr>
          <a:xfrm>
            <a:off x="6135624" y="138988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Iatrogenic — rare but real</a:t>
            </a:r>
            <a:endParaRPr lang="en-US" sz="1000"/>
          </a:p>
        </p:txBody>
      </p:sp>
      <p:sp>
        <p:nvSpPr>
          <p:cNvPr id="25" name="Text 23"/>
          <p:cNvSpPr/>
          <p:nvPr/>
        </p:nvSpPr>
        <p:spPr>
          <a:xfrm>
            <a:off x="6135624" y="1664208"/>
            <a:ext cx="2514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Alkylating chemotherapy agents are directly mutagenic. Chemo survivors face elevated secondary cancer risk. Immunosuppressants can increase somatic mutation rate indirectly.</a:t>
            </a:r>
            <a:endParaRPr lang="en-US" sz="1050"/>
          </a:p>
        </p:txBody>
      </p:sp>
      <p:sp>
        <p:nvSpPr>
          <p:cNvPr id="26" name="Shape 24"/>
          <p:cNvSpPr/>
          <p:nvPr/>
        </p:nvSpPr>
        <p:spPr>
          <a:xfrm>
            <a:off x="6135624" y="2774620"/>
            <a:ext cx="2514600" cy="3657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135624" y="2920730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DataLens:</a:t>
            </a:r>
            <a:endParaRPr lang="en-US" sz="1000"/>
          </a:p>
        </p:txBody>
      </p:sp>
      <p:sp>
        <p:nvSpPr>
          <p:cNvPr id="28" name="Text 26"/>
          <p:cNvSpPr/>
          <p:nvPr/>
        </p:nvSpPr>
        <p:spPr>
          <a:xfrm>
            <a:off x="6135624" y="3073697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primary DataLens use case, but AM pathogenicity scores apply equally to drug-induced variants.</a:t>
            </a:r>
            <a:endParaRPr lang="en-US" sz="950"/>
          </a:p>
        </p:txBody>
      </p:sp>
      <p:sp>
        <p:nvSpPr>
          <p:cNvPr id="29" name="Text 27"/>
          <p:cNvSpPr/>
          <p:nvPr/>
        </p:nvSpPr>
        <p:spPr>
          <a:xfrm>
            <a:off x="411480" y="3731919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Downstream Use Cases — Where AlphaMissense (and DataLens) Sit</a:t>
            </a:r>
            <a:endParaRPr lang="en-US" sz="1200"/>
          </a:p>
        </p:txBody>
      </p:sp>
      <p:sp>
        <p:nvSpPr>
          <p:cNvPr id="30" name="Shape 28"/>
          <p:cNvSpPr/>
          <p:nvPr/>
        </p:nvSpPr>
        <p:spPr>
          <a:xfrm>
            <a:off x="435797" y="4027688"/>
            <a:ext cx="2645731" cy="980548"/>
          </a:xfrm>
          <a:prstGeom prst="rect">
            <a:avLst/>
          </a:prstGeom>
          <a:solidFill>
            <a:srgbClr val="132039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11480" y="4170929"/>
            <a:ext cx="54864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66490" y="4006483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Rare Disease Diagnosis</a:t>
            </a:r>
            <a:endParaRPr lang="en-US" sz="1050"/>
          </a:p>
        </p:txBody>
      </p:sp>
      <p:sp>
        <p:nvSpPr>
          <p:cNvPr id="33" name="Text 31"/>
          <p:cNvSpPr/>
          <p:nvPr/>
        </p:nvSpPr>
        <p:spPr>
          <a:xfrm>
            <a:off x="521208" y="4396221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Whole-exome sequencing returns hundreds of variants of uncertain significance (VUS). AlphaMissense triages which are likely damaging — reducing a list of 200 candidates to 5 worth investigating.</a:t>
            </a:r>
            <a:endParaRPr lang="en-US" sz="950"/>
          </a:p>
        </p:txBody>
      </p:sp>
      <p:sp>
        <p:nvSpPr>
          <p:cNvPr id="34" name="Shape 32"/>
          <p:cNvSpPr/>
          <p:nvPr/>
        </p:nvSpPr>
        <p:spPr>
          <a:xfrm>
            <a:off x="3246070" y="4027689"/>
            <a:ext cx="2651810" cy="980547"/>
          </a:xfrm>
          <a:prstGeom prst="rect">
            <a:avLst/>
          </a:prstGeom>
          <a:solidFill>
            <a:srgbClr val="132039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3227832" y="4170929"/>
            <a:ext cx="54864" cy="5943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337560" y="4006483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Cancer Biology &amp; Target ID</a:t>
            </a:r>
            <a:endParaRPr lang="en-US" sz="1050"/>
          </a:p>
        </p:txBody>
      </p:sp>
      <p:sp>
        <p:nvSpPr>
          <p:cNvPr id="37" name="Text 35"/>
          <p:cNvSpPr/>
          <p:nvPr/>
        </p:nvSpPr>
        <p:spPr>
          <a:xfrm>
            <a:off x="3337560" y="4396221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Somatic variants cluster in functionally intolerant regions. Pathogenic positions are candidate drug targets. KRAS G12C: a single missense locks the GTPase active — sotorasib was designed specifically for that mutant.</a:t>
            </a:r>
            <a:endParaRPr lang="en-US" sz="950"/>
          </a:p>
        </p:txBody>
      </p:sp>
      <p:sp>
        <p:nvSpPr>
          <p:cNvPr id="38" name="Shape 36"/>
          <p:cNvSpPr/>
          <p:nvPr/>
        </p:nvSpPr>
        <p:spPr>
          <a:xfrm>
            <a:off x="6062422" y="4009451"/>
            <a:ext cx="2651810" cy="986626"/>
          </a:xfrm>
          <a:prstGeom prst="rect">
            <a:avLst/>
          </a:prstGeom>
          <a:solidFill>
            <a:srgbClr val="132039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044184" y="4170929"/>
            <a:ext cx="54864" cy="5943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153912" y="4006483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Precision Medicine &amp; Drug Design</a:t>
            </a:r>
            <a:endParaRPr lang="en-US" sz="1050"/>
          </a:p>
        </p:txBody>
      </p:sp>
      <p:sp>
        <p:nvSpPr>
          <p:cNvPr id="41" name="Text 39"/>
          <p:cNvSpPr/>
          <p:nvPr/>
        </p:nvSpPr>
        <p:spPr>
          <a:xfrm>
            <a:off x="6153912" y="4396221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patient's variant profile guides therapy selection. Variant-sensitive binding-site positions tell medicinal chemists where a drug must bind and which resistance mutations to anticipate.</a:t>
            </a:r>
            <a:endParaRPr lang="en-US" sz="950"/>
          </a:p>
        </p:txBody>
      </p:sp>
    </p:spTree>
    <p:extLst>
      <p:ext uri="{BB962C8B-B14F-4D97-AF65-F5344CB8AC3E}">
        <p14:creationId xmlns:p14="http://schemas.microsoft.com/office/powerpoint/2010/main" val="28374501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B16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Q: What is Claude's Role? How Easy to Substitute?</a:t>
            </a:r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502920" y="85039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is a structured synthesis layer — not an oracle, not a database</a:t>
            </a:r>
            <a:endParaRPr lang="en-US" sz="1300"/>
          </a:p>
        </p:txBody>
      </p:sp>
      <p:sp>
        <p:nvSpPr>
          <p:cNvPr id="4" name="Shape 2"/>
          <p:cNvSpPr/>
          <p:nvPr/>
        </p:nvSpPr>
        <p:spPr>
          <a:xfrm>
            <a:off x="502920" y="804672"/>
            <a:ext cx="100584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111556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ClaudeHandler sends to the API</a:t>
            </a:r>
            <a:endParaRPr lang="en-US" sz="1300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Protein name, PDB ID, UniProt ID</a:t>
            </a:r>
            <a:endParaRPr lang="en-US" sz="1050"/>
          </a:p>
        </p:txBody>
      </p:sp>
      <p:sp>
        <p:nvSpPr>
          <p:cNvPr id="7" name="Text 5"/>
          <p:cNvSpPr/>
          <p:nvPr/>
        </p:nvSpPr>
        <p:spPr>
          <a:xfrm>
            <a:off x="502920" y="181965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Mutation: wildtype AA, position, mutant AA, chain</a:t>
            </a:r>
            <a:endParaRPr lang="en-US" sz="1050"/>
          </a:p>
        </p:txBody>
      </p:sp>
      <p:sp>
        <p:nvSpPr>
          <p:cNvPr id="8" name="Text 6"/>
          <p:cNvSpPr/>
          <p:nvPr/>
        </p:nvSpPr>
        <p:spPr>
          <a:xfrm>
            <a:off x="502920" y="213055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Secondary structure at mutation site</a:t>
            </a:r>
            <a:endParaRPr lang="en-US" sz="1050"/>
          </a:p>
        </p:txBody>
      </p:sp>
      <p:sp>
        <p:nvSpPr>
          <p:cNvPr id="9" name="Text 7"/>
          <p:cNvSpPr/>
          <p:nvPr/>
        </p:nvSpPr>
        <p:spPr>
          <a:xfrm>
            <a:off x="502920" y="244144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AlphaMissense score + classification</a:t>
            </a:r>
            <a:endParaRPr lang="en-US" sz="1050"/>
          </a:p>
        </p:txBody>
      </p:sp>
      <p:sp>
        <p:nvSpPr>
          <p:cNvPr id="10" name="Text 8"/>
          <p:cNvSpPr/>
          <p:nvPr/>
        </p:nvSpPr>
        <p:spPr>
          <a:xfrm>
            <a:off x="502920" y="275234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FoldX ΔΔG (when available)</a:t>
            </a:r>
            <a:endParaRPr lang="en-US" sz="1050"/>
          </a:p>
        </p:txBody>
      </p:sp>
      <p:sp>
        <p:nvSpPr>
          <p:cNvPr id="11" name="Text 9"/>
          <p:cNvSpPr/>
          <p:nvPr/>
        </p:nvSpPr>
        <p:spPr>
          <a:xfrm>
            <a:off x="502920" y="30632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ClinVar classification + review stars</a:t>
            </a:r>
            <a:endParaRPr lang="en-US" sz="1050"/>
          </a:p>
        </p:txBody>
      </p:sp>
      <p:sp>
        <p:nvSpPr>
          <p:cNvPr id="12" name="Text 10"/>
          <p:cNvSpPr/>
          <p:nvPr/>
        </p:nvSpPr>
        <p:spPr>
          <a:xfrm>
            <a:off x="502920" y="337413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COSMIC somatic observation count</a:t>
            </a:r>
            <a:endParaRPr lang="en-US" sz="1050"/>
          </a:p>
        </p:txBody>
      </p:sp>
      <p:sp>
        <p:nvSpPr>
          <p:cNvPr id="13" name="Text 11"/>
          <p:cNvSpPr/>
          <p:nvPr/>
        </p:nvSpPr>
        <p:spPr>
          <a:xfrm>
            <a:off x="502920" y="368503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gnomAD population allele frequency</a:t>
            </a:r>
            <a:endParaRPr lang="en-US" sz="1050"/>
          </a:p>
        </p:txBody>
      </p:sp>
      <p:sp>
        <p:nvSpPr>
          <p:cNvPr id="14" name="Text 12"/>
          <p:cNvSpPr/>
          <p:nvPr/>
        </p:nvSpPr>
        <p:spPr>
          <a:xfrm>
            <a:off x="502920" y="399592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UniProt functional site annotation</a:t>
            </a:r>
            <a:endParaRPr lang="en-US" sz="1050"/>
          </a:p>
        </p:txBody>
      </p:sp>
      <p:sp>
        <p:nvSpPr>
          <p:cNvPr id="15" name="Text 13"/>
          <p:cNvSpPr/>
          <p:nvPr/>
        </p:nvSpPr>
        <p:spPr>
          <a:xfrm>
            <a:off x="502920" y="430682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Full conversation history (multi-turn)</a:t>
            </a:r>
            <a:endParaRPr lang="en-US" sz="1050"/>
          </a:p>
        </p:txBody>
      </p:sp>
      <p:sp>
        <p:nvSpPr>
          <p:cNvPr id="16" name="Shape 14"/>
          <p:cNvSpPr/>
          <p:nvPr/>
        </p:nvSpPr>
        <p:spPr>
          <a:xfrm>
            <a:off x="411480" y="4645152"/>
            <a:ext cx="4114800" cy="384048"/>
          </a:xfrm>
          <a:prstGeom prst="rect">
            <a:avLst/>
          </a:prstGeom>
          <a:solidFill>
            <a:srgbClr val="1A0D0D"/>
          </a:solidFill>
          <a:ln w="6350">
            <a:solidFill>
              <a:srgbClr val="6B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" y="46634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does NOT recall, diagnose, or generate pathogenicity scores — it synthesizes numbers we supply.</a:t>
            </a:r>
            <a:endParaRPr lang="en-US" sz="950"/>
          </a:p>
        </p:txBody>
      </p:sp>
      <p:sp>
        <p:nvSpPr>
          <p:cNvPr id="18" name="Text 16"/>
          <p:cNvSpPr/>
          <p:nvPr/>
        </p:nvSpPr>
        <p:spPr>
          <a:xfrm>
            <a:off x="4754880" y="1115568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Swapping to a Different LLM</a:t>
            </a:r>
            <a:endParaRPr lang="en-US" sz="1300"/>
          </a:p>
        </p:txBody>
      </p:sp>
      <p:sp>
        <p:nvSpPr>
          <p:cNvPr id="19" name="Shape 17"/>
          <p:cNvSpPr/>
          <p:nvPr/>
        </p:nvSpPr>
        <p:spPr>
          <a:xfrm>
            <a:off x="4754880" y="1508760"/>
            <a:ext cx="3977640" cy="960120"/>
          </a:xfrm>
          <a:prstGeom prst="rect">
            <a:avLst/>
          </a:prstGeom>
          <a:solidFill>
            <a:srgbClr val="132039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54880" y="1508760"/>
            <a:ext cx="54864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82896" y="159105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ClaudeHandler is self-contained</a:t>
            </a:r>
            <a:endParaRPr lang="en-US" sz="1300"/>
          </a:p>
        </p:txBody>
      </p:sp>
      <p:sp>
        <p:nvSpPr>
          <p:cNvPr id="22" name="Text 20"/>
          <p:cNvSpPr/>
          <p:nvPr/>
        </p:nvSpPr>
        <p:spPr>
          <a:xfrm>
            <a:off x="4882896" y="1856232"/>
            <a:ext cx="37947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API calls encapsulated in ClaudeHandler.cpp/h. The prompt template and MutationContext struct are model-agnostic.</a:t>
            </a:r>
            <a:endParaRPr lang="en-US" sz="1100"/>
          </a:p>
        </p:txBody>
      </p:sp>
      <p:sp>
        <p:nvSpPr>
          <p:cNvPr id="23" name="Shape 21"/>
          <p:cNvSpPr/>
          <p:nvPr/>
        </p:nvSpPr>
        <p:spPr>
          <a:xfrm>
            <a:off x="4754880" y="2560320"/>
            <a:ext cx="3977640" cy="960120"/>
          </a:xfrm>
          <a:prstGeom prst="rect">
            <a:avLst/>
          </a:prstGeom>
          <a:solidFill>
            <a:srgbClr val="132039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754880" y="2560320"/>
            <a:ext cx="54864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82896" y="264261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changes (~100–200 lines)</a:t>
            </a:r>
            <a:endParaRPr lang="en-US" sz="1300"/>
          </a:p>
        </p:txBody>
      </p:sp>
      <p:sp>
        <p:nvSpPr>
          <p:cNvPr id="26" name="Text 24"/>
          <p:cNvSpPr/>
          <p:nvPr/>
        </p:nvSpPr>
        <p:spPr>
          <a:xfrm>
            <a:off x="4882896" y="2907792"/>
            <a:ext cx="37947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 URL · authentication header format · request body schema (messages vs. prompt) · response JSON path to extract text.</a:t>
            </a:r>
            <a:endParaRPr lang="en-US" sz="1100"/>
          </a:p>
        </p:txBody>
      </p:sp>
      <p:sp>
        <p:nvSpPr>
          <p:cNvPr id="27" name="Shape 25"/>
          <p:cNvSpPr/>
          <p:nvPr/>
        </p:nvSpPr>
        <p:spPr>
          <a:xfrm>
            <a:off x="4754880" y="3611880"/>
            <a:ext cx="3977640" cy="960120"/>
          </a:xfrm>
          <a:prstGeom prst="rect">
            <a:avLst/>
          </a:prstGeom>
          <a:solidFill>
            <a:srgbClr val="132039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754880" y="3611880"/>
            <a:ext cx="54864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882896" y="369417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does NOT change</a:t>
            </a:r>
            <a:endParaRPr lang="en-US" sz="1300"/>
          </a:p>
        </p:txBody>
      </p:sp>
      <p:sp>
        <p:nvSpPr>
          <p:cNvPr id="30" name="Text 28"/>
          <p:cNvSpPr/>
          <p:nvPr/>
        </p:nvSpPr>
        <p:spPr>
          <a:xfrm>
            <a:off x="4882896" y="3959352"/>
            <a:ext cx="37947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content · evidence hierarchy · guardrail post-processing · MutationContext enrichment · the 5-section required output format.</a:t>
            </a:r>
            <a:endParaRPr lang="en-US" sz="1100"/>
          </a:p>
        </p:txBody>
      </p:sp>
      <p:sp>
        <p:nvSpPr>
          <p:cNvPr id="31" name="Shape 29"/>
          <p:cNvSpPr/>
          <p:nvPr/>
        </p:nvSpPr>
        <p:spPr>
          <a:xfrm>
            <a:off x="4754880" y="4645152"/>
            <a:ext cx="3977640" cy="384048"/>
          </a:xfrm>
          <a:prstGeom prst="rect">
            <a:avLst/>
          </a:prstGeom>
          <a:solidFill>
            <a:srgbClr val="0D3B36"/>
          </a:solidFill>
          <a:ln w="889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46320" y="466344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 ·  Gemini 1.5 Pro  ·  Llama 3 (local via Ollama)  ·  Mistral  ·  Any OpenAI-compatible endpoint</a:t>
            </a:r>
            <a:endParaRPr lang="en-US" sz="95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Q: System Architecture End-to-End Data Flow</a:t>
            </a:r>
            <a:endParaRPr lang="en-US" sz="2800"/>
          </a:p>
        </p:txBody>
      </p:sp>
      <p:sp>
        <p:nvSpPr>
          <p:cNvPr id="3" name="Text 1"/>
          <p:cNvSpPr/>
          <p:nvPr/>
        </p:nvSpPr>
        <p:spPr>
          <a:xfrm>
            <a:off x="502920" y="85039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user click to rendered interpretation in one reactive loop</a:t>
            </a:r>
            <a:endParaRPr lang="en-US" sz="1100"/>
          </a:p>
        </p:txBody>
      </p:sp>
      <p:sp>
        <p:nvSpPr>
          <p:cNvPr id="4" name="Shape 2"/>
          <p:cNvSpPr/>
          <p:nvPr/>
        </p:nvSpPr>
        <p:spPr>
          <a:xfrm>
            <a:off x="502920" y="804672"/>
            <a:ext cx="100584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115568"/>
            <a:ext cx="8321040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115568"/>
            <a:ext cx="438912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115568"/>
            <a:ext cx="4389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/>
          </a:p>
        </p:txBody>
      </p:sp>
      <p:sp>
        <p:nvSpPr>
          <p:cNvPr id="8" name="Text 6"/>
          <p:cNvSpPr/>
          <p:nvPr/>
        </p:nvSpPr>
        <p:spPr>
          <a:xfrm>
            <a:off x="914400" y="11612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Clicks Residue</a:t>
            </a:r>
            <a:endParaRPr lang="en-US" sz="1050"/>
          </a:p>
        </p:txBody>
      </p:sp>
      <p:sp>
        <p:nvSpPr>
          <p:cNvPr id="9" name="Text 7"/>
          <p:cNvSpPr/>
          <p:nvPr/>
        </p:nvSpPr>
        <p:spPr>
          <a:xfrm>
            <a:off x="914400" y="1389888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GLFW mouse event → 5-pixel drag threshold check → RayCaster::screenToRay()</a:t>
            </a: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411480" y="1664208"/>
            <a:ext cx="8321040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11480" y="1664208"/>
            <a:ext cx="438912" cy="47548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1480" y="1664208"/>
            <a:ext cx="4389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/>
          </a:p>
        </p:txBody>
      </p:sp>
      <p:sp>
        <p:nvSpPr>
          <p:cNvPr id="13" name="Text 11"/>
          <p:cNvSpPr/>
          <p:nvPr/>
        </p:nvSpPr>
        <p:spPr>
          <a:xfrm>
            <a:off x="914400" y="17099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Ray-Sphere Intersection</a:t>
            </a:r>
            <a:endParaRPr lang="en-US" sz="1050"/>
          </a:p>
        </p:txBody>
      </p:sp>
      <p:sp>
        <p:nvSpPr>
          <p:cNvPr id="14" name="Text 12"/>
          <p:cNvSpPr/>
          <p:nvPr/>
        </p:nvSpPr>
        <p:spPr>
          <a:xfrm>
            <a:off x="914400" y="1938528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 brute-force over flat atom array. Closest hit → residue number + chain. &lt; 1 ms.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411480" y="2212848"/>
            <a:ext cx="8321040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11480" y="2212848"/>
            <a:ext cx="438912" cy="4754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1480" y="2212848"/>
            <a:ext cx="4389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/>
          </a:p>
        </p:txBody>
      </p:sp>
      <p:sp>
        <p:nvSpPr>
          <p:cNvPr id="18" name="Text 16"/>
          <p:cNvSpPr/>
          <p:nvPr/>
        </p:nvSpPr>
        <p:spPr>
          <a:xfrm>
            <a:off x="914400" y="22585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SIFTS Coordinate Lookup</a:t>
            </a:r>
            <a:endParaRPr lang="en-US" sz="1050"/>
          </a:p>
        </p:txBody>
      </p:sp>
      <p:sp>
        <p:nvSpPr>
          <p:cNvPr id="19" name="Text 17"/>
          <p:cNvSpPr/>
          <p:nvPr/>
        </p:nvSpPr>
        <p:spPr>
          <a:xfrm>
            <a:off x="914400" y="2487168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PDB residue → UniProt position via cached linear offset. No network round-trip.</a:t>
            </a:r>
            <a:endParaRPr lang="en-US" sz="1000"/>
          </a:p>
        </p:txBody>
      </p:sp>
      <p:sp>
        <p:nvSpPr>
          <p:cNvPr id="20" name="Shape 18"/>
          <p:cNvSpPr/>
          <p:nvPr/>
        </p:nvSpPr>
        <p:spPr>
          <a:xfrm>
            <a:off x="411480" y="2761488"/>
            <a:ext cx="8321040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11480" y="2761488"/>
            <a:ext cx="438912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11480" y="2761488"/>
            <a:ext cx="4389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/>
          </a:p>
        </p:txBody>
      </p:sp>
      <p:sp>
        <p:nvSpPr>
          <p:cNvPr id="23" name="Text 21"/>
          <p:cNvSpPr/>
          <p:nvPr/>
        </p:nvSpPr>
        <p:spPr>
          <a:xfrm>
            <a:off x="914400" y="28072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AlphaMissense DB Query</a:t>
            </a:r>
            <a:endParaRPr lang="en-US" sz="1050"/>
          </a:p>
        </p:txBody>
      </p:sp>
      <p:sp>
        <p:nvSpPr>
          <p:cNvPr id="24" name="Text 22"/>
          <p:cNvSpPr/>
          <p:nvPr/>
        </p:nvSpPr>
        <p:spPr>
          <a:xfrm>
            <a:off x="914400" y="3035808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thread → POST to FastAPI → asyncpg → PostgreSQL index scan. Returns in &lt; 10 ms.</a:t>
            </a:r>
            <a:endParaRPr lang="en-US" sz="1000"/>
          </a:p>
        </p:txBody>
      </p:sp>
      <p:sp>
        <p:nvSpPr>
          <p:cNvPr id="25" name="Shape 23"/>
          <p:cNvSpPr/>
          <p:nvPr/>
        </p:nvSpPr>
        <p:spPr>
          <a:xfrm>
            <a:off x="411480" y="3310128"/>
            <a:ext cx="8321040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11480" y="3310128"/>
            <a:ext cx="438912" cy="47548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11480" y="3310128"/>
            <a:ext cx="4389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/>
          </a:p>
        </p:txBody>
      </p:sp>
      <p:sp>
        <p:nvSpPr>
          <p:cNvPr id="28" name="Text 26"/>
          <p:cNvSpPr/>
          <p:nvPr/>
        </p:nvSpPr>
        <p:spPr>
          <a:xfrm>
            <a:off x="914400" y="335584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FoldX Pipeline (async)</a:t>
            </a:r>
            <a:endParaRPr lang="en-US" sz="1050"/>
          </a:p>
        </p:txBody>
      </p:sp>
      <p:sp>
        <p:nvSpPr>
          <p:cNvPr id="29" name="Text 27"/>
          <p:cNvSpPr/>
          <p:nvPr/>
        </p:nvSpPr>
        <p:spPr>
          <a:xfrm>
            <a:off x="914400" y="3584448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Detached std::thread → POST /api/analyze_mutation → RepairPDB + BuildModel. 1–10 min. Rendering loop unblocked.</a:t>
            </a:r>
            <a:endParaRPr lang="en-US" sz="1000"/>
          </a:p>
        </p:txBody>
      </p:sp>
      <p:sp>
        <p:nvSpPr>
          <p:cNvPr id="30" name="Shape 28"/>
          <p:cNvSpPr/>
          <p:nvPr/>
        </p:nvSpPr>
        <p:spPr>
          <a:xfrm>
            <a:off x="411480" y="3858768"/>
            <a:ext cx="8321040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11480" y="3858768"/>
            <a:ext cx="438912" cy="47548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11480" y="3858768"/>
            <a:ext cx="4389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400"/>
          </a:p>
        </p:txBody>
      </p:sp>
      <p:sp>
        <p:nvSpPr>
          <p:cNvPr id="33" name="Text 31"/>
          <p:cNvSpPr/>
          <p:nvPr/>
        </p:nvSpPr>
        <p:spPr>
          <a:xfrm>
            <a:off x="914400" y="39044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API Enrichment</a:t>
            </a:r>
            <a:endParaRPr lang="en-US" sz="1050"/>
          </a:p>
        </p:txBody>
      </p:sp>
      <p:sp>
        <p:nvSpPr>
          <p:cNvPr id="34" name="Text 32"/>
          <p:cNvSpPr/>
          <p:nvPr/>
        </p:nvSpPr>
        <p:spPr>
          <a:xfrm>
            <a:off x="914400" y="4133088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VariantDatabaseFetcher pulls ClinVar/COSMIC/gnomAD/UniProt → assembles prompt → POST to Claude API. Worker thread.</a:t>
            </a:r>
            <a:endParaRPr lang="en-US" sz="1000"/>
          </a:p>
        </p:txBody>
      </p:sp>
      <p:sp>
        <p:nvSpPr>
          <p:cNvPr id="35" name="Shape 33"/>
          <p:cNvSpPr/>
          <p:nvPr/>
        </p:nvSpPr>
        <p:spPr>
          <a:xfrm>
            <a:off x="411480" y="4407408"/>
            <a:ext cx="8321040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11480" y="4407408"/>
            <a:ext cx="438912" cy="47548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11480" y="4407408"/>
            <a:ext cx="4389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400"/>
          </a:p>
        </p:txBody>
      </p:sp>
      <p:sp>
        <p:nvSpPr>
          <p:cNvPr id="38" name="Text 36"/>
          <p:cNvSpPr/>
          <p:nvPr/>
        </p:nvSpPr>
        <p:spPr>
          <a:xfrm>
            <a:off x="914400" y="44531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Render Loop Polls &amp; Updates</a:t>
            </a:r>
            <a:endParaRPr lang="en-US" sz="1050"/>
          </a:p>
        </p:txBody>
      </p:sp>
      <p:sp>
        <p:nvSpPr>
          <p:cNvPr id="39" name="Text 37"/>
          <p:cNvSpPr/>
          <p:nvPr/>
        </p:nvSpPr>
        <p:spPr>
          <a:xfrm>
            <a:off x="914400" y="4681728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flags checked each frame. Results written to MutationFocusData. ImGui panels updated. glBufferSubData recolors atoms.</a:t>
            </a:r>
            <a:endParaRPr lang="en-US" sz="1000"/>
          </a:p>
        </p:txBody>
      </p:sp>
      <p:sp>
        <p:nvSpPr>
          <p:cNvPr id="40" name="Shape 38"/>
          <p:cNvSpPr/>
          <p:nvPr/>
        </p:nvSpPr>
        <p:spPr>
          <a:xfrm>
            <a:off x="411480" y="4920996"/>
            <a:ext cx="8321040" cy="19964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02920" y="4920996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threads:  Render (OpenGL + ImGui + input) · Console (stdin commands) · Worker threads (HTTP, FoldX, Claude) — mutex-protected result buffers</a:t>
            </a:r>
            <a:endParaRPr lang="en-US" sz="9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B16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Q: OpenGL — Architecture, GPU Use, and Why Not CUDA/Metal/Vulkan?</a:t>
            </a:r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502920" y="85039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OpenGL is a cross-platform GPU rendering API — not a compute framework</a:t>
            </a:r>
            <a:endParaRPr lang="en-US" sz="1300"/>
          </a:p>
        </p:txBody>
      </p:sp>
      <p:sp>
        <p:nvSpPr>
          <p:cNvPr id="4" name="Shape 2"/>
          <p:cNvSpPr/>
          <p:nvPr/>
        </p:nvSpPr>
        <p:spPr>
          <a:xfrm>
            <a:off x="502920" y="852301"/>
            <a:ext cx="100584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115568"/>
            <a:ext cx="8321040" cy="658368"/>
          </a:xfrm>
          <a:prstGeom prst="rect">
            <a:avLst/>
          </a:prstGeom>
          <a:solidFill>
            <a:srgbClr val="132039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115568"/>
            <a:ext cx="54864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39496" y="110260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OpenGL Is</a:t>
            </a:r>
            <a:endParaRPr lang="en-US" sz="1050"/>
          </a:p>
        </p:txBody>
      </p:sp>
      <p:sp>
        <p:nvSpPr>
          <p:cNvPr id="8" name="Text 6"/>
          <p:cNvSpPr/>
          <p:nvPr/>
        </p:nvSpPr>
        <p:spPr>
          <a:xfrm>
            <a:off x="539496" y="144398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cross-platform API (Windows / Linux / macOS) for submitting rendering commands to the GPU. DataLens uses OpenGL 3.3 Core Profile. All sphere and cylinder geometry </a:t>
            </a:r>
            <a:r>
              <a:rPr lang="en-US" sz="8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</a:t>
            </a:r>
            <a:r>
              <a:rPr lang="en-US" sz="9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the GPU — glDrawArraysInstanced submits 50K+ atom instances to the GPU in a single call. The CPU issues commands; the GPU executes them in parallel across thousands of shader cores.</a:t>
            </a:r>
            <a:endParaRPr lang="en-US" sz="900"/>
          </a:p>
        </p:txBody>
      </p:sp>
      <p:sp>
        <p:nvSpPr>
          <p:cNvPr id="9" name="Shape 7"/>
          <p:cNvSpPr/>
          <p:nvPr/>
        </p:nvSpPr>
        <p:spPr>
          <a:xfrm>
            <a:off x="411480" y="1901952"/>
            <a:ext cx="960120" cy="347472"/>
          </a:xfrm>
          <a:prstGeom prst="rect">
            <a:avLst/>
          </a:prstGeom>
          <a:solidFill>
            <a:srgbClr val="1C3A52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48056" y="1901952"/>
            <a:ext cx="886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</a:t>
            </a:r>
            <a:endParaRPr lang="en-US" sz="1050"/>
          </a:p>
        </p:txBody>
      </p:sp>
      <p:sp>
        <p:nvSpPr>
          <p:cNvPr id="11" name="Shape 9"/>
          <p:cNvSpPr/>
          <p:nvPr/>
        </p:nvSpPr>
        <p:spPr>
          <a:xfrm>
            <a:off x="1417320" y="1901952"/>
            <a:ext cx="1600200" cy="347472"/>
          </a:xfrm>
          <a:prstGeom prst="rect">
            <a:avLst/>
          </a:prstGeom>
          <a:solidFill>
            <a:srgbClr val="1C3A52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453896" y="1901952"/>
            <a:ext cx="1527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Type</a:t>
            </a:r>
            <a:endParaRPr lang="en-US" sz="1050"/>
          </a:p>
        </p:txBody>
      </p:sp>
      <p:sp>
        <p:nvSpPr>
          <p:cNvPr id="13" name="Shape 11"/>
          <p:cNvSpPr/>
          <p:nvPr/>
        </p:nvSpPr>
        <p:spPr>
          <a:xfrm>
            <a:off x="3063240" y="1901952"/>
            <a:ext cx="1783080" cy="347472"/>
          </a:xfrm>
          <a:prstGeom prst="rect">
            <a:avLst/>
          </a:prstGeom>
          <a:solidFill>
            <a:srgbClr val="1C3A52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099816" y="1901952"/>
            <a:ext cx="1709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Platform</a:t>
            </a:r>
            <a:endParaRPr lang="en-US" sz="1050"/>
          </a:p>
        </p:txBody>
      </p:sp>
      <p:sp>
        <p:nvSpPr>
          <p:cNvPr id="15" name="Shape 13"/>
          <p:cNvSpPr/>
          <p:nvPr/>
        </p:nvSpPr>
        <p:spPr>
          <a:xfrm>
            <a:off x="4892040" y="1901952"/>
            <a:ext cx="640080" cy="347472"/>
          </a:xfrm>
          <a:prstGeom prst="rect">
            <a:avLst/>
          </a:prstGeom>
          <a:solidFill>
            <a:srgbClr val="1C3A52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28616" y="1901952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DataLens?</a:t>
            </a:r>
            <a:endParaRPr lang="en-US" sz="1050"/>
          </a:p>
        </p:txBody>
      </p:sp>
      <p:sp>
        <p:nvSpPr>
          <p:cNvPr id="17" name="Shape 15"/>
          <p:cNvSpPr/>
          <p:nvPr/>
        </p:nvSpPr>
        <p:spPr>
          <a:xfrm>
            <a:off x="5577840" y="1901952"/>
            <a:ext cx="3246120" cy="347472"/>
          </a:xfrm>
          <a:prstGeom prst="rect">
            <a:avLst/>
          </a:prstGeom>
          <a:solidFill>
            <a:srgbClr val="1C3A52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614416" y="1901952"/>
            <a:ext cx="3172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/ Why Not</a:t>
            </a:r>
            <a:endParaRPr lang="en-US" sz="1050"/>
          </a:p>
        </p:txBody>
      </p:sp>
      <p:sp>
        <p:nvSpPr>
          <p:cNvPr id="19" name="Shape 17"/>
          <p:cNvSpPr/>
          <p:nvPr/>
        </p:nvSpPr>
        <p:spPr>
          <a:xfrm>
            <a:off x="411480" y="2304288"/>
            <a:ext cx="8412480" cy="438912"/>
          </a:xfrm>
          <a:prstGeom prst="rect">
            <a:avLst/>
          </a:prstGeom>
          <a:solidFill>
            <a:srgbClr val="0D3B36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2304288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OpenGL</a:t>
            </a:r>
            <a:endParaRPr lang="en-US" sz="1100"/>
          </a:p>
        </p:txBody>
      </p:sp>
      <p:sp>
        <p:nvSpPr>
          <p:cNvPr id="21" name="Text 19"/>
          <p:cNvSpPr/>
          <p:nvPr/>
        </p:nvSpPr>
        <p:spPr>
          <a:xfrm>
            <a:off x="1417320" y="2304288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Graphics (rendering)</a:t>
            </a:r>
            <a:endParaRPr lang="en-US" sz="1000"/>
          </a:p>
        </p:txBody>
      </p:sp>
      <p:sp>
        <p:nvSpPr>
          <p:cNvPr id="22" name="Text 20"/>
          <p:cNvSpPr/>
          <p:nvPr/>
        </p:nvSpPr>
        <p:spPr>
          <a:xfrm>
            <a:off x="3063240" y="2304288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</a:t>
            </a:r>
            <a:endParaRPr lang="en-US" sz="1000"/>
          </a:p>
        </p:txBody>
      </p:sp>
      <p:sp>
        <p:nvSpPr>
          <p:cNvPr id="23" name="Text 21"/>
          <p:cNvSpPr/>
          <p:nvPr/>
        </p:nvSpPr>
        <p:spPr>
          <a:xfrm>
            <a:off x="4892040" y="2304288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Yes</a:t>
            </a:r>
            <a:endParaRPr lang="en-US" sz="1300"/>
          </a:p>
        </p:txBody>
      </p:sp>
      <p:sp>
        <p:nvSpPr>
          <p:cNvPr id="24" name="Text 22"/>
          <p:cNvSpPr/>
          <p:nvPr/>
        </p:nvSpPr>
        <p:spPr>
          <a:xfrm>
            <a:off x="5577840" y="2304288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DataLens needs. Well-documented. Runs on AMD Ryzen.</a:t>
            </a:r>
            <a:endParaRPr lang="en-US" sz="950"/>
          </a:p>
        </p:txBody>
      </p:sp>
      <p:sp>
        <p:nvSpPr>
          <p:cNvPr id="25" name="Shape 23"/>
          <p:cNvSpPr/>
          <p:nvPr/>
        </p:nvSpPr>
        <p:spPr>
          <a:xfrm>
            <a:off x="411480" y="2807208"/>
            <a:ext cx="8412480" cy="438912"/>
          </a:xfrm>
          <a:prstGeom prst="rect">
            <a:avLst/>
          </a:prstGeom>
          <a:solidFill>
            <a:srgbClr val="132A42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7200" y="2807208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Vulkan</a:t>
            </a:r>
            <a:endParaRPr lang="en-US" sz="1100"/>
          </a:p>
        </p:txBody>
      </p:sp>
      <p:sp>
        <p:nvSpPr>
          <p:cNvPr id="27" name="Text 25"/>
          <p:cNvSpPr/>
          <p:nvPr/>
        </p:nvSpPr>
        <p:spPr>
          <a:xfrm>
            <a:off x="1417320" y="2807208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Graphics (rendering)</a:t>
            </a:r>
            <a:endParaRPr lang="en-US" sz="1000"/>
          </a:p>
        </p:txBody>
      </p:sp>
      <p:sp>
        <p:nvSpPr>
          <p:cNvPr id="28" name="Text 26"/>
          <p:cNvSpPr/>
          <p:nvPr/>
        </p:nvSpPr>
        <p:spPr>
          <a:xfrm>
            <a:off x="3063240" y="2807208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</a:t>
            </a:r>
            <a:endParaRPr lang="en-US" sz="1000"/>
          </a:p>
        </p:txBody>
      </p:sp>
      <p:sp>
        <p:nvSpPr>
          <p:cNvPr id="29" name="Text 27"/>
          <p:cNvSpPr/>
          <p:nvPr/>
        </p:nvSpPr>
        <p:spPr>
          <a:xfrm>
            <a:off x="4892040" y="2807208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/>
          </a:p>
        </p:txBody>
      </p:sp>
      <p:sp>
        <p:nvSpPr>
          <p:cNvPr id="30" name="Text 28"/>
          <p:cNvSpPr/>
          <p:nvPr/>
        </p:nvSpPr>
        <p:spPr>
          <a:xfrm>
            <a:off x="5577840" y="2807208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successor to OpenGL. ~800 lines of boilerplate for same result. DataLens is CPU-bound, not GPU-bound — no benefit.</a:t>
            </a:r>
            <a:endParaRPr lang="en-US" sz="950"/>
          </a:p>
        </p:txBody>
      </p:sp>
      <p:sp>
        <p:nvSpPr>
          <p:cNvPr id="31" name="Shape 29"/>
          <p:cNvSpPr/>
          <p:nvPr/>
        </p:nvSpPr>
        <p:spPr>
          <a:xfrm>
            <a:off x="411480" y="3310128"/>
            <a:ext cx="8412480" cy="438912"/>
          </a:xfrm>
          <a:prstGeom prst="rect">
            <a:avLst/>
          </a:prstGeom>
          <a:solidFill>
            <a:srgbClr val="132039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57200" y="3310128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CUDA</a:t>
            </a:r>
            <a:endParaRPr lang="en-US" sz="1100"/>
          </a:p>
        </p:txBody>
      </p:sp>
      <p:sp>
        <p:nvSpPr>
          <p:cNvPr id="33" name="Text 31"/>
          <p:cNvSpPr/>
          <p:nvPr/>
        </p:nvSpPr>
        <p:spPr>
          <a:xfrm>
            <a:off x="1417320" y="3310128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General-purpose GPU compute</a:t>
            </a:r>
            <a:endParaRPr lang="en-US" sz="1000"/>
          </a:p>
        </p:txBody>
      </p:sp>
      <p:sp>
        <p:nvSpPr>
          <p:cNvPr id="34" name="Text 32"/>
          <p:cNvSpPr/>
          <p:nvPr/>
        </p:nvSpPr>
        <p:spPr>
          <a:xfrm>
            <a:off x="3063240" y="3310128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only</a:t>
            </a:r>
            <a:endParaRPr lang="en-US" sz="1000"/>
          </a:p>
        </p:txBody>
      </p:sp>
      <p:sp>
        <p:nvSpPr>
          <p:cNvPr id="35" name="Text 33"/>
          <p:cNvSpPr/>
          <p:nvPr/>
        </p:nvSpPr>
        <p:spPr>
          <a:xfrm>
            <a:off x="4892040" y="3310128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/>
          </a:p>
        </p:txBody>
      </p:sp>
      <p:sp>
        <p:nvSpPr>
          <p:cNvPr id="36" name="Text 34"/>
          <p:cNvSpPr/>
          <p:nvPr/>
        </p:nvSpPr>
        <p:spPr>
          <a:xfrm>
            <a:off x="5577840" y="3310128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ML training, simulation, physics. Not for rendering. AMD machine has no NVIDIA GPU.</a:t>
            </a:r>
            <a:endParaRPr lang="en-US" sz="950"/>
          </a:p>
        </p:txBody>
      </p:sp>
      <p:sp>
        <p:nvSpPr>
          <p:cNvPr id="37" name="Shape 35"/>
          <p:cNvSpPr/>
          <p:nvPr/>
        </p:nvSpPr>
        <p:spPr>
          <a:xfrm>
            <a:off x="411480" y="3813048"/>
            <a:ext cx="8412480" cy="438912"/>
          </a:xfrm>
          <a:prstGeom prst="rect">
            <a:avLst/>
          </a:prstGeom>
          <a:solidFill>
            <a:srgbClr val="132A42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57200" y="3813048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Metal</a:t>
            </a:r>
            <a:endParaRPr lang="en-US" sz="1100"/>
          </a:p>
        </p:txBody>
      </p:sp>
      <p:sp>
        <p:nvSpPr>
          <p:cNvPr id="39" name="Text 37"/>
          <p:cNvSpPr/>
          <p:nvPr/>
        </p:nvSpPr>
        <p:spPr>
          <a:xfrm>
            <a:off x="1417320" y="3813048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Graphics + compute</a:t>
            </a:r>
            <a:endParaRPr lang="en-US" sz="1000"/>
          </a:p>
        </p:txBody>
      </p:sp>
      <p:sp>
        <p:nvSpPr>
          <p:cNvPr id="40" name="Text 38"/>
          <p:cNvSpPr/>
          <p:nvPr/>
        </p:nvSpPr>
        <p:spPr>
          <a:xfrm>
            <a:off x="3063240" y="3813048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only (macOS/iOS)</a:t>
            </a:r>
            <a:endParaRPr lang="en-US" sz="1000"/>
          </a:p>
        </p:txBody>
      </p:sp>
      <p:sp>
        <p:nvSpPr>
          <p:cNvPr id="41" name="Text 39"/>
          <p:cNvSpPr/>
          <p:nvPr/>
        </p:nvSpPr>
        <p:spPr>
          <a:xfrm>
            <a:off x="4892040" y="3813048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/>
          </a:p>
        </p:txBody>
      </p:sp>
      <p:sp>
        <p:nvSpPr>
          <p:cNvPr id="42" name="Text 40"/>
          <p:cNvSpPr/>
          <p:nvPr/>
        </p:nvSpPr>
        <p:spPr>
          <a:xfrm>
            <a:off x="5577840" y="3813048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Proprietary. Incompatible with Windows/Linux targets.</a:t>
            </a:r>
            <a:endParaRPr lang="en-US" sz="950"/>
          </a:p>
        </p:txBody>
      </p:sp>
      <p:sp>
        <p:nvSpPr>
          <p:cNvPr id="43" name="Shape 41"/>
          <p:cNvSpPr/>
          <p:nvPr/>
        </p:nvSpPr>
        <p:spPr>
          <a:xfrm>
            <a:off x="411480" y="4315968"/>
            <a:ext cx="8412480" cy="438912"/>
          </a:xfrm>
          <a:prstGeom prst="rect">
            <a:avLst/>
          </a:prstGeom>
          <a:solidFill>
            <a:srgbClr val="132039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57200" y="4315968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DirectX</a:t>
            </a:r>
            <a:endParaRPr lang="en-US" sz="1100"/>
          </a:p>
        </p:txBody>
      </p:sp>
      <p:sp>
        <p:nvSpPr>
          <p:cNvPr id="45" name="Text 43"/>
          <p:cNvSpPr/>
          <p:nvPr/>
        </p:nvSpPr>
        <p:spPr>
          <a:xfrm>
            <a:off x="1417320" y="4315968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Graphics (rendering)</a:t>
            </a:r>
            <a:endParaRPr lang="en-US" sz="1000"/>
          </a:p>
        </p:txBody>
      </p:sp>
      <p:sp>
        <p:nvSpPr>
          <p:cNvPr id="46" name="Text 44"/>
          <p:cNvSpPr/>
          <p:nvPr/>
        </p:nvSpPr>
        <p:spPr>
          <a:xfrm>
            <a:off x="3063240" y="4315968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only</a:t>
            </a:r>
            <a:endParaRPr lang="en-US" sz="1000"/>
          </a:p>
        </p:txBody>
      </p:sp>
      <p:sp>
        <p:nvSpPr>
          <p:cNvPr id="47" name="Text 45"/>
          <p:cNvSpPr/>
          <p:nvPr/>
        </p:nvSpPr>
        <p:spPr>
          <a:xfrm>
            <a:off x="4892040" y="4315968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/>
          </a:p>
        </p:txBody>
      </p:sp>
      <p:sp>
        <p:nvSpPr>
          <p:cNvPr id="48" name="Text 46"/>
          <p:cNvSpPr/>
          <p:nvPr/>
        </p:nvSpPr>
        <p:spPr>
          <a:xfrm>
            <a:off x="5577840" y="4315968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Proprietary. Incompatible with Linux targets.</a:t>
            </a:r>
            <a:endParaRPr lang="en-US" sz="95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Q: What Would Swapping the Variant Database Involve?</a:t>
            </a:r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502920" y="85039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AlphaMissense database is isolated behind a FastAPI router — designed for substitution</a:t>
            </a:r>
            <a:endParaRPr lang="en-US" sz="1300"/>
          </a:p>
        </p:txBody>
      </p:sp>
      <p:sp>
        <p:nvSpPr>
          <p:cNvPr id="4" name="Shape 2"/>
          <p:cNvSpPr/>
          <p:nvPr/>
        </p:nvSpPr>
        <p:spPr>
          <a:xfrm>
            <a:off x="502920" y="804672"/>
            <a:ext cx="100584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115568"/>
            <a:ext cx="8321040" cy="530352"/>
          </a:xfrm>
          <a:prstGeom prst="rect">
            <a:avLst/>
          </a:prstGeom>
          <a:solidFill>
            <a:srgbClr val="EFF6FF"/>
          </a:solidFill>
          <a:ln w="889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1704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D4E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Current: </a:t>
            </a:r>
            <a:endParaRPr lang="en-US" sz="1100"/>
          </a:p>
        </p:txBody>
      </p:sp>
      <p:sp>
        <p:nvSpPr>
          <p:cNvPr id="7" name="Text 5"/>
          <p:cNvSpPr/>
          <p:nvPr/>
        </p:nvSpPr>
        <p:spPr>
          <a:xfrm>
            <a:off x="1371600" y="1170432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frontend → HTTP GET → FastAPI alphamissense_router.py → asyncpg → PostgreSQL table alphamisense_predictions (uniprot_id, position, alt_aa, pathogenicity, class)  ·  Composite B-tree index on (uniprot_id, position, alt_aa)</a:t>
            </a:r>
            <a:endParaRPr lang="en-US" sz="1050"/>
          </a:p>
        </p:txBody>
      </p:sp>
      <p:sp>
        <p:nvSpPr>
          <p:cNvPr id="8" name="Shape 6"/>
          <p:cNvSpPr/>
          <p:nvPr/>
        </p:nvSpPr>
        <p:spPr>
          <a:xfrm>
            <a:off x="411480" y="1783080"/>
            <a:ext cx="8321040" cy="566928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11480" y="1783080"/>
            <a:ext cx="438912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1783080"/>
            <a:ext cx="438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/>
          </a:p>
        </p:txBody>
      </p:sp>
      <p:sp>
        <p:nvSpPr>
          <p:cNvPr id="11" name="Text 9"/>
          <p:cNvSpPr/>
          <p:nvPr/>
        </p:nvSpPr>
        <p:spPr>
          <a:xfrm>
            <a:off x="914400" y="181965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Replace the FastAPI Router</a:t>
            </a:r>
            <a:endParaRPr lang="en-US" sz="1150"/>
          </a:p>
        </p:txBody>
      </p:sp>
      <p:sp>
        <p:nvSpPr>
          <p:cNvPr id="12" name="Text 10"/>
          <p:cNvSpPr/>
          <p:nvPr/>
        </p:nvSpPr>
        <p:spPr>
          <a:xfrm>
            <a:off x="914400" y="2057400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new router (e.g., eve_router.py or esm1v_router.py) exposing the same five endpoints: coverage check, per-position predictions, analyzable-chains, bulk variants, per-protein summary. The C++ client calls these by path — it does not know what database backs them.</a:t>
            </a:r>
            <a:endParaRPr lang="en-US" sz="1000"/>
          </a:p>
        </p:txBody>
      </p:sp>
      <p:sp>
        <p:nvSpPr>
          <p:cNvPr id="13" name="Shape 11"/>
          <p:cNvSpPr/>
          <p:nvPr/>
        </p:nvSpPr>
        <p:spPr>
          <a:xfrm>
            <a:off x="411480" y="2423160"/>
            <a:ext cx="8321040" cy="566928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11480" y="2423160"/>
            <a:ext cx="438912" cy="56692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1480" y="2423160"/>
            <a:ext cx="438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/>
          </a:p>
        </p:txBody>
      </p:sp>
      <p:sp>
        <p:nvSpPr>
          <p:cNvPr id="16" name="Text 14"/>
          <p:cNvSpPr/>
          <p:nvPr/>
        </p:nvSpPr>
        <p:spPr>
          <a:xfrm>
            <a:off x="914400" y="245973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Match the Response Schema</a:t>
            </a:r>
            <a:endParaRPr lang="en-US" sz="1150"/>
          </a:p>
        </p:txBody>
      </p:sp>
      <p:sp>
        <p:nvSpPr>
          <p:cNvPr id="17" name="Text 15"/>
          <p:cNvSpPr/>
          <p:nvPr/>
        </p:nvSpPr>
        <p:spPr>
          <a:xfrm>
            <a:off x="914400" y="2697480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C++ FetchPDB::parseStructureResponse() parses JSON fields by name: uniprot_id, position, alt_aa, pathogenicity, am_class. The new database must return these same fields, OR the parser must be updated to match the new field names (~20 lines of C++).</a:t>
            </a:r>
            <a:endParaRPr lang="en-US" sz="1000"/>
          </a:p>
        </p:txBody>
      </p:sp>
      <p:sp>
        <p:nvSpPr>
          <p:cNvPr id="18" name="Shape 16"/>
          <p:cNvSpPr/>
          <p:nvPr/>
        </p:nvSpPr>
        <p:spPr>
          <a:xfrm>
            <a:off x="411480" y="3063240"/>
            <a:ext cx="8321040" cy="566928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11480" y="3063240"/>
            <a:ext cx="438912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11480" y="3063240"/>
            <a:ext cx="438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/>
          </a:p>
        </p:txBody>
      </p:sp>
      <p:sp>
        <p:nvSpPr>
          <p:cNvPr id="21" name="Text 19"/>
          <p:cNvSpPr/>
          <p:nvPr/>
        </p:nvSpPr>
        <p:spPr>
          <a:xfrm>
            <a:off x="914400" y="309981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Index the New Table Correctly</a:t>
            </a:r>
            <a:endParaRPr lang="en-US" sz="1150"/>
          </a:p>
        </p:txBody>
      </p:sp>
      <p:sp>
        <p:nvSpPr>
          <p:cNvPr id="22" name="Text 20"/>
          <p:cNvSpPr/>
          <p:nvPr/>
        </p:nvSpPr>
        <p:spPr>
          <a:xfrm>
            <a:off x="914400" y="3337560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composite index on (uniprot_id, position, alt_aa) is the key to sub-second performance. Whatever database replaces AlphaMissense must carry the same index structure. Without it, queries degrade from 8 ms to 28+ seconds on 200M+ records.</a:t>
            </a:r>
            <a:endParaRPr lang="en-US" sz="1000"/>
          </a:p>
        </p:txBody>
      </p:sp>
      <p:sp>
        <p:nvSpPr>
          <p:cNvPr id="23" name="Shape 21"/>
          <p:cNvSpPr/>
          <p:nvPr/>
        </p:nvSpPr>
        <p:spPr>
          <a:xfrm>
            <a:off x="411480" y="3703320"/>
            <a:ext cx="8321040" cy="566928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11480" y="3703320"/>
            <a:ext cx="438912" cy="5669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11480" y="3703320"/>
            <a:ext cx="438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/>
          </a:p>
        </p:txBody>
      </p:sp>
      <p:sp>
        <p:nvSpPr>
          <p:cNvPr id="26" name="Text 24"/>
          <p:cNvSpPr/>
          <p:nvPr/>
        </p:nvSpPr>
        <p:spPr>
          <a:xfrm>
            <a:off x="914400" y="373989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Update Score Thresholds in the UI</a:t>
            </a:r>
            <a:endParaRPr lang="en-US" sz="1150"/>
          </a:p>
        </p:txBody>
      </p:sp>
      <p:sp>
        <p:nvSpPr>
          <p:cNvPr id="27" name="Text 25"/>
          <p:cNvSpPr/>
          <p:nvPr/>
        </p:nvSpPr>
        <p:spPr>
          <a:xfrm>
            <a:off x="914400" y="3977640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AlphaMissense pathogenic threshold (≥ 0.564) and ambiguous threshold (≥ 0.340) are AlphaMissense-specific. The ImGui Mutation Landscape color coding and the Claude prompt interpretive annotations must be updated to the new database's scoring scheme.</a:t>
            </a:r>
            <a:endParaRPr lang="en-US" sz="1000"/>
          </a:p>
        </p:txBody>
      </p:sp>
      <p:sp>
        <p:nvSpPr>
          <p:cNvPr id="28" name="Shape 26"/>
          <p:cNvSpPr/>
          <p:nvPr/>
        </p:nvSpPr>
        <p:spPr>
          <a:xfrm>
            <a:off x="411480" y="4343400"/>
            <a:ext cx="8321040" cy="566928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11480" y="4343400"/>
            <a:ext cx="438912" cy="5669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11480" y="4343400"/>
            <a:ext cx="438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/>
          </a:p>
        </p:txBody>
      </p:sp>
      <p:sp>
        <p:nvSpPr>
          <p:cNvPr id="31" name="Text 29"/>
          <p:cNvSpPr/>
          <p:nvPr/>
        </p:nvSpPr>
        <p:spPr>
          <a:xfrm>
            <a:off x="914400" y="437997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SIFTS Mapping is Unchanged</a:t>
            </a:r>
            <a:endParaRPr lang="en-US" sz="1150"/>
          </a:p>
        </p:txBody>
      </p:sp>
      <p:sp>
        <p:nvSpPr>
          <p:cNvPr id="32" name="Text 30"/>
          <p:cNvSpPr/>
          <p:nvPr/>
        </p:nvSpPr>
        <p:spPr>
          <a:xfrm>
            <a:off x="914400" y="4617720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PDB→UniProt coordinate mapping layer (SIFTS) is completely independent of which variant database is used. It does not need modification. The new database only needs to index by the same (uniprot_id, position) key that SIFTS resolves to.</a:t>
            </a:r>
            <a:endParaRPr lang="en-US" sz="1000"/>
          </a:p>
        </p:txBody>
      </p:sp>
      <p:sp>
        <p:nvSpPr>
          <p:cNvPr id="33" name="Text 31"/>
          <p:cNvSpPr/>
          <p:nvPr/>
        </p:nvSpPr>
        <p:spPr>
          <a:xfrm>
            <a:off x="411480" y="4906327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drop-in databases: EVE (evolutionary model) · ESM1v (language model) · REVEL · PrimateAI · CADD · gnomAD v4 pLoF scores</a:t>
            </a:r>
            <a:endParaRPr lang="en-US" sz="10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B16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Q: Adding a New Information Source to the Claude Window</a:t>
            </a:r>
            <a:endParaRPr lang="en-US" sz="2000"/>
          </a:p>
        </p:txBody>
      </p:sp>
      <p:sp>
        <p:nvSpPr>
          <p:cNvPr id="3" name="Text 1"/>
          <p:cNvSpPr/>
          <p:nvPr/>
        </p:nvSpPr>
        <p:spPr>
          <a:xfrm>
            <a:off x="502920" y="85039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enrichment pipeline has a defined extension pattern — four touch points</a:t>
            </a:r>
            <a:endParaRPr lang="en-US" sz="1300"/>
          </a:p>
        </p:txBody>
      </p:sp>
      <p:sp>
        <p:nvSpPr>
          <p:cNvPr id="4" name="Shape 2"/>
          <p:cNvSpPr/>
          <p:nvPr/>
        </p:nvSpPr>
        <p:spPr>
          <a:xfrm>
            <a:off x="502920" y="804672"/>
            <a:ext cx="100584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11155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Current sources fetched by VariantDatabaseFetcher::fetchAll():</a:t>
            </a:r>
            <a:endParaRPr lang="en-US" sz="1200"/>
          </a:p>
        </p:txBody>
      </p:sp>
      <p:sp>
        <p:nvSpPr>
          <p:cNvPr id="6" name="Shape 4"/>
          <p:cNvSpPr/>
          <p:nvPr/>
        </p:nvSpPr>
        <p:spPr>
          <a:xfrm>
            <a:off x="411480" y="1463040"/>
            <a:ext cx="1307592" cy="594360"/>
          </a:xfrm>
          <a:prstGeom prst="rect">
            <a:avLst/>
          </a:prstGeom>
          <a:solidFill>
            <a:srgbClr val="132039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463040"/>
            <a:ext cx="13075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ClinVar</a:t>
            </a:r>
            <a:endParaRPr lang="en-US" sz="1000"/>
          </a:p>
          <a:p>
            <a:pPr marL="0" indent="0" algn="ctr">
              <a:buNone/>
            </a:pPr>
            <a:r>
              <a:rPr lang="en-US" sz="1000" b="1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(★★★)</a:t>
            </a:r>
            <a:endParaRPr lang="en-US" sz="1000"/>
          </a:p>
        </p:txBody>
      </p:sp>
      <p:sp>
        <p:nvSpPr>
          <p:cNvPr id="8" name="Shape 6"/>
          <p:cNvSpPr/>
          <p:nvPr/>
        </p:nvSpPr>
        <p:spPr>
          <a:xfrm>
            <a:off x="1810512" y="1463040"/>
            <a:ext cx="1307592" cy="594360"/>
          </a:xfrm>
          <a:prstGeom prst="rect">
            <a:avLst/>
          </a:prstGeom>
          <a:solidFill>
            <a:srgbClr val="132039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810512" y="1463040"/>
            <a:ext cx="13075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COSMIC</a:t>
            </a:r>
            <a:endParaRPr lang="en-US" sz="1000"/>
          </a:p>
          <a:p>
            <a:pPr marL="0" indent="0" algn="ctr">
              <a:buNone/>
            </a:pPr>
            <a:r>
              <a:rPr lang="en-US" sz="1000" b="1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(★★★)</a:t>
            </a: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3209544" y="1463040"/>
            <a:ext cx="1307592" cy="594360"/>
          </a:xfrm>
          <a:prstGeom prst="rect">
            <a:avLst/>
          </a:prstGeom>
          <a:solidFill>
            <a:srgbClr val="132039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09544" y="1463040"/>
            <a:ext cx="13075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UniProt</a:t>
            </a:r>
            <a:endParaRPr lang="en-US" sz="1000"/>
          </a:p>
          <a:p>
            <a:pPr marL="0" indent="0" algn="ctr">
              <a:buNone/>
            </a:pPr>
            <a:r>
              <a:rPr lang="en-US" sz="1000" b="1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(★★)</a:t>
            </a:r>
            <a:endParaRPr lang="en-US" sz="1000"/>
          </a:p>
        </p:txBody>
      </p:sp>
      <p:sp>
        <p:nvSpPr>
          <p:cNvPr id="12" name="Shape 10"/>
          <p:cNvSpPr/>
          <p:nvPr/>
        </p:nvSpPr>
        <p:spPr>
          <a:xfrm>
            <a:off x="4608576" y="1463040"/>
            <a:ext cx="1307592" cy="594360"/>
          </a:xfrm>
          <a:prstGeom prst="rect">
            <a:avLst/>
          </a:prstGeom>
          <a:solidFill>
            <a:srgbClr val="132039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08576" y="1463040"/>
            <a:ext cx="13075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gnomAD</a:t>
            </a:r>
            <a:endParaRPr lang="en-US" sz="1000"/>
          </a:p>
          <a:p>
            <a:pPr marL="0" indent="0" algn="ctr">
              <a:buNone/>
            </a:pPr>
            <a:r>
              <a:rPr lang="en-US" sz="1000" b="1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(★★)</a:t>
            </a:r>
            <a:endParaRPr lang="en-US" sz="1000"/>
          </a:p>
        </p:txBody>
      </p:sp>
      <p:sp>
        <p:nvSpPr>
          <p:cNvPr id="14" name="Shape 12"/>
          <p:cNvSpPr/>
          <p:nvPr/>
        </p:nvSpPr>
        <p:spPr>
          <a:xfrm>
            <a:off x="6007608" y="1463040"/>
            <a:ext cx="1307592" cy="594360"/>
          </a:xfrm>
          <a:prstGeom prst="rect">
            <a:avLst/>
          </a:prstGeom>
          <a:solidFill>
            <a:srgbClr val="132039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007608" y="1463040"/>
            <a:ext cx="13075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AlphaMissense</a:t>
            </a:r>
            <a:endParaRPr lang="en-US" sz="1000"/>
          </a:p>
          <a:p>
            <a:pPr marL="0" indent="0" algn="ctr">
              <a:buNone/>
            </a:pPr>
            <a:r>
              <a:rPr lang="en-US" sz="1000" b="1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(★)</a:t>
            </a:r>
            <a:endParaRPr lang="en-US" sz="1000"/>
          </a:p>
        </p:txBody>
      </p:sp>
      <p:sp>
        <p:nvSpPr>
          <p:cNvPr id="16" name="Shape 14"/>
          <p:cNvSpPr/>
          <p:nvPr/>
        </p:nvSpPr>
        <p:spPr>
          <a:xfrm>
            <a:off x="7406640" y="1463040"/>
            <a:ext cx="1307592" cy="594360"/>
          </a:xfrm>
          <a:prstGeom prst="rect">
            <a:avLst/>
          </a:prstGeom>
          <a:solidFill>
            <a:srgbClr val="132039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406640" y="1463040"/>
            <a:ext cx="13075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FoldX ΔΔG</a:t>
            </a:r>
            <a:endParaRPr lang="en-US" sz="1000"/>
          </a:p>
          <a:p>
            <a:pPr marL="0" indent="0" algn="ctr">
              <a:buNone/>
            </a:pPr>
            <a:r>
              <a:rPr lang="en-US" sz="1000" b="1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(★)</a:t>
            </a:r>
            <a:endParaRPr lang="en-US" sz="1000"/>
          </a:p>
        </p:txBody>
      </p:sp>
      <p:sp>
        <p:nvSpPr>
          <p:cNvPr id="18" name="Text 16"/>
          <p:cNvSpPr/>
          <p:nvPr/>
        </p:nvSpPr>
        <p:spPr>
          <a:xfrm>
            <a:off x="411480" y="212140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adding e.g. OMIM, PharmGKB, PubMed citations, ENIGMA, dbSNP</a:t>
            </a:r>
            <a:endParaRPr lang="en-US" sz="1050"/>
          </a:p>
        </p:txBody>
      </p:sp>
      <p:sp>
        <p:nvSpPr>
          <p:cNvPr id="19" name="Shape 17"/>
          <p:cNvSpPr/>
          <p:nvPr/>
        </p:nvSpPr>
        <p:spPr>
          <a:xfrm>
            <a:off x="411480" y="2400491"/>
            <a:ext cx="8321040" cy="548640"/>
          </a:xfrm>
          <a:prstGeom prst="rect">
            <a:avLst/>
          </a:prstGeom>
          <a:solidFill>
            <a:srgbClr val="132039"/>
          </a:solidFill>
          <a:ln w="508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11480" y="2395728"/>
            <a:ext cx="438912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11480" y="2395728"/>
            <a:ext cx="438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/>
          </a:p>
        </p:txBody>
      </p:sp>
      <p:sp>
        <p:nvSpPr>
          <p:cNvPr id="22" name="Text 20"/>
          <p:cNvSpPr/>
          <p:nvPr/>
        </p:nvSpPr>
        <p:spPr>
          <a:xfrm>
            <a:off x="914400" y="240372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 the Fetch in VariantDatabaseFetcher</a:t>
            </a:r>
            <a:endParaRPr lang="en-US" sz="1000"/>
          </a:p>
        </p:txBody>
      </p:sp>
      <p:sp>
        <p:nvSpPr>
          <p:cNvPr id="23" name="Text 21"/>
          <p:cNvSpPr/>
          <p:nvPr/>
        </p:nvSpPr>
        <p:spPr>
          <a:xfrm>
            <a:off x="914400" y="2670048"/>
            <a:ext cx="7726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new HTTP GET (or POST) call with an 8-second timeout (matching existing sources). Store the result in a new field in MutationContext. The fetcher runs all sources in parallel — add the new call to the same async block.</a:t>
            </a:r>
            <a:endParaRPr lang="en-US" sz="900"/>
          </a:p>
        </p:txBody>
      </p:sp>
      <p:sp>
        <p:nvSpPr>
          <p:cNvPr id="24" name="Shape 22"/>
          <p:cNvSpPr/>
          <p:nvPr/>
        </p:nvSpPr>
        <p:spPr>
          <a:xfrm>
            <a:off x="411480" y="3017520"/>
            <a:ext cx="8321040" cy="548640"/>
          </a:xfrm>
          <a:prstGeom prst="rect">
            <a:avLst/>
          </a:prstGeom>
          <a:solidFill>
            <a:srgbClr val="132039"/>
          </a:solidFill>
          <a:ln w="508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11480" y="3017520"/>
            <a:ext cx="438912" cy="54864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11480" y="3017520"/>
            <a:ext cx="438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/>
          </a:p>
        </p:txBody>
      </p:sp>
      <p:sp>
        <p:nvSpPr>
          <p:cNvPr id="27" name="Text 25"/>
          <p:cNvSpPr/>
          <p:nvPr/>
        </p:nvSpPr>
        <p:spPr>
          <a:xfrm>
            <a:off x="914400" y="302551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Extend MutationContext</a:t>
            </a:r>
            <a:endParaRPr lang="en-US" sz="1000"/>
          </a:p>
        </p:txBody>
      </p:sp>
      <p:sp>
        <p:nvSpPr>
          <p:cNvPr id="28" name="Text 26"/>
          <p:cNvSpPr/>
          <p:nvPr/>
        </p:nvSpPr>
        <p:spPr>
          <a:xfrm>
            <a:off x="914400" y="3291840"/>
            <a:ext cx="7726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MutationContext is a C++ struct. Add new string or numeric fields for the retrieved data (e.g., omim_id, omim_phenotype, pharmgkb_level). These fields are serialised into the prompt string.</a:t>
            </a:r>
            <a:endParaRPr lang="en-US" sz="900"/>
          </a:p>
        </p:txBody>
      </p:sp>
      <p:sp>
        <p:nvSpPr>
          <p:cNvPr id="29" name="Shape 27"/>
          <p:cNvSpPr/>
          <p:nvPr/>
        </p:nvSpPr>
        <p:spPr>
          <a:xfrm>
            <a:off x="411480" y="3639312"/>
            <a:ext cx="8321040" cy="548640"/>
          </a:xfrm>
          <a:prstGeom prst="rect">
            <a:avLst/>
          </a:prstGeom>
          <a:solidFill>
            <a:srgbClr val="132039"/>
          </a:solidFill>
          <a:ln w="508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11480" y="3639312"/>
            <a:ext cx="438912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11480" y="3639312"/>
            <a:ext cx="438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/>
          </a:p>
        </p:txBody>
      </p:sp>
      <p:sp>
        <p:nvSpPr>
          <p:cNvPr id="32" name="Text 30"/>
          <p:cNvSpPr/>
          <p:nvPr/>
        </p:nvSpPr>
        <p:spPr>
          <a:xfrm>
            <a:off x="914399" y="3628258"/>
            <a:ext cx="38385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 to the System Prompt Evidence Hierarchy</a:t>
            </a:r>
            <a:endParaRPr lang="en-US" sz="1000"/>
          </a:p>
        </p:txBody>
      </p:sp>
      <p:sp>
        <p:nvSpPr>
          <p:cNvPr id="33" name="Text 31"/>
          <p:cNvSpPr/>
          <p:nvPr/>
        </p:nvSpPr>
        <p:spPr>
          <a:xfrm>
            <a:off x="914400" y="3913632"/>
            <a:ext cx="7726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a star rating reflecting curation level: [★★★] for expert-curated clinical facts (OMIM, ENIGMA), [★★] for curated annotations (PharmGKB drug-gene interactions), [★] for computational or population data. Add an interpretive annotation rule (e.g., "PharmGKB level 1A indicates strong pharmacogenomic evidence").</a:t>
            </a:r>
            <a:endParaRPr lang="en-US" sz="900"/>
          </a:p>
        </p:txBody>
      </p:sp>
      <p:sp>
        <p:nvSpPr>
          <p:cNvPr id="34" name="Shape 32"/>
          <p:cNvSpPr/>
          <p:nvPr/>
        </p:nvSpPr>
        <p:spPr>
          <a:xfrm>
            <a:off x="411480" y="4261104"/>
            <a:ext cx="8321040" cy="548640"/>
          </a:xfrm>
          <a:prstGeom prst="rect">
            <a:avLst/>
          </a:prstGeom>
          <a:solidFill>
            <a:srgbClr val="132039"/>
          </a:solidFill>
          <a:ln w="508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11480" y="4261104"/>
            <a:ext cx="438912" cy="5486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11480" y="4352544"/>
            <a:ext cx="438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/>
          </a:p>
        </p:txBody>
      </p:sp>
      <p:sp>
        <p:nvSpPr>
          <p:cNvPr id="37" name="Text 35"/>
          <p:cNvSpPr/>
          <p:nvPr/>
        </p:nvSpPr>
        <p:spPr>
          <a:xfrm>
            <a:off x="914400" y="4273865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Monitor the 1024-Token Output Budget</a:t>
            </a:r>
            <a:endParaRPr lang="en-US" sz="1000"/>
          </a:p>
        </p:txBody>
      </p:sp>
      <p:sp>
        <p:nvSpPr>
          <p:cNvPr id="38" name="Text 36"/>
          <p:cNvSpPr/>
          <p:nvPr/>
        </p:nvSpPr>
        <p:spPr>
          <a:xfrm>
            <a:off x="914400" y="4535424"/>
            <a:ext cx="7726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new source adds tokens to the user message. The model response is capped at 1024 tokens. Adding multiple rich sources can push the response to truncation — triggering the section-presence validation warning. If this occurs, either increase max_tokens or compress the prompt template.</a:t>
            </a:r>
            <a:endParaRPr lang="en-US" sz="900"/>
          </a:p>
        </p:txBody>
      </p:sp>
      <p:sp>
        <p:nvSpPr>
          <p:cNvPr id="39" name="Shape 37"/>
          <p:cNvSpPr/>
          <p:nvPr/>
        </p:nvSpPr>
        <p:spPr>
          <a:xfrm>
            <a:off x="411480" y="4855464"/>
            <a:ext cx="8321040" cy="274320"/>
          </a:xfrm>
          <a:prstGeom prst="rect">
            <a:avLst/>
          </a:prstGeom>
          <a:solidFill>
            <a:srgbClr val="0D3B36"/>
          </a:solidFill>
          <a:ln w="889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02920" y="4873752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guardrail post-processing (disclaimer enforcement, clinical language filter, hedging) is source-agnostic — it does not need modification.</a:t>
            </a:r>
            <a:endParaRPr lang="en-US" sz="10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845E9-F851-B671-CF38-31EC731FC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10970F7-3AAF-7A3F-4C87-BB365BF049A0}"/>
              </a:ext>
            </a:extLst>
          </p:cNvPr>
          <p:cNvSpPr/>
          <p:nvPr/>
        </p:nvSpPr>
        <p:spPr>
          <a:xfrm>
            <a:off x="502920" y="20116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chemeClr val="tx1">
                    <a:lumMod val="85000"/>
                    <a:lumOff val="15000"/>
                  </a:scheme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Q: Why a biologist should not build this?</a:t>
            </a:r>
            <a:endParaRPr lang="en-US" sz="28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A5AD124-FEB2-7156-8F3F-0460C7138BEC}"/>
              </a:ext>
            </a:extLst>
          </p:cNvPr>
          <p:cNvSpPr/>
          <p:nvPr/>
        </p:nvSpPr>
        <p:spPr>
          <a:xfrm>
            <a:off x="502920" y="85039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i="1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DataLens</a:t>
            </a:r>
            <a:r>
              <a:rPr lang="en-US" sz="14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requires simultaneous expertise across five domains that rarely overlap in one person.</a:t>
            </a:r>
            <a:endParaRPr lang="en-US" sz="14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D5CD47B-AAE3-79D7-A2C1-2A520921161D}"/>
              </a:ext>
            </a:extLst>
          </p:cNvPr>
          <p:cNvSpPr/>
          <p:nvPr/>
        </p:nvSpPr>
        <p:spPr>
          <a:xfrm>
            <a:off x="502920" y="804672"/>
            <a:ext cx="100584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4">
            <a:extLst>
              <a:ext uri="{FF2B5EF4-FFF2-40B4-BE49-F238E27FC236}">
                <a16:creationId xmlns:a16="http://schemas.microsoft.com/office/drawing/2014/main" id="{587D8520-7A93-10B2-6519-9B461D336C7E}"/>
              </a:ext>
            </a:extLst>
          </p:cNvPr>
          <p:cNvSpPr/>
          <p:nvPr/>
        </p:nvSpPr>
        <p:spPr>
          <a:xfrm>
            <a:off x="457200" y="1287780"/>
            <a:ext cx="8183880" cy="2968752"/>
          </a:xfrm>
          <a:prstGeom prst="rect">
            <a:avLst/>
          </a:prstGeom>
          <a:solidFill>
            <a:srgbClr val="F0F4F8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17">
            <a:extLst>
              <a:ext uri="{FF2B5EF4-FFF2-40B4-BE49-F238E27FC236}">
                <a16:creationId xmlns:a16="http://schemas.microsoft.com/office/drawing/2014/main" id="{6032005E-436F-C821-9EFC-C2FFBC1CE206}"/>
              </a:ext>
            </a:extLst>
          </p:cNvPr>
          <p:cNvSpPr/>
          <p:nvPr/>
        </p:nvSpPr>
        <p:spPr>
          <a:xfrm>
            <a:off x="647700" y="1410080"/>
            <a:ext cx="7780020" cy="2765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/>
              <a:t>While a biologist has the precise domain expertise to know exactly </a:t>
            </a:r>
            <a:r>
              <a:rPr lang="en-US" sz="1600" b="1"/>
              <a:t>what</a:t>
            </a:r>
            <a:r>
              <a:rPr lang="en-US" sz="1600"/>
              <a:t> data needs to be analyzed, building a tool like </a:t>
            </a:r>
            <a:r>
              <a:rPr lang="en-US" sz="1600" err="1"/>
              <a:t>DataLens</a:t>
            </a:r>
            <a:r>
              <a:rPr lang="en-US" sz="1600"/>
              <a:t> requires specialized knowledge in </a:t>
            </a:r>
            <a:r>
              <a:rPr lang="en-US" sz="1600" b="1"/>
              <a:t>how</a:t>
            </a:r>
            <a:r>
              <a:rPr lang="en-US" sz="1600"/>
              <a:t> to architect it.</a:t>
            </a:r>
          </a:p>
          <a:p>
            <a:endParaRPr 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First, there is a significant barrier to entry in graphics programming. We are rendering highly complex 3D protein structures interactively, which requires strict performance optimization and memory management to prevent the system from bottlenecking.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Second, </a:t>
            </a:r>
            <a:r>
              <a:rPr lang="en-US" sz="1600" err="1"/>
              <a:t>DataLens</a:t>
            </a:r>
            <a:r>
              <a:rPr lang="en-US" sz="1600"/>
              <a:t> isn't just a standalone script; it's a unified platform. Integrating multiple underlying computational tools into a single, seamless environment requires dedicated software engineering and systems integration. A biologist could certainly conceptualize the workflow, but engineering the infrastructure to make it scalable, performant, and reliable requires a fundamentally different technical toolkit.</a:t>
            </a:r>
          </a:p>
        </p:txBody>
      </p:sp>
      <p:sp>
        <p:nvSpPr>
          <p:cNvPr id="31" name="Shape 22">
            <a:extLst>
              <a:ext uri="{FF2B5EF4-FFF2-40B4-BE49-F238E27FC236}">
                <a16:creationId xmlns:a16="http://schemas.microsoft.com/office/drawing/2014/main" id="{7F6B0B26-4590-91AA-02BD-CFD010F3F654}"/>
              </a:ext>
            </a:extLst>
          </p:cNvPr>
          <p:cNvSpPr/>
          <p:nvPr/>
        </p:nvSpPr>
        <p:spPr>
          <a:xfrm>
            <a:off x="457200" y="4362450"/>
            <a:ext cx="8229600" cy="4572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3">
            <a:extLst>
              <a:ext uri="{FF2B5EF4-FFF2-40B4-BE49-F238E27FC236}">
                <a16:creationId xmlns:a16="http://schemas.microsoft.com/office/drawing/2014/main" id="{9CBBC73A-AAF9-C72A-EE06-D2640C559854}"/>
              </a:ext>
            </a:extLst>
          </p:cNvPr>
          <p:cNvSpPr/>
          <p:nvPr/>
        </p:nvSpPr>
        <p:spPr>
          <a:xfrm>
            <a:off x="457200" y="436245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500" b="1" i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biologist's time is better spent doing biology. DataLens exists so they can.</a:t>
            </a: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285129832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6E37B-FE2E-297F-98CD-6D8E4858C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901E1B5-DCE2-CEBD-9C48-D4689B9E2DB4}"/>
              </a:ext>
            </a:extLst>
          </p:cNvPr>
          <p:cNvSpPr/>
          <p:nvPr/>
        </p:nvSpPr>
        <p:spPr>
          <a:xfrm>
            <a:off x="502920" y="20116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chemeClr val="tx1">
                    <a:lumMod val="85000"/>
                    <a:lumOff val="15000"/>
                  </a:scheme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Q: Why a biologist should not build this? (</a:t>
            </a:r>
            <a:r>
              <a:rPr lang="en-US" sz="2800" b="1" err="1">
                <a:solidFill>
                  <a:schemeClr val="tx1">
                    <a:lumMod val="85000"/>
                    <a:lumOff val="15000"/>
                  </a:scheme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</a:t>
            </a:r>
            <a:r>
              <a:rPr lang="en-US" sz="2800" b="1">
                <a:solidFill>
                  <a:schemeClr val="tx1">
                    <a:lumMod val="85000"/>
                    <a:lumOff val="15000"/>
                  </a:scheme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)</a:t>
            </a:r>
            <a:endParaRPr lang="en-US" sz="28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BD09209-FCEE-A73D-E63D-1D0195A98B05}"/>
              </a:ext>
            </a:extLst>
          </p:cNvPr>
          <p:cNvSpPr/>
          <p:nvPr/>
        </p:nvSpPr>
        <p:spPr>
          <a:xfrm>
            <a:off x="502920" y="85039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i="1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DataLens</a:t>
            </a:r>
            <a:r>
              <a:rPr lang="en-US" sz="14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requires simultaneous expertise across five domains that rarely overlap in one person.</a:t>
            </a:r>
            <a:endParaRPr lang="en-US" sz="14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CC4FFC1-0134-299F-CFD2-A3C02C4C6CD4}"/>
              </a:ext>
            </a:extLst>
          </p:cNvPr>
          <p:cNvSpPr/>
          <p:nvPr/>
        </p:nvSpPr>
        <p:spPr>
          <a:xfrm>
            <a:off x="502920" y="804672"/>
            <a:ext cx="100584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2">
            <a:extLst>
              <a:ext uri="{FF2B5EF4-FFF2-40B4-BE49-F238E27FC236}">
                <a16:creationId xmlns:a16="http://schemas.microsoft.com/office/drawing/2014/main" id="{78A29430-1DD8-7496-AE6C-695DF146F0C5}"/>
              </a:ext>
            </a:extLst>
          </p:cNvPr>
          <p:cNvSpPr/>
          <p:nvPr/>
        </p:nvSpPr>
        <p:spPr>
          <a:xfrm>
            <a:off x="457200" y="1207770"/>
            <a:ext cx="2560320" cy="1280160"/>
          </a:xfrm>
          <a:prstGeom prst="rect">
            <a:avLst/>
          </a:prstGeom>
          <a:solidFill>
            <a:srgbClr val="F0F4F8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1F184988-D502-A13B-70F6-025602C1D1E9}"/>
              </a:ext>
            </a:extLst>
          </p:cNvPr>
          <p:cNvSpPr/>
          <p:nvPr/>
        </p:nvSpPr>
        <p:spPr>
          <a:xfrm>
            <a:off x="457200" y="1207770"/>
            <a:ext cx="2560320" cy="347472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57A01FE3-BC37-064A-625D-E74BD4BCAB79}"/>
              </a:ext>
            </a:extLst>
          </p:cNvPr>
          <p:cNvSpPr/>
          <p:nvPr/>
        </p:nvSpPr>
        <p:spPr>
          <a:xfrm>
            <a:off x="457200" y="120777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Graphics</a:t>
            </a:r>
            <a:endParaRPr lang="en-US" sz="1400"/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7EE9DEF5-C5C5-ED73-EC75-FB42C7E95063}"/>
              </a:ext>
            </a:extLst>
          </p:cNvPr>
          <p:cNvSpPr/>
          <p:nvPr/>
        </p:nvSpPr>
        <p:spPr>
          <a:xfrm>
            <a:off x="594360" y="1646682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5000"/>
              </a:lnSpc>
              <a:buNone/>
            </a:pPr>
            <a:r>
              <a:rPr lang="en-US" sz="12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C++/OpenGL real-time rendering of 50K+ atoms via instanced draw calls at 60 FPS</a:t>
            </a:r>
            <a:endParaRPr lang="en-US" sz="1200"/>
          </a:p>
        </p:txBody>
      </p:sp>
      <p:sp>
        <p:nvSpPr>
          <p:cNvPr id="15" name="Shape 6">
            <a:extLst>
              <a:ext uri="{FF2B5EF4-FFF2-40B4-BE49-F238E27FC236}">
                <a16:creationId xmlns:a16="http://schemas.microsoft.com/office/drawing/2014/main" id="{83CFDC03-76EA-2F93-4BC6-019069A4608A}"/>
              </a:ext>
            </a:extLst>
          </p:cNvPr>
          <p:cNvSpPr/>
          <p:nvPr/>
        </p:nvSpPr>
        <p:spPr>
          <a:xfrm>
            <a:off x="3291840" y="1207770"/>
            <a:ext cx="2560320" cy="1280160"/>
          </a:xfrm>
          <a:prstGeom prst="rect">
            <a:avLst/>
          </a:prstGeom>
          <a:solidFill>
            <a:srgbClr val="F0F4F8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D83AC08B-FE02-4FC1-A432-237BEA169A44}"/>
              </a:ext>
            </a:extLst>
          </p:cNvPr>
          <p:cNvSpPr/>
          <p:nvPr/>
        </p:nvSpPr>
        <p:spPr>
          <a:xfrm>
            <a:off x="3291840" y="1207770"/>
            <a:ext cx="2560320" cy="347472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2DC94CB7-34A3-ABC7-9169-F7E310FFC17B}"/>
              </a:ext>
            </a:extLst>
          </p:cNvPr>
          <p:cNvSpPr/>
          <p:nvPr/>
        </p:nvSpPr>
        <p:spPr>
          <a:xfrm>
            <a:off x="3291840" y="120777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Engineering</a:t>
            </a:r>
            <a:endParaRPr lang="en-US" sz="1400"/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A6F32F92-DE77-E2B3-2A45-677ECFB4DBD5}"/>
              </a:ext>
            </a:extLst>
          </p:cNvPr>
          <p:cNvSpPr/>
          <p:nvPr/>
        </p:nvSpPr>
        <p:spPr>
          <a:xfrm>
            <a:off x="3429000" y="1646682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5000"/>
              </a:lnSpc>
              <a:buNone/>
            </a:pPr>
            <a:r>
              <a:rPr lang="en-US" sz="12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216M-row PostgreSQL with composite B-tree indexing for sub-second variant lookup</a:t>
            </a:r>
            <a:endParaRPr lang="en-US" sz="1200"/>
          </a:p>
        </p:txBody>
      </p:sp>
      <p:sp>
        <p:nvSpPr>
          <p:cNvPr id="19" name="Shape 10">
            <a:extLst>
              <a:ext uri="{FF2B5EF4-FFF2-40B4-BE49-F238E27FC236}">
                <a16:creationId xmlns:a16="http://schemas.microsoft.com/office/drawing/2014/main" id="{04F863FB-7E17-C057-4C95-A7D57D67628F}"/>
              </a:ext>
            </a:extLst>
          </p:cNvPr>
          <p:cNvSpPr/>
          <p:nvPr/>
        </p:nvSpPr>
        <p:spPr>
          <a:xfrm>
            <a:off x="6126480" y="1207770"/>
            <a:ext cx="2560320" cy="1280160"/>
          </a:xfrm>
          <a:prstGeom prst="rect">
            <a:avLst/>
          </a:prstGeom>
          <a:solidFill>
            <a:srgbClr val="F0F4F8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1">
            <a:extLst>
              <a:ext uri="{FF2B5EF4-FFF2-40B4-BE49-F238E27FC236}">
                <a16:creationId xmlns:a16="http://schemas.microsoft.com/office/drawing/2014/main" id="{881E1C19-BCEA-8559-31AD-D92C835D2294}"/>
              </a:ext>
            </a:extLst>
          </p:cNvPr>
          <p:cNvSpPr/>
          <p:nvPr/>
        </p:nvSpPr>
        <p:spPr>
          <a:xfrm>
            <a:off x="6126480" y="1207770"/>
            <a:ext cx="2560320" cy="347472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2">
            <a:extLst>
              <a:ext uri="{FF2B5EF4-FFF2-40B4-BE49-F238E27FC236}">
                <a16:creationId xmlns:a16="http://schemas.microsoft.com/office/drawing/2014/main" id="{DC1222CD-1C90-A87C-081F-372569D3C3B6}"/>
              </a:ext>
            </a:extLst>
          </p:cNvPr>
          <p:cNvSpPr/>
          <p:nvPr/>
        </p:nvSpPr>
        <p:spPr>
          <a:xfrm>
            <a:off x="6126480" y="120777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Translation</a:t>
            </a:r>
            <a:endParaRPr lang="en-US" sz="1400"/>
          </a:p>
        </p:txBody>
      </p:sp>
      <p:sp>
        <p:nvSpPr>
          <p:cNvPr id="22" name="Text 13">
            <a:extLst>
              <a:ext uri="{FF2B5EF4-FFF2-40B4-BE49-F238E27FC236}">
                <a16:creationId xmlns:a16="http://schemas.microsoft.com/office/drawing/2014/main" id="{00F1D5B0-D45B-AD63-997C-EF9919B5419B}"/>
              </a:ext>
            </a:extLst>
          </p:cNvPr>
          <p:cNvSpPr/>
          <p:nvPr/>
        </p:nvSpPr>
        <p:spPr>
          <a:xfrm>
            <a:off x="6263640" y="1646682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5000"/>
              </a:lnSpc>
              <a:buNone/>
            </a:pPr>
            <a:r>
              <a:rPr lang="en-US" sz="12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SIFTS-based PDB↔UniProt mapping with insertion codes, gaps, and non-sequential numbering</a:t>
            </a:r>
            <a:endParaRPr lang="en-US" sz="1200"/>
          </a:p>
        </p:txBody>
      </p:sp>
      <p:sp>
        <p:nvSpPr>
          <p:cNvPr id="23" name="Shape 14">
            <a:extLst>
              <a:ext uri="{FF2B5EF4-FFF2-40B4-BE49-F238E27FC236}">
                <a16:creationId xmlns:a16="http://schemas.microsoft.com/office/drawing/2014/main" id="{E92F515D-A1FE-BDFC-8889-9EB29288BE97}"/>
              </a:ext>
            </a:extLst>
          </p:cNvPr>
          <p:cNvSpPr/>
          <p:nvPr/>
        </p:nvSpPr>
        <p:spPr>
          <a:xfrm>
            <a:off x="457200" y="2716530"/>
            <a:ext cx="2560320" cy="1280160"/>
          </a:xfrm>
          <a:prstGeom prst="rect">
            <a:avLst/>
          </a:prstGeom>
          <a:solidFill>
            <a:srgbClr val="F0F4F8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5">
            <a:extLst>
              <a:ext uri="{FF2B5EF4-FFF2-40B4-BE49-F238E27FC236}">
                <a16:creationId xmlns:a16="http://schemas.microsoft.com/office/drawing/2014/main" id="{C1FFE27E-B23B-CE88-18D7-B76A85F77517}"/>
              </a:ext>
            </a:extLst>
          </p:cNvPr>
          <p:cNvSpPr/>
          <p:nvPr/>
        </p:nvSpPr>
        <p:spPr>
          <a:xfrm>
            <a:off x="457200" y="2716530"/>
            <a:ext cx="2560320" cy="347472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16">
            <a:extLst>
              <a:ext uri="{FF2B5EF4-FFF2-40B4-BE49-F238E27FC236}">
                <a16:creationId xmlns:a16="http://schemas.microsoft.com/office/drawing/2014/main" id="{D6B246E5-B5A1-F51E-0E52-A6D0C42BC7DB}"/>
              </a:ext>
            </a:extLst>
          </p:cNvPr>
          <p:cNvSpPr/>
          <p:nvPr/>
        </p:nvSpPr>
        <p:spPr>
          <a:xfrm>
            <a:off x="457200" y="271653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Architecture</a:t>
            </a:r>
            <a:endParaRPr lang="en-US" sz="1400"/>
          </a:p>
        </p:txBody>
      </p:sp>
      <p:sp>
        <p:nvSpPr>
          <p:cNvPr id="26" name="Text 17">
            <a:extLst>
              <a:ext uri="{FF2B5EF4-FFF2-40B4-BE49-F238E27FC236}">
                <a16:creationId xmlns:a16="http://schemas.microsoft.com/office/drawing/2014/main" id="{AB4B5872-A8EE-A478-4E71-6F13B43DD7E5}"/>
              </a:ext>
            </a:extLst>
          </p:cNvPr>
          <p:cNvSpPr/>
          <p:nvPr/>
        </p:nvSpPr>
        <p:spPr>
          <a:xfrm>
            <a:off x="594360" y="3155442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5000"/>
              </a:lnSpc>
              <a:buNone/>
            </a:pPr>
            <a:r>
              <a:rPr lang="en-US" sz="12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connecting a compiled C++ frontend to a Python async backend across languages</a:t>
            </a:r>
            <a:endParaRPr lang="en-US" sz="1200"/>
          </a:p>
        </p:txBody>
      </p:sp>
      <p:sp>
        <p:nvSpPr>
          <p:cNvPr id="27" name="Shape 18">
            <a:extLst>
              <a:ext uri="{FF2B5EF4-FFF2-40B4-BE49-F238E27FC236}">
                <a16:creationId xmlns:a16="http://schemas.microsoft.com/office/drawing/2014/main" id="{D98DEE7F-C1C4-AC40-C3E1-2839002848D9}"/>
              </a:ext>
            </a:extLst>
          </p:cNvPr>
          <p:cNvSpPr/>
          <p:nvPr/>
        </p:nvSpPr>
        <p:spPr>
          <a:xfrm>
            <a:off x="3291840" y="2716530"/>
            <a:ext cx="2560320" cy="1280160"/>
          </a:xfrm>
          <a:prstGeom prst="rect">
            <a:avLst/>
          </a:prstGeom>
          <a:solidFill>
            <a:srgbClr val="F0F4F8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19">
            <a:extLst>
              <a:ext uri="{FF2B5EF4-FFF2-40B4-BE49-F238E27FC236}">
                <a16:creationId xmlns:a16="http://schemas.microsoft.com/office/drawing/2014/main" id="{764805A5-3CEA-5185-5C59-93243B9D0BD2}"/>
              </a:ext>
            </a:extLst>
          </p:cNvPr>
          <p:cNvSpPr/>
          <p:nvPr/>
        </p:nvSpPr>
        <p:spPr>
          <a:xfrm>
            <a:off x="3291840" y="2716530"/>
            <a:ext cx="2560320" cy="347472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0">
            <a:extLst>
              <a:ext uri="{FF2B5EF4-FFF2-40B4-BE49-F238E27FC236}">
                <a16:creationId xmlns:a16="http://schemas.microsoft.com/office/drawing/2014/main" id="{5CB4392E-D678-485B-66F6-EF3586CBD549}"/>
              </a:ext>
            </a:extLst>
          </p:cNvPr>
          <p:cNvSpPr/>
          <p:nvPr/>
        </p:nvSpPr>
        <p:spPr>
          <a:xfrm>
            <a:off x="3291840" y="271653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Integration</a:t>
            </a:r>
            <a:endParaRPr lang="en-US" sz="1400"/>
          </a:p>
        </p:txBody>
      </p:sp>
      <p:sp>
        <p:nvSpPr>
          <p:cNvPr id="30" name="Text 21">
            <a:extLst>
              <a:ext uri="{FF2B5EF4-FFF2-40B4-BE49-F238E27FC236}">
                <a16:creationId xmlns:a16="http://schemas.microsoft.com/office/drawing/2014/main" id="{C0681735-3EC2-3503-9597-9CF692678D52}"/>
              </a:ext>
            </a:extLst>
          </p:cNvPr>
          <p:cNvSpPr/>
          <p:nvPr/>
        </p:nvSpPr>
        <p:spPr>
          <a:xfrm>
            <a:off x="3429000" y="3155442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5000"/>
              </a:lnSpc>
              <a:buNone/>
            </a:pPr>
            <a:r>
              <a:rPr lang="en-US" sz="12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prompt engineering that synthesizes retrieved facts without hallucination</a:t>
            </a:r>
            <a:endParaRPr lang="en-US" sz="1200"/>
          </a:p>
        </p:txBody>
      </p:sp>
      <p:sp>
        <p:nvSpPr>
          <p:cNvPr id="31" name="Shape 22">
            <a:extLst>
              <a:ext uri="{FF2B5EF4-FFF2-40B4-BE49-F238E27FC236}">
                <a16:creationId xmlns:a16="http://schemas.microsoft.com/office/drawing/2014/main" id="{5C417DBD-09E8-95AF-684C-D586C9DE0BD8}"/>
              </a:ext>
            </a:extLst>
          </p:cNvPr>
          <p:cNvSpPr/>
          <p:nvPr/>
        </p:nvSpPr>
        <p:spPr>
          <a:xfrm>
            <a:off x="457200" y="4362450"/>
            <a:ext cx="8229600" cy="4572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3">
            <a:extLst>
              <a:ext uri="{FF2B5EF4-FFF2-40B4-BE49-F238E27FC236}">
                <a16:creationId xmlns:a16="http://schemas.microsoft.com/office/drawing/2014/main" id="{D58DFCA7-119B-49B1-BE89-291E99D45E70}"/>
              </a:ext>
            </a:extLst>
          </p:cNvPr>
          <p:cNvSpPr/>
          <p:nvPr/>
        </p:nvSpPr>
        <p:spPr>
          <a:xfrm>
            <a:off x="457200" y="436245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500" b="1" i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biologist's time is better spent doing biology. DataLens exists so they can.</a:t>
            </a: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15808519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Q: Amortized Cost — From O(N) to Near-O(1) per Variant</a:t>
            </a:r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502920" y="85039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DataLens inverts the cost structure of mutation analysis</a:t>
            </a:r>
            <a:endParaRPr lang="en-US" sz="1300"/>
          </a:p>
        </p:txBody>
      </p:sp>
      <p:sp>
        <p:nvSpPr>
          <p:cNvPr id="4" name="Shape 2"/>
          <p:cNvSpPr/>
          <p:nvPr/>
        </p:nvSpPr>
        <p:spPr>
          <a:xfrm>
            <a:off x="502920" y="804672"/>
            <a:ext cx="100584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115568"/>
            <a:ext cx="4041648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115568"/>
            <a:ext cx="4041648" cy="402336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115568"/>
            <a:ext cx="3858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Traditional Workflow (HOPE / manual tools)</a:t>
            </a:r>
            <a:endParaRPr lang="en-US" sz="1200"/>
          </a:p>
        </p:txBody>
      </p:sp>
      <p:sp>
        <p:nvSpPr>
          <p:cNvPr id="8" name="Shape 6"/>
          <p:cNvSpPr/>
          <p:nvPr/>
        </p:nvSpPr>
        <p:spPr>
          <a:xfrm>
            <a:off x="502920" y="1591056"/>
            <a:ext cx="3840480" cy="36576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160934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Cost per variant: ~5 min — every time</a:t>
            </a:r>
            <a:endParaRPr lang="en-US" sz="1150"/>
          </a:p>
        </p:txBody>
      </p:sp>
      <p:sp>
        <p:nvSpPr>
          <p:cNvPr id="10" name="Text 8"/>
          <p:cNvSpPr/>
          <p:nvPr/>
        </p:nvSpPr>
        <p:spPr>
          <a:xfrm>
            <a:off x="566928" y="200710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Variant  1:    ~5 min</a:t>
            </a:r>
            <a:endParaRPr lang="en-US" sz="1000"/>
          </a:p>
        </p:txBody>
      </p:sp>
      <p:sp>
        <p:nvSpPr>
          <p:cNvPr id="11" name="Text 9"/>
          <p:cNvSpPr/>
          <p:nvPr/>
        </p:nvSpPr>
        <p:spPr>
          <a:xfrm>
            <a:off x="566928" y="222199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Variant  2:    ~5 min</a:t>
            </a:r>
            <a:endParaRPr lang="en-US" sz="1000"/>
          </a:p>
        </p:txBody>
      </p:sp>
      <p:sp>
        <p:nvSpPr>
          <p:cNvPr id="12" name="Text 10"/>
          <p:cNvSpPr/>
          <p:nvPr/>
        </p:nvSpPr>
        <p:spPr>
          <a:xfrm>
            <a:off x="566928" y="242316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Variant 10:    ~5 min</a:t>
            </a:r>
            <a:endParaRPr lang="en-US" sz="1000"/>
          </a:p>
        </p:txBody>
      </p:sp>
      <p:sp>
        <p:nvSpPr>
          <p:cNvPr id="13" name="Text 11"/>
          <p:cNvSpPr/>
          <p:nvPr/>
        </p:nvSpPr>
        <p:spPr>
          <a:xfrm>
            <a:off x="566928" y="266166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Variant 50:    ~5 min</a:t>
            </a:r>
            <a:endParaRPr lang="en-US" sz="1000"/>
          </a:p>
        </p:txBody>
      </p:sp>
      <p:sp>
        <p:nvSpPr>
          <p:cNvPr id="14" name="Text 12"/>
          <p:cNvSpPr/>
          <p:nvPr/>
        </p:nvSpPr>
        <p:spPr>
          <a:xfrm>
            <a:off x="566928" y="279044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─────────────────────</a:t>
            </a:r>
            <a:endParaRPr lang="en-US" sz="1150"/>
          </a:p>
        </p:txBody>
      </p:sp>
      <p:sp>
        <p:nvSpPr>
          <p:cNvPr id="15" name="Text 13"/>
          <p:cNvSpPr/>
          <p:nvPr/>
        </p:nvSpPr>
        <p:spPr>
          <a:xfrm>
            <a:off x="594360" y="298399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 variants:  ~250 min</a:t>
            </a:r>
            <a:endParaRPr lang="en-US" sz="1150"/>
          </a:p>
        </p:txBody>
      </p:sp>
      <p:sp>
        <p:nvSpPr>
          <p:cNvPr id="16" name="Text 14"/>
          <p:cNvSpPr/>
          <p:nvPr/>
        </p:nvSpPr>
        <p:spPr>
          <a:xfrm>
            <a:off x="530352" y="3194304"/>
            <a:ext cx="3858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 linear — no amortisation, no caching</a:t>
            </a:r>
            <a:endParaRPr lang="en-US" sz="1000"/>
          </a:p>
        </p:txBody>
      </p:sp>
      <p:sp>
        <p:nvSpPr>
          <p:cNvPr id="17" name="Shape 15"/>
          <p:cNvSpPr/>
          <p:nvPr/>
        </p:nvSpPr>
        <p:spPr>
          <a:xfrm>
            <a:off x="4690872" y="1115568"/>
            <a:ext cx="4041648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690872" y="1115568"/>
            <a:ext cx="4041648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82312" y="1115568"/>
            <a:ext cx="3858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DataLens</a:t>
            </a:r>
            <a:endParaRPr lang="en-US" sz="1200"/>
          </a:p>
        </p:txBody>
      </p:sp>
      <p:sp>
        <p:nvSpPr>
          <p:cNvPr id="20" name="Shape 18"/>
          <p:cNvSpPr/>
          <p:nvPr/>
        </p:nvSpPr>
        <p:spPr>
          <a:xfrm>
            <a:off x="4782312" y="1591056"/>
            <a:ext cx="3840480" cy="36576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73752" y="160934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 once · ~10 sec per variant after</a:t>
            </a:r>
            <a:endParaRPr lang="en-US" sz="1150"/>
          </a:p>
        </p:txBody>
      </p:sp>
      <p:sp>
        <p:nvSpPr>
          <p:cNvPr id="22" name="Text 20"/>
          <p:cNvSpPr/>
          <p:nvPr/>
        </p:nvSpPr>
        <p:spPr>
          <a:xfrm>
            <a:off x="4754880" y="2029968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Protein load + RepairPDB:  ~8 min (once)</a:t>
            </a:r>
            <a:endParaRPr lang="en-US" sz="800"/>
          </a:p>
        </p:txBody>
      </p:sp>
      <p:sp>
        <p:nvSpPr>
          <p:cNvPr id="23" name="Text 21"/>
          <p:cNvSpPr/>
          <p:nvPr/>
        </p:nvSpPr>
        <p:spPr>
          <a:xfrm>
            <a:off x="4754880" y="2214372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Variant  1:    ~10 sec</a:t>
            </a:r>
            <a:endParaRPr lang="en-US" sz="1000"/>
          </a:p>
        </p:txBody>
      </p:sp>
      <p:sp>
        <p:nvSpPr>
          <p:cNvPr id="24" name="Text 22"/>
          <p:cNvSpPr/>
          <p:nvPr/>
        </p:nvSpPr>
        <p:spPr>
          <a:xfrm>
            <a:off x="4754880" y="2444496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Variant  2:    ~10 sec</a:t>
            </a:r>
            <a:endParaRPr lang="en-US" sz="1000"/>
          </a:p>
        </p:txBody>
      </p:sp>
      <p:sp>
        <p:nvSpPr>
          <p:cNvPr id="25" name="Text 23"/>
          <p:cNvSpPr/>
          <p:nvPr/>
        </p:nvSpPr>
        <p:spPr>
          <a:xfrm>
            <a:off x="4754880" y="2682240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Variant 50:    ~10 sec</a:t>
            </a:r>
            <a:endParaRPr lang="en-US" sz="1000"/>
          </a:p>
        </p:txBody>
      </p:sp>
      <p:sp>
        <p:nvSpPr>
          <p:cNvPr id="26" name="Text 24"/>
          <p:cNvSpPr/>
          <p:nvPr/>
        </p:nvSpPr>
        <p:spPr>
          <a:xfrm>
            <a:off x="4754880" y="2813304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────────────────────────────────────</a:t>
            </a:r>
            <a:endParaRPr lang="en-US" sz="1150"/>
          </a:p>
        </p:txBody>
      </p:sp>
      <p:sp>
        <p:nvSpPr>
          <p:cNvPr id="27" name="Text 25"/>
          <p:cNvSpPr/>
          <p:nvPr/>
        </p:nvSpPr>
        <p:spPr>
          <a:xfrm>
            <a:off x="4786884" y="2996184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 variants:  ~18 min total</a:t>
            </a:r>
            <a:endParaRPr lang="en-US" sz="1150"/>
          </a:p>
        </p:txBody>
      </p:sp>
      <p:sp>
        <p:nvSpPr>
          <p:cNvPr id="28" name="Text 26"/>
          <p:cNvSpPr/>
          <p:nvPr/>
        </p:nvSpPr>
        <p:spPr>
          <a:xfrm>
            <a:off x="4786884" y="3264408"/>
            <a:ext cx="3858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Amortized O(1) marginal cost per variant</a:t>
            </a:r>
            <a:endParaRPr lang="en-US" sz="1000"/>
          </a:p>
        </p:txBody>
      </p:sp>
      <p:sp>
        <p:nvSpPr>
          <p:cNvPr id="29" name="Shape 27"/>
          <p:cNvSpPr/>
          <p:nvPr/>
        </p:nvSpPr>
        <p:spPr>
          <a:xfrm>
            <a:off x="411480" y="3646932"/>
            <a:ext cx="8321040" cy="40233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02920" y="368350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 variants — biologist screening candidates:</a:t>
            </a:r>
            <a:endParaRPr lang="en-US" sz="1200"/>
          </a:p>
        </p:txBody>
      </p:sp>
      <p:sp>
        <p:nvSpPr>
          <p:cNvPr id="31" name="Text 29"/>
          <p:cNvSpPr/>
          <p:nvPr/>
        </p:nvSpPr>
        <p:spPr>
          <a:xfrm>
            <a:off x="3840480" y="368350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Traditional: ~250 min</a:t>
            </a:r>
            <a:endParaRPr lang="en-US" sz="1200"/>
          </a:p>
        </p:txBody>
      </p:sp>
      <p:sp>
        <p:nvSpPr>
          <p:cNvPr id="32" name="Text 30"/>
          <p:cNvSpPr/>
          <p:nvPr/>
        </p:nvSpPr>
        <p:spPr>
          <a:xfrm>
            <a:off x="5989320" y="36835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DataLens: ~18 min</a:t>
            </a:r>
            <a:endParaRPr lang="en-US" sz="1200"/>
          </a:p>
        </p:txBody>
      </p:sp>
      <p:sp>
        <p:nvSpPr>
          <p:cNvPr id="33" name="Text 31"/>
          <p:cNvSpPr/>
          <p:nvPr/>
        </p:nvSpPr>
        <p:spPr>
          <a:xfrm>
            <a:off x="7863840" y="3950208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14× faster</a:t>
            </a:r>
            <a:endParaRPr lang="en-US" sz="1100"/>
          </a:p>
        </p:txBody>
      </p:sp>
      <p:sp>
        <p:nvSpPr>
          <p:cNvPr id="34" name="Shape 32"/>
          <p:cNvSpPr/>
          <p:nvPr/>
        </p:nvSpPr>
        <p:spPr>
          <a:xfrm>
            <a:off x="406698" y="4230414"/>
            <a:ext cx="2002117" cy="809209"/>
          </a:xfrm>
          <a:prstGeom prst="rect">
            <a:avLst/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02336" y="4226052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EF4444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O(N)</a:t>
            </a:r>
            <a:endParaRPr lang="en-US" sz="2000">
              <a:latin typeface="Trebuchet MS"/>
              <a:ea typeface="Calibri"/>
              <a:cs typeface="Calibri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457200" y="4591812"/>
            <a:ext cx="18836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— every variant pays full cost</a:t>
            </a:r>
            <a:endParaRPr lang="en-US" sz="900"/>
          </a:p>
        </p:txBody>
      </p:sp>
      <p:sp>
        <p:nvSpPr>
          <p:cNvPr id="37" name="Text 35"/>
          <p:cNvSpPr/>
          <p:nvPr/>
        </p:nvSpPr>
        <p:spPr>
          <a:xfrm>
            <a:off x="2532888" y="4280916"/>
            <a:ext cx="1993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3800"/>
          </a:p>
        </p:txBody>
      </p:sp>
      <p:sp>
        <p:nvSpPr>
          <p:cNvPr id="38" name="Shape 36"/>
          <p:cNvSpPr/>
          <p:nvPr/>
        </p:nvSpPr>
        <p:spPr>
          <a:xfrm>
            <a:off x="4676527" y="4252227"/>
            <a:ext cx="2002117" cy="796121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663440" y="4226052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0D9488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O(1)*</a:t>
            </a:r>
            <a:endParaRPr lang="en-US" sz="2000">
              <a:latin typeface="Trebuchet MS"/>
              <a:ea typeface="Calibri"/>
              <a:cs typeface="Calibri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4718304" y="4591812"/>
            <a:ext cx="18836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DataLens marginal cost per additional variant</a:t>
            </a:r>
            <a:endParaRPr lang="en-US" sz="900"/>
          </a:p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(*amortized; one-time load paid upfront)</a:t>
            </a:r>
            <a:endParaRPr lang="en-US" sz="900"/>
          </a:p>
        </p:txBody>
      </p:sp>
      <p:sp>
        <p:nvSpPr>
          <p:cNvPr id="41" name="Shape 39"/>
          <p:cNvSpPr/>
          <p:nvPr/>
        </p:nvSpPr>
        <p:spPr>
          <a:xfrm>
            <a:off x="6772180" y="4239139"/>
            <a:ext cx="1989029" cy="800484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793992" y="4226052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D97706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14×</a:t>
            </a:r>
            <a:endParaRPr lang="en-US" sz="2000">
              <a:latin typeface="Trebuchet MS"/>
              <a:ea typeface="Calibri"/>
              <a:cs typeface="Calibri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6848856" y="4591812"/>
            <a:ext cx="18836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minutes for 50-variant screen</a:t>
            </a:r>
            <a:endParaRPr lang="en-US" sz="900"/>
          </a:p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(~250 min vs ~18 min)</a:t>
            </a:r>
            <a:endParaRPr lang="en-US" sz="9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Q: Amortized Cost Model — From O(N) to O(1)</a:t>
            </a:r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502920" y="85039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structure, not just the speed, is what changes</a:t>
            </a:r>
            <a:endParaRPr lang="en-US" sz="1300"/>
          </a:p>
        </p:txBody>
      </p:sp>
      <p:sp>
        <p:nvSpPr>
          <p:cNvPr id="4" name="Shape 2"/>
          <p:cNvSpPr/>
          <p:nvPr/>
        </p:nvSpPr>
        <p:spPr>
          <a:xfrm>
            <a:off x="502920" y="804672"/>
            <a:ext cx="100584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115568"/>
            <a:ext cx="4023360" cy="228600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115568"/>
            <a:ext cx="4023360" cy="384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11556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HOPE / Manual Tools — O(N)</a:t>
            </a:r>
            <a:endParaRPr lang="en-US" sz="1300"/>
          </a:p>
        </p:txBody>
      </p:sp>
      <p:sp>
        <p:nvSpPr>
          <p:cNvPr id="8" name="Text 6"/>
          <p:cNvSpPr/>
          <p:nvPr/>
        </p:nvSpPr>
        <p:spPr>
          <a:xfrm>
            <a:off x="548640" y="1572768"/>
            <a:ext cx="379476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variant costs the same:</a:t>
            </a:r>
            <a:endParaRPr lang="en-US" sz="1150"/>
          </a:p>
          <a:p>
            <a:pPr marL="0" indent="0">
              <a:buNone/>
            </a:pP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Variant 1:    ~5 min</a:t>
            </a: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Variant 10:   ~5 min</a:t>
            </a: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Variant 50:   ~5 min</a:t>
            </a:r>
            <a:endParaRPr lang="en-US" sz="1150"/>
          </a:p>
          <a:p>
            <a:pPr marL="0" indent="0">
              <a:buNone/>
            </a:pP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shared state. No caching. Each submission</a:t>
            </a: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the full server pipeline from scratch.</a:t>
            </a:r>
            <a:endParaRPr lang="en-US" sz="1150"/>
          </a:p>
          <a:p>
            <a:pPr marL="0" indent="0">
              <a:buNone/>
            </a:pP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variants = 50 x 5 min = 250 min (4+ hours)</a:t>
            </a:r>
            <a:endParaRPr lang="en-US" sz="1150"/>
          </a:p>
        </p:txBody>
      </p:sp>
      <p:sp>
        <p:nvSpPr>
          <p:cNvPr id="9" name="Shape 7"/>
          <p:cNvSpPr/>
          <p:nvPr/>
        </p:nvSpPr>
        <p:spPr>
          <a:xfrm>
            <a:off x="4663440" y="1115568"/>
            <a:ext cx="4069080" cy="228600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663440" y="1115568"/>
            <a:ext cx="406908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54880" y="1115568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DataLens — O(1) marginal</a:t>
            </a:r>
            <a:endParaRPr lang="en-US" sz="1300"/>
          </a:p>
        </p:txBody>
      </p:sp>
      <p:sp>
        <p:nvSpPr>
          <p:cNvPr id="12" name="Text 10"/>
          <p:cNvSpPr/>
          <p:nvPr/>
        </p:nvSpPr>
        <p:spPr>
          <a:xfrm>
            <a:off x="4800600" y="1572768"/>
            <a:ext cx="384048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cost paid once:</a:t>
            </a:r>
            <a:endParaRPr lang="en-US" sz="1150"/>
          </a:p>
          <a:p>
            <a:pPr marL="0" indent="0">
              <a:buNone/>
            </a:pP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166534"/>
                </a:solidFill>
                <a:latin typeface="Calibri"/>
                <a:ea typeface="Calibri"/>
                <a:cs typeface="Calibri"/>
              </a:rPr>
              <a:t>   Load + </a:t>
            </a:r>
            <a:r>
              <a:rPr lang="en-US" sz="1150" err="1">
                <a:solidFill>
                  <a:srgbClr val="166534"/>
                </a:solidFill>
                <a:latin typeface="Calibri"/>
                <a:ea typeface="Calibri"/>
                <a:cs typeface="Calibri"/>
              </a:rPr>
              <a:t>RepairPDB</a:t>
            </a:r>
            <a:r>
              <a:rPr lang="en-US" sz="1150">
                <a:solidFill>
                  <a:srgbClr val="166534"/>
                </a:solidFill>
                <a:latin typeface="Calibri"/>
                <a:ea typeface="Calibri"/>
                <a:cs typeface="Calibri"/>
              </a:rPr>
              <a:t>:  ~5-10 min  (once)</a:t>
            </a:r>
            <a:endParaRPr lang="en-US" sz="115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15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near-zero marginal cost per variant:</a:t>
            </a:r>
            <a:endParaRPr lang="en-US" sz="1150"/>
          </a:p>
          <a:p>
            <a:pPr marL="0" indent="0">
              <a:buNone/>
            </a:pP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Variant 1:    ~70 s</a:t>
            </a: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Variant 10:   ~10 s incremental</a:t>
            </a: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Variant 50:   ~10 s incremental</a:t>
            </a:r>
            <a:endParaRPr lang="en-US" sz="1150"/>
          </a:p>
          <a:p>
            <a:pPr marL="0" indent="0">
              <a:buNone/>
            </a:pP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variants = 10 min setup + 49 x 10 s = 18 min</a:t>
            </a:r>
            <a:endParaRPr lang="en-US" sz="1150"/>
          </a:p>
        </p:txBody>
      </p:sp>
      <p:sp>
        <p:nvSpPr>
          <p:cNvPr id="13" name="Shape 11"/>
          <p:cNvSpPr/>
          <p:nvPr/>
        </p:nvSpPr>
        <p:spPr>
          <a:xfrm>
            <a:off x="411480" y="3456432"/>
            <a:ext cx="8321040" cy="62179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34930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 a biologist screening 50 candidates:</a:t>
            </a:r>
            <a:endParaRPr lang="en-US" sz="1200"/>
          </a:p>
        </p:txBody>
      </p:sp>
      <p:sp>
        <p:nvSpPr>
          <p:cNvPr id="15" name="Text 13"/>
          <p:cNvSpPr/>
          <p:nvPr/>
        </p:nvSpPr>
        <p:spPr>
          <a:xfrm>
            <a:off x="548640" y="37490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HOPE / manual</a:t>
            </a:r>
            <a:endParaRPr lang="en-US" sz="1150"/>
          </a:p>
        </p:txBody>
      </p:sp>
      <p:sp>
        <p:nvSpPr>
          <p:cNvPr id="16" name="Text 14"/>
          <p:cNvSpPr/>
          <p:nvPr/>
        </p:nvSpPr>
        <p:spPr>
          <a:xfrm>
            <a:off x="2148840" y="37490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CA5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250 min  (4+ hours)</a:t>
            </a:r>
            <a:endParaRPr lang="en-US" sz="1300"/>
          </a:p>
        </p:txBody>
      </p:sp>
      <p:sp>
        <p:nvSpPr>
          <p:cNvPr id="17" name="Text 15"/>
          <p:cNvSpPr/>
          <p:nvPr/>
        </p:nvSpPr>
        <p:spPr>
          <a:xfrm>
            <a:off x="5029200" y="37490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DataLens</a:t>
            </a:r>
            <a:endParaRPr lang="en-US" sz="1150"/>
          </a:p>
        </p:txBody>
      </p:sp>
      <p:sp>
        <p:nvSpPr>
          <p:cNvPr id="18" name="Text 16"/>
          <p:cNvSpPr/>
          <p:nvPr/>
        </p:nvSpPr>
        <p:spPr>
          <a:xfrm>
            <a:off x="6172200" y="37490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86EFA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~18 min</a:t>
            </a:r>
            <a:endParaRPr lang="en-US" sz="1300"/>
          </a:p>
        </p:txBody>
      </p:sp>
      <p:sp>
        <p:nvSpPr>
          <p:cNvPr id="19" name="Text 17"/>
          <p:cNvSpPr/>
          <p:nvPr/>
        </p:nvSpPr>
        <p:spPr>
          <a:xfrm>
            <a:off x="420205" y="408426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makes amortisation possible</a:t>
            </a:r>
            <a:endParaRPr lang="en-US" sz="1300"/>
          </a:p>
        </p:txBody>
      </p:sp>
      <p:sp>
        <p:nvSpPr>
          <p:cNvPr id="20" name="Shape 18"/>
          <p:cNvSpPr/>
          <p:nvPr/>
        </p:nvSpPr>
        <p:spPr>
          <a:xfrm>
            <a:off x="420205" y="4376126"/>
            <a:ext cx="2661323" cy="67288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11480" y="4443984"/>
            <a:ext cx="54864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3758" y="4326520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Protein structure loaded once</a:t>
            </a:r>
            <a:endParaRPr lang="en-US" sz="1050"/>
          </a:p>
        </p:txBody>
      </p:sp>
      <p:sp>
        <p:nvSpPr>
          <p:cNvPr id="23" name="Text 21"/>
          <p:cNvSpPr/>
          <p:nvPr/>
        </p:nvSpPr>
        <p:spPr>
          <a:xfrm>
            <a:off x="547384" y="4665534"/>
            <a:ext cx="2487168" cy="3846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PDB downloaded and parsed at session start. All subsequent variant queries operate on the in-memory atom array — no re-download per variant.</a:t>
            </a:r>
            <a:endParaRPr lang="en-US" sz="950"/>
          </a:p>
        </p:txBody>
      </p:sp>
      <p:sp>
        <p:nvSpPr>
          <p:cNvPr id="24" name="Shape 22"/>
          <p:cNvSpPr/>
          <p:nvPr/>
        </p:nvSpPr>
        <p:spPr>
          <a:xfrm>
            <a:off x="3255684" y="4358676"/>
            <a:ext cx="2678772" cy="69469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227832" y="4443984"/>
            <a:ext cx="54864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350648" y="4303601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RepairPDB cached (30 days)</a:t>
            </a:r>
            <a:endParaRPr lang="en-US" sz="1050"/>
          </a:p>
        </p:txBody>
      </p:sp>
      <p:sp>
        <p:nvSpPr>
          <p:cNvPr id="27" name="Text 25"/>
          <p:cNvSpPr/>
          <p:nvPr/>
        </p:nvSpPr>
        <p:spPr>
          <a:xfrm>
            <a:off x="3337560" y="4709160"/>
            <a:ext cx="24871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FoldX structure optimisation runs once per PDB entry. The repaired structure is stored server-side and reused for all BuildModel calls on the same protein.</a:t>
            </a:r>
            <a:endParaRPr lang="en-US" sz="950"/>
          </a:p>
        </p:txBody>
      </p:sp>
      <p:sp>
        <p:nvSpPr>
          <p:cNvPr id="28" name="Shape 26"/>
          <p:cNvSpPr/>
          <p:nvPr/>
        </p:nvSpPr>
        <p:spPr>
          <a:xfrm>
            <a:off x="6062891" y="4360258"/>
            <a:ext cx="2674411" cy="6816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044184" y="4443984"/>
            <a:ext cx="54864" cy="594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153912" y="4334081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AlphaMissense pre-indexed</a:t>
            </a:r>
            <a:endParaRPr lang="en-US" sz="1050"/>
          </a:p>
        </p:txBody>
      </p:sp>
      <p:sp>
        <p:nvSpPr>
          <p:cNvPr id="31" name="Text 29"/>
          <p:cNvSpPr/>
          <p:nvPr/>
        </p:nvSpPr>
        <p:spPr>
          <a:xfrm>
            <a:off x="6153912" y="4709160"/>
            <a:ext cx="24871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216M variants already in PostgreSQL with a composite index. Any position lookup costs &lt;10 ms regardless of which variant or session.</a:t>
            </a:r>
            <a:endParaRPr lang="en-US" sz="95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0B16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Q: The Architectural Contribution — A Reusable CS Pattern</a:t>
            </a:r>
            <a:endParaRPr lang="en-US" sz="2000">
              <a:solidFill>
                <a:srgbClr val="0B1629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85039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frontend as orchestration hub, REST layer connecting heterogeneous services</a:t>
            </a:r>
            <a:endParaRPr lang="en-US" sz="1300"/>
          </a:p>
        </p:txBody>
      </p:sp>
      <p:sp>
        <p:nvSpPr>
          <p:cNvPr id="4" name="Shape 2"/>
          <p:cNvSpPr/>
          <p:nvPr/>
        </p:nvSpPr>
        <p:spPr>
          <a:xfrm>
            <a:off x="502920" y="804672"/>
            <a:ext cx="100584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115568"/>
            <a:ext cx="8321040" cy="502920"/>
          </a:xfrm>
          <a:prstGeom prst="rect">
            <a:avLst/>
          </a:prstGeom>
          <a:solidFill>
            <a:srgbClr val="0D3B36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152144"/>
            <a:ext cx="8138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contribution is the demonstrated architecture, not any single component. Any domain where experts context-switch between fragmented tools can adopt this pattern.</a:t>
            </a:r>
            <a:endParaRPr lang="en-US" sz="1200"/>
          </a:p>
        </p:txBody>
      </p:sp>
      <p:sp>
        <p:nvSpPr>
          <p:cNvPr id="7" name="Shape 5"/>
          <p:cNvSpPr/>
          <p:nvPr/>
        </p:nvSpPr>
        <p:spPr>
          <a:xfrm>
            <a:off x="411480" y="1783080"/>
            <a:ext cx="8321040" cy="685800"/>
          </a:xfrm>
          <a:prstGeom prst="rect">
            <a:avLst/>
          </a:prstGeom>
          <a:solidFill>
            <a:srgbClr val="132039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11480" y="1783080"/>
            <a:ext cx="233172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75488" y="1783080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GPU Frontend</a:t>
            </a:r>
            <a:endParaRPr lang="en-US" sz="1200"/>
          </a:p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(Orchestration Hub)</a:t>
            </a:r>
            <a:endParaRPr lang="en-US" sz="1200"/>
          </a:p>
        </p:txBody>
      </p:sp>
      <p:sp>
        <p:nvSpPr>
          <p:cNvPr id="10" name="Text 8"/>
          <p:cNvSpPr/>
          <p:nvPr/>
        </p:nvSpPr>
        <p:spPr>
          <a:xfrm>
            <a:off x="2834640" y="1874520"/>
            <a:ext cx="5806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/ OpenGL / Dear ImGui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the event loop · dispatches async workers · owns render state · polls results each frame</a:t>
            </a:r>
            <a:endParaRPr lang="en-US" sz="1100"/>
          </a:p>
        </p:txBody>
      </p:sp>
      <p:sp>
        <p:nvSpPr>
          <p:cNvPr id="11" name="Text 9"/>
          <p:cNvSpPr/>
          <p:nvPr/>
        </p:nvSpPr>
        <p:spPr>
          <a:xfrm>
            <a:off x="411480" y="2468880"/>
            <a:ext cx="8321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↕</a:t>
            </a:r>
            <a:endParaRPr lang="en-US" sz="900"/>
          </a:p>
        </p:txBody>
      </p:sp>
      <p:sp>
        <p:nvSpPr>
          <p:cNvPr id="12" name="Shape 10"/>
          <p:cNvSpPr/>
          <p:nvPr/>
        </p:nvSpPr>
        <p:spPr>
          <a:xfrm>
            <a:off x="411480" y="2542032"/>
            <a:ext cx="8321040" cy="685800"/>
          </a:xfrm>
          <a:prstGeom prst="rect">
            <a:avLst/>
          </a:prstGeom>
          <a:solidFill>
            <a:srgbClr val="132039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11480" y="2542032"/>
            <a:ext cx="2331720" cy="68580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5488" y="2542032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 API Layer</a:t>
            </a:r>
            <a:endParaRPr lang="en-US" sz="1200"/>
          </a:p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(Service Broker)</a:t>
            </a:r>
            <a:endParaRPr lang="en-US" sz="1200"/>
          </a:p>
        </p:txBody>
      </p:sp>
      <p:sp>
        <p:nvSpPr>
          <p:cNvPr id="15" name="Text 13"/>
          <p:cNvSpPr/>
          <p:nvPr/>
        </p:nvSpPr>
        <p:spPr>
          <a:xfrm>
            <a:off x="2834640" y="2633472"/>
            <a:ext cx="5806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routers per domain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HTTP/JSON contract · each service independently replaceable · no shared state between routers</a:t>
            </a:r>
            <a:endParaRPr lang="en-US" sz="1100"/>
          </a:p>
        </p:txBody>
      </p:sp>
      <p:sp>
        <p:nvSpPr>
          <p:cNvPr id="16" name="Text 14"/>
          <p:cNvSpPr/>
          <p:nvPr/>
        </p:nvSpPr>
        <p:spPr>
          <a:xfrm>
            <a:off x="411480" y="3227832"/>
            <a:ext cx="8321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↕</a:t>
            </a:r>
            <a:endParaRPr lang="en-US" sz="900"/>
          </a:p>
        </p:txBody>
      </p:sp>
      <p:sp>
        <p:nvSpPr>
          <p:cNvPr id="17" name="Shape 15"/>
          <p:cNvSpPr/>
          <p:nvPr/>
        </p:nvSpPr>
        <p:spPr>
          <a:xfrm>
            <a:off x="411480" y="3300984"/>
            <a:ext cx="8321040" cy="685800"/>
          </a:xfrm>
          <a:prstGeom prst="rect">
            <a:avLst/>
          </a:prstGeom>
          <a:solidFill>
            <a:srgbClr val="132039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11480" y="3300984"/>
            <a:ext cx="2331720" cy="685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5488" y="3300984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Heterogeneous</a:t>
            </a:r>
            <a:endParaRPr lang="en-US" sz="1200"/>
          </a:p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Services</a:t>
            </a:r>
            <a:endParaRPr lang="en-US" sz="1200"/>
          </a:p>
        </p:txBody>
      </p:sp>
      <p:sp>
        <p:nvSpPr>
          <p:cNvPr id="20" name="Text 18"/>
          <p:cNvSpPr/>
          <p:nvPr/>
        </p:nvSpPr>
        <p:spPr>
          <a:xfrm>
            <a:off x="2834640" y="3392424"/>
            <a:ext cx="5806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(216M variants) · FoldX subprocess · SIFTS mapping table · UniProt/ClinVar/gnomAD HTTP · LLM synthesis</a:t>
            </a:r>
            <a:endParaRPr lang="en-US" sz="1100"/>
          </a:p>
        </p:txBody>
      </p:sp>
      <p:sp>
        <p:nvSpPr>
          <p:cNvPr id="21" name="Text 19"/>
          <p:cNvSpPr/>
          <p:nvPr/>
        </p:nvSpPr>
        <p:spPr>
          <a:xfrm>
            <a:off x="411480" y="3986784"/>
            <a:ext cx="8321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↕</a:t>
            </a:r>
            <a:endParaRPr lang="en-US" sz="900"/>
          </a:p>
        </p:txBody>
      </p:sp>
      <p:sp>
        <p:nvSpPr>
          <p:cNvPr id="22" name="Shape 20"/>
          <p:cNvSpPr/>
          <p:nvPr/>
        </p:nvSpPr>
        <p:spPr>
          <a:xfrm>
            <a:off x="411480" y="4059936"/>
            <a:ext cx="8321040" cy="685800"/>
          </a:xfrm>
          <a:prstGeom prst="rect">
            <a:avLst/>
          </a:prstGeom>
          <a:solidFill>
            <a:srgbClr val="132039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11480" y="4059936"/>
            <a:ext cx="2331720" cy="6858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75488" y="4059936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Async Worker</a:t>
            </a:r>
            <a:endParaRPr lang="en-US" sz="1200"/>
          </a:p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Threads (Glue)</a:t>
            </a:r>
            <a:endParaRPr lang="en-US" sz="1200"/>
          </a:p>
        </p:txBody>
      </p:sp>
      <p:sp>
        <p:nvSpPr>
          <p:cNvPr id="25" name="Text 23"/>
          <p:cNvSpPr/>
          <p:nvPr/>
        </p:nvSpPr>
        <p:spPr>
          <a:xfrm>
            <a:off x="2834640" y="4151376"/>
            <a:ext cx="5806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std::thread per long-running call · atomic flags signal completion · mutex-protected result buffers · render loop reads, never blocks</a:t>
            </a:r>
            <a:endParaRPr lang="en-US" sz="1100"/>
          </a:p>
        </p:txBody>
      </p:sp>
      <p:sp>
        <p:nvSpPr>
          <p:cNvPr id="26" name="Shape 24"/>
          <p:cNvSpPr/>
          <p:nvPr/>
        </p:nvSpPr>
        <p:spPr>
          <a:xfrm>
            <a:off x="411480" y="4846320"/>
            <a:ext cx="8321040" cy="411480"/>
          </a:xfrm>
          <a:prstGeom prst="rect">
            <a:avLst/>
          </a:prstGeom>
          <a:solidFill>
            <a:srgbClr val="132039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02920" y="4882896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Same pattern applies to: </a:t>
            </a:r>
            <a:endParaRPr lang="en-US" sz="1100"/>
          </a:p>
        </p:txBody>
      </p:sp>
      <p:sp>
        <p:nvSpPr>
          <p:cNvPr id="28" name="Text 26"/>
          <p:cNvSpPr/>
          <p:nvPr/>
        </p:nvSpPr>
        <p:spPr>
          <a:xfrm>
            <a:off x="2240280" y="4882896"/>
            <a:ext cx="6355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discovery · materials science · climate modelling · geospatial analysis · financial risk — any field with fragmented expert tools and no unified interactive layer.</a:t>
            </a:r>
            <a:endParaRPr lang="en-US" sz="11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0B1629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Q: Architectural Keys — The CS Contribution</a:t>
            </a:r>
            <a:endParaRPr lang="en-US" sz="2400">
              <a:solidFill>
                <a:srgbClr val="0B1629"/>
              </a:solidFill>
              <a:latin typeface="Trebuchet MS"/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85039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GPU-accelerated frontend as orchestration hub over heterogeneous REST services</a:t>
            </a:r>
            <a:endParaRPr lang="en-US" sz="1300"/>
          </a:p>
        </p:txBody>
      </p:sp>
      <p:sp>
        <p:nvSpPr>
          <p:cNvPr id="4" name="Shape 2"/>
          <p:cNvSpPr/>
          <p:nvPr/>
        </p:nvSpPr>
        <p:spPr>
          <a:xfrm>
            <a:off x="502920" y="804672"/>
            <a:ext cx="100584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115568"/>
            <a:ext cx="8321040" cy="566928"/>
          </a:xfrm>
          <a:prstGeom prst="rect">
            <a:avLst/>
          </a:prstGeom>
          <a:solidFill>
            <a:srgbClr val="0D3B36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170432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contribution is the demonstrated architecture, not any single component. Any domain where experts currently context-switch between fragmented tools could use this pattern.</a:t>
            </a:r>
            <a:endParaRPr lang="en-US" sz="1200"/>
          </a:p>
        </p:txBody>
      </p:sp>
      <p:sp>
        <p:nvSpPr>
          <p:cNvPr id="7" name="Shape 5"/>
          <p:cNvSpPr/>
          <p:nvPr/>
        </p:nvSpPr>
        <p:spPr>
          <a:xfrm>
            <a:off x="3017520" y="1874520"/>
            <a:ext cx="310896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017520" y="187452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C++ / OpenGL Frontend</a:t>
            </a:r>
            <a:endParaRPr lang="en-US" sz="1200"/>
          </a:p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(Orchestration Hub)</a:t>
            </a:r>
            <a:endParaRPr lang="en-US" sz="1200"/>
          </a:p>
        </p:txBody>
      </p:sp>
      <p:sp>
        <p:nvSpPr>
          <p:cNvPr id="9" name="Shape 7"/>
          <p:cNvSpPr/>
          <p:nvPr/>
        </p:nvSpPr>
        <p:spPr>
          <a:xfrm>
            <a:off x="4507992" y="2532888"/>
            <a:ext cx="128016" cy="27432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280160" y="2807208"/>
            <a:ext cx="6583680" cy="9144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11480" y="2706624"/>
            <a:ext cx="8321040" cy="182880"/>
          </a:xfrm>
          <a:prstGeom prst="rect">
            <a:avLst/>
          </a:prstGeom>
          <a:solidFill>
            <a:srgbClr val="132039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2706624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/ HTTP JSON — all services communicate via the same libcurl layer, independently replaceable</a:t>
            </a:r>
            <a:endParaRPr lang="en-US" sz="950"/>
          </a:p>
        </p:txBody>
      </p:sp>
      <p:sp>
        <p:nvSpPr>
          <p:cNvPr id="13" name="Shape 11"/>
          <p:cNvSpPr/>
          <p:nvPr/>
        </p:nvSpPr>
        <p:spPr>
          <a:xfrm>
            <a:off x="1316736" y="2807208"/>
            <a:ext cx="109728" cy="38404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11480" y="3191256"/>
            <a:ext cx="1993392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1480" y="3191256"/>
            <a:ext cx="1993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PostgreSQL</a:t>
            </a:r>
            <a:endParaRPr lang="en-US" sz="1050"/>
          </a:p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(AlphaMissense</a:t>
            </a:r>
            <a:endParaRPr lang="en-US" sz="1050"/>
          </a:p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216M variants)</a:t>
            </a:r>
            <a:endParaRPr lang="en-US" sz="1050"/>
          </a:p>
        </p:txBody>
      </p:sp>
      <p:sp>
        <p:nvSpPr>
          <p:cNvPr id="16" name="Shape 14"/>
          <p:cNvSpPr/>
          <p:nvPr/>
        </p:nvSpPr>
        <p:spPr>
          <a:xfrm>
            <a:off x="3447288" y="2807208"/>
            <a:ext cx="109728" cy="38404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542032" y="3191256"/>
            <a:ext cx="1993392" cy="9144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542032" y="3191256"/>
            <a:ext cx="1993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FoldX</a:t>
            </a:r>
            <a:endParaRPr lang="en-US" sz="1050"/>
          </a:p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Subprocess</a:t>
            </a:r>
            <a:endParaRPr lang="en-US" sz="1050"/>
          </a:p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(ΔΔG)</a:t>
            </a:r>
            <a:endParaRPr lang="en-US" sz="1050"/>
          </a:p>
        </p:txBody>
      </p:sp>
      <p:sp>
        <p:nvSpPr>
          <p:cNvPr id="19" name="Shape 17"/>
          <p:cNvSpPr/>
          <p:nvPr/>
        </p:nvSpPr>
        <p:spPr>
          <a:xfrm>
            <a:off x="5577840" y="2807208"/>
            <a:ext cx="109728" cy="38404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672584" y="3191256"/>
            <a:ext cx="1993392" cy="91440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672584" y="3191256"/>
            <a:ext cx="1993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SIFTS Mapping</a:t>
            </a:r>
            <a:endParaRPr lang="en-US" sz="1050"/>
          </a:p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(PDB↔UniProt)</a:t>
            </a:r>
            <a:endParaRPr lang="en-US" sz="1050"/>
          </a:p>
        </p:txBody>
      </p:sp>
      <p:sp>
        <p:nvSpPr>
          <p:cNvPr id="22" name="Shape 20"/>
          <p:cNvSpPr/>
          <p:nvPr/>
        </p:nvSpPr>
        <p:spPr>
          <a:xfrm>
            <a:off x="7708392" y="2807208"/>
            <a:ext cx="109728" cy="38404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803136" y="3191256"/>
            <a:ext cx="1993392" cy="9144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803136" y="3191256"/>
            <a:ext cx="1993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API</a:t>
            </a:r>
            <a:endParaRPr lang="en-US" sz="1050"/>
          </a:p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(LLM Synthesis)</a:t>
            </a:r>
            <a:endParaRPr lang="en-US" sz="1050"/>
          </a:p>
        </p:txBody>
      </p:sp>
      <p:sp>
        <p:nvSpPr>
          <p:cNvPr id="25" name="Shape 23"/>
          <p:cNvSpPr/>
          <p:nvPr/>
        </p:nvSpPr>
        <p:spPr>
          <a:xfrm>
            <a:off x="411480" y="4251960"/>
            <a:ext cx="2670048" cy="914400"/>
          </a:xfrm>
          <a:prstGeom prst="rect">
            <a:avLst/>
          </a:prstGeom>
          <a:solidFill>
            <a:srgbClr val="132039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11480" y="4251960"/>
            <a:ext cx="2670048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02920" y="431596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Heterogeneous services, uniform interface</a:t>
            </a:r>
            <a:endParaRPr lang="en-US" sz="1050"/>
          </a:p>
        </p:txBody>
      </p:sp>
      <p:sp>
        <p:nvSpPr>
          <p:cNvPr id="28" name="Text 26"/>
          <p:cNvSpPr/>
          <p:nvPr/>
        </p:nvSpPr>
        <p:spPr>
          <a:xfrm>
            <a:off x="502920" y="4626864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PostgreSQL, FoldX, SIFTS, and Claude all speak HTTP/JSON to the same libcurl layer. Adding or swapping any service requires changing one router — not the frontend.</a:t>
            </a:r>
            <a:endParaRPr lang="en-US" sz="950"/>
          </a:p>
        </p:txBody>
      </p:sp>
      <p:sp>
        <p:nvSpPr>
          <p:cNvPr id="29" name="Shape 27"/>
          <p:cNvSpPr/>
          <p:nvPr/>
        </p:nvSpPr>
        <p:spPr>
          <a:xfrm>
            <a:off x="3227832" y="4251960"/>
            <a:ext cx="2670048" cy="914400"/>
          </a:xfrm>
          <a:prstGeom prst="rect">
            <a:avLst/>
          </a:prstGeom>
          <a:solidFill>
            <a:srgbClr val="132039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227832" y="4251960"/>
            <a:ext cx="2670048" cy="54864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319272" y="431596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 as orchestrator, not viewer</a:t>
            </a:r>
            <a:endParaRPr lang="en-US" sz="1050"/>
          </a:p>
        </p:txBody>
      </p:sp>
      <p:sp>
        <p:nvSpPr>
          <p:cNvPr id="32" name="Text 30"/>
          <p:cNvSpPr/>
          <p:nvPr/>
        </p:nvSpPr>
        <p:spPr>
          <a:xfrm>
            <a:off x="3319272" y="4626864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C++ render loop dispatches worker threads, polls atomic result flags, and routes data to ImGui panels. The GPU handles display; the CPU drives the workflow.</a:t>
            </a:r>
            <a:endParaRPr lang="en-US" sz="950"/>
          </a:p>
        </p:txBody>
      </p:sp>
      <p:sp>
        <p:nvSpPr>
          <p:cNvPr id="33" name="Shape 31"/>
          <p:cNvSpPr/>
          <p:nvPr/>
        </p:nvSpPr>
        <p:spPr>
          <a:xfrm>
            <a:off x="6044184" y="4251960"/>
            <a:ext cx="2670048" cy="914400"/>
          </a:xfrm>
          <a:prstGeom prst="rect">
            <a:avLst/>
          </a:prstGeom>
          <a:solidFill>
            <a:srgbClr val="132039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044184" y="4251960"/>
            <a:ext cx="2670048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135624" y="431596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Generalizable pattern</a:t>
            </a:r>
            <a:endParaRPr lang="en-US" sz="1050"/>
          </a:p>
        </p:txBody>
      </p:sp>
      <p:sp>
        <p:nvSpPr>
          <p:cNvPr id="36" name="Text 34"/>
          <p:cNvSpPr/>
          <p:nvPr/>
        </p:nvSpPr>
        <p:spPr>
          <a:xfrm>
            <a:off x="6135624" y="4626864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proteins with MRI slices, financial instruments, or satellite imagery. Real-time interactive frontend + async heterogeneous prediction services + LLM synthesis is domain-agnostic.</a:t>
            </a:r>
            <a:endParaRPr lang="en-US" sz="95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-42672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DataLens vs. PyMOL: Quick Comparison</a:t>
            </a:r>
            <a:endParaRPr lang="en-US" sz="240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60655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PyMOL is a mature, publication-grade tool. DataLens is a workflow integration system. Different goals.</a:t>
            </a:r>
            <a:endParaRPr lang="en-US" sz="1200"/>
          </a:p>
        </p:txBody>
      </p:sp>
      <p:sp>
        <p:nvSpPr>
          <p:cNvPr id="4" name="Shape 2"/>
          <p:cNvSpPr/>
          <p:nvPr/>
        </p:nvSpPr>
        <p:spPr>
          <a:xfrm>
            <a:off x="502920" y="560832"/>
            <a:ext cx="100584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871728"/>
            <a:ext cx="2377440" cy="347472"/>
          </a:xfrm>
          <a:prstGeom prst="rect">
            <a:avLst/>
          </a:prstGeom>
          <a:solidFill>
            <a:srgbClr val="1C3A52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87172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</a:t>
            </a:r>
            <a:endParaRPr lang="en-US" sz="1150"/>
          </a:p>
        </p:txBody>
      </p:sp>
      <p:sp>
        <p:nvSpPr>
          <p:cNvPr id="7" name="Shape 5"/>
          <p:cNvSpPr/>
          <p:nvPr/>
        </p:nvSpPr>
        <p:spPr>
          <a:xfrm>
            <a:off x="2880360" y="871728"/>
            <a:ext cx="2926080" cy="347472"/>
          </a:xfrm>
          <a:prstGeom prst="rect">
            <a:avLst/>
          </a:prstGeom>
          <a:solidFill>
            <a:srgbClr val="1C3A52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880360" y="87172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PyMOL / ChimeraX</a:t>
            </a:r>
            <a:endParaRPr lang="en-US" sz="1150"/>
          </a:p>
        </p:txBody>
      </p:sp>
      <p:sp>
        <p:nvSpPr>
          <p:cNvPr id="9" name="Shape 7"/>
          <p:cNvSpPr/>
          <p:nvPr/>
        </p:nvSpPr>
        <p:spPr>
          <a:xfrm>
            <a:off x="5897880" y="871728"/>
            <a:ext cx="292608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897880" y="87172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DataLens</a:t>
            </a:r>
            <a:endParaRPr lang="en-US" sz="1150"/>
          </a:p>
        </p:txBody>
      </p:sp>
      <p:sp>
        <p:nvSpPr>
          <p:cNvPr id="11" name="Shape 9"/>
          <p:cNvSpPr/>
          <p:nvPr/>
        </p:nvSpPr>
        <p:spPr>
          <a:xfrm>
            <a:off x="411480" y="1274064"/>
            <a:ext cx="8412480" cy="457200"/>
          </a:xfrm>
          <a:prstGeom prst="rect">
            <a:avLst/>
          </a:prstGeom>
          <a:solidFill>
            <a:srgbClr val="132039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1274064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Rendering quality</a:t>
            </a:r>
            <a:endParaRPr lang="en-US" sz="1050"/>
          </a:p>
        </p:txBody>
      </p:sp>
      <p:sp>
        <p:nvSpPr>
          <p:cNvPr id="13" name="Text 11"/>
          <p:cNvSpPr/>
          <p:nvPr/>
        </p:nvSpPr>
        <p:spPr>
          <a:xfrm>
            <a:off x="2880360" y="1274064"/>
            <a:ext cx="2944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Ray-traced, physically accurate lighting, ambient occlusion, depth-of-field. Publication-quality journal figures.</a:t>
            </a:r>
            <a:endParaRPr lang="en-US" sz="950"/>
          </a:p>
        </p:txBody>
      </p:sp>
      <p:sp>
        <p:nvSpPr>
          <p:cNvPr id="14" name="Text 12"/>
          <p:cNvSpPr/>
          <p:nvPr/>
        </p:nvSpPr>
        <p:spPr>
          <a:xfrm>
            <a:off x="5897880" y="1274064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 + Lambertian diffuse only. No specular, no AO, no post-processing. Scientific clarity over aesthetics.</a:t>
            </a:r>
            <a:endParaRPr lang="en-US" sz="950"/>
          </a:p>
        </p:txBody>
      </p:sp>
      <p:sp>
        <p:nvSpPr>
          <p:cNvPr id="15" name="Shape 13"/>
          <p:cNvSpPr/>
          <p:nvPr/>
        </p:nvSpPr>
        <p:spPr>
          <a:xfrm>
            <a:off x="411480" y="1786128"/>
            <a:ext cx="8412480" cy="457200"/>
          </a:xfrm>
          <a:prstGeom prst="rect">
            <a:avLst/>
          </a:prstGeom>
          <a:solidFill>
            <a:srgbClr val="132A42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178612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Molecular representations</a:t>
            </a:r>
            <a:endParaRPr lang="en-US" sz="1050"/>
          </a:p>
        </p:txBody>
      </p:sp>
      <p:sp>
        <p:nvSpPr>
          <p:cNvPr id="17" name="Text 15"/>
          <p:cNvSpPr/>
          <p:nvPr/>
        </p:nvSpPr>
        <p:spPr>
          <a:xfrm>
            <a:off x="2880360" y="1786128"/>
            <a:ext cx="2944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Ball-and-stick, cartoon ribbon, surface (SASA), mesh, dot. All active and publication-ready.</a:t>
            </a:r>
            <a:endParaRPr lang="en-US" sz="950"/>
          </a:p>
        </p:txBody>
      </p:sp>
      <p:sp>
        <p:nvSpPr>
          <p:cNvPr id="18" name="Text 16"/>
          <p:cNvSpPr/>
          <p:nvPr/>
        </p:nvSpPr>
        <p:spPr>
          <a:xfrm>
            <a:off x="5897880" y="1786128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Ball-and-stick only. Ribbon shaders written but output is incorrect — disabled. Surface not implemented.</a:t>
            </a:r>
            <a:endParaRPr lang="en-US" sz="950"/>
          </a:p>
        </p:txBody>
      </p:sp>
      <p:sp>
        <p:nvSpPr>
          <p:cNvPr id="19" name="Shape 17"/>
          <p:cNvSpPr/>
          <p:nvPr/>
        </p:nvSpPr>
        <p:spPr>
          <a:xfrm>
            <a:off x="411480" y="2298192"/>
            <a:ext cx="8412480" cy="457200"/>
          </a:xfrm>
          <a:prstGeom prst="rect">
            <a:avLst/>
          </a:prstGeom>
          <a:solidFill>
            <a:srgbClr val="132039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229819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Scripting interface</a:t>
            </a:r>
            <a:endParaRPr lang="en-US" sz="1050"/>
          </a:p>
        </p:txBody>
      </p:sp>
      <p:sp>
        <p:nvSpPr>
          <p:cNvPr id="21" name="Text 19"/>
          <p:cNvSpPr/>
          <p:nvPr/>
        </p:nvSpPr>
        <p:spPr>
          <a:xfrm>
            <a:off x="2880360" y="2298192"/>
            <a:ext cx="2944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Python API. Automatable coloring, selection, rendering, and animation pipelines for experienced users.</a:t>
            </a:r>
            <a:endParaRPr lang="en-US" sz="950"/>
          </a:p>
        </p:txBody>
      </p:sp>
      <p:sp>
        <p:nvSpPr>
          <p:cNvPr id="22" name="Text 20"/>
          <p:cNvSpPr/>
          <p:nvPr/>
        </p:nvSpPr>
        <p:spPr>
          <a:xfrm>
            <a:off x="5897880" y="2298192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scripting interface. Designed for interactive mouse-driven use by non-programmer researchers.</a:t>
            </a:r>
            <a:endParaRPr lang="en-US" sz="950"/>
          </a:p>
        </p:txBody>
      </p:sp>
      <p:sp>
        <p:nvSpPr>
          <p:cNvPr id="23" name="Shape 21"/>
          <p:cNvSpPr/>
          <p:nvPr/>
        </p:nvSpPr>
        <p:spPr>
          <a:xfrm>
            <a:off x="411480" y="2810256"/>
            <a:ext cx="8412480" cy="457200"/>
          </a:xfrm>
          <a:prstGeom prst="rect">
            <a:avLst/>
          </a:prstGeom>
          <a:solidFill>
            <a:srgbClr val="132A42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" y="2810256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Pathogenicity scoring</a:t>
            </a:r>
            <a:endParaRPr lang="en-US" sz="1050"/>
          </a:p>
        </p:txBody>
      </p:sp>
      <p:sp>
        <p:nvSpPr>
          <p:cNvPr id="25" name="Text 23"/>
          <p:cNvSpPr/>
          <p:nvPr/>
        </p:nvSpPr>
        <p:spPr>
          <a:xfrm>
            <a:off x="2880360" y="2810256"/>
            <a:ext cx="2944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None. Requires manual lookup in external tools.</a:t>
            </a:r>
            <a:endParaRPr lang="en-US" sz="950"/>
          </a:p>
        </p:txBody>
      </p:sp>
      <p:sp>
        <p:nvSpPr>
          <p:cNvPr id="26" name="Text 24"/>
          <p:cNvSpPr/>
          <p:nvPr/>
        </p:nvSpPr>
        <p:spPr>
          <a:xfrm>
            <a:off x="5897880" y="2810256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216M AlphaMissense variants, sub-second. Mutation Landscape Panel shows entire protein at a glance.</a:t>
            </a:r>
            <a:endParaRPr lang="en-US" sz="950"/>
          </a:p>
        </p:txBody>
      </p:sp>
      <p:sp>
        <p:nvSpPr>
          <p:cNvPr id="27" name="Shape 25"/>
          <p:cNvSpPr/>
          <p:nvPr/>
        </p:nvSpPr>
        <p:spPr>
          <a:xfrm>
            <a:off x="411480" y="3322320"/>
            <a:ext cx="8412480" cy="457200"/>
          </a:xfrm>
          <a:prstGeom prst="rect">
            <a:avLst/>
          </a:prstGeom>
          <a:solidFill>
            <a:srgbClr val="132039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57200" y="33223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Stability prediction</a:t>
            </a:r>
            <a:endParaRPr lang="en-US" sz="1050"/>
          </a:p>
        </p:txBody>
      </p:sp>
      <p:sp>
        <p:nvSpPr>
          <p:cNvPr id="29" name="Text 27"/>
          <p:cNvSpPr/>
          <p:nvPr/>
        </p:nvSpPr>
        <p:spPr>
          <a:xfrm>
            <a:off x="2880360" y="3322320"/>
            <a:ext cx="2944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None. Requires FoldX/Rosetta separately.</a:t>
            </a:r>
            <a:endParaRPr lang="en-US" sz="950"/>
          </a:p>
        </p:txBody>
      </p:sp>
      <p:sp>
        <p:nvSpPr>
          <p:cNvPr id="30" name="Text 28"/>
          <p:cNvSpPr/>
          <p:nvPr/>
        </p:nvSpPr>
        <p:spPr>
          <a:xfrm>
            <a:off x="5897880" y="3322320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FoldX pipeline integrated. ΔΔG appears in panel without leaving the application.</a:t>
            </a:r>
            <a:endParaRPr lang="en-US" sz="950"/>
          </a:p>
        </p:txBody>
      </p:sp>
      <p:sp>
        <p:nvSpPr>
          <p:cNvPr id="31" name="Shape 29"/>
          <p:cNvSpPr/>
          <p:nvPr/>
        </p:nvSpPr>
        <p:spPr>
          <a:xfrm>
            <a:off x="411480" y="3834384"/>
            <a:ext cx="8412480" cy="457200"/>
          </a:xfrm>
          <a:prstGeom prst="rect">
            <a:avLst/>
          </a:prstGeom>
          <a:solidFill>
            <a:srgbClr val="132A42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57200" y="3834384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interpretation</a:t>
            </a:r>
            <a:endParaRPr lang="en-US" sz="1050"/>
          </a:p>
        </p:txBody>
      </p:sp>
      <p:sp>
        <p:nvSpPr>
          <p:cNvPr id="33" name="Text 31"/>
          <p:cNvSpPr/>
          <p:nvPr/>
        </p:nvSpPr>
        <p:spPr>
          <a:xfrm>
            <a:off x="2880360" y="3834384"/>
            <a:ext cx="2944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None.</a:t>
            </a:r>
            <a:endParaRPr lang="en-US" sz="950"/>
          </a:p>
        </p:txBody>
      </p:sp>
      <p:sp>
        <p:nvSpPr>
          <p:cNvPr id="34" name="Text 32"/>
          <p:cNvSpPr/>
          <p:nvPr/>
        </p:nvSpPr>
        <p:spPr>
          <a:xfrm>
            <a:off x="5897880" y="3834384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with grounded prompting. ClinVar/COSMIC/gnomAD enriched context. 5-section structured output.</a:t>
            </a:r>
            <a:endParaRPr lang="en-US" sz="950"/>
          </a:p>
        </p:txBody>
      </p:sp>
      <p:sp>
        <p:nvSpPr>
          <p:cNvPr id="35" name="Shape 33"/>
          <p:cNvSpPr/>
          <p:nvPr/>
        </p:nvSpPr>
        <p:spPr>
          <a:xfrm>
            <a:off x="411480" y="4346448"/>
            <a:ext cx="8412480" cy="457200"/>
          </a:xfrm>
          <a:prstGeom prst="rect">
            <a:avLst/>
          </a:prstGeom>
          <a:solidFill>
            <a:srgbClr val="132039"/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57200" y="434644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Workflow integration</a:t>
            </a:r>
            <a:endParaRPr lang="en-US" sz="1050"/>
          </a:p>
        </p:txBody>
      </p:sp>
      <p:sp>
        <p:nvSpPr>
          <p:cNvPr id="37" name="Text 35"/>
          <p:cNvSpPr/>
          <p:nvPr/>
        </p:nvSpPr>
        <p:spPr>
          <a:xfrm>
            <a:off x="2880360" y="4346448"/>
            <a:ext cx="2944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only. Manual context switching to 3+ other tools per variant.</a:t>
            </a:r>
            <a:endParaRPr lang="en-US" sz="950"/>
          </a:p>
        </p:txBody>
      </p:sp>
      <p:sp>
        <p:nvSpPr>
          <p:cNvPr id="38" name="Text 36"/>
          <p:cNvSpPr/>
          <p:nvPr/>
        </p:nvSpPr>
        <p:spPr>
          <a:xfrm>
            <a:off x="5897880" y="4346448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residue → pathogenicity + stability + AI in one interface. Single application.</a:t>
            </a:r>
            <a:endParaRPr lang="en-US" sz="950"/>
          </a:p>
        </p:txBody>
      </p:sp>
      <p:sp>
        <p:nvSpPr>
          <p:cNvPr id="39" name="Shape 37"/>
          <p:cNvSpPr/>
          <p:nvPr/>
        </p:nvSpPr>
        <p:spPr>
          <a:xfrm>
            <a:off x="411480" y="4859528"/>
            <a:ext cx="8412480" cy="201168"/>
          </a:xfrm>
          <a:prstGeom prst="rect">
            <a:avLst/>
          </a:prstGeom>
          <a:solidFill>
            <a:srgbClr val="0D3B36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02920" y="486867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i="1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</a:t>
            </a:r>
            <a:r>
              <a:rPr lang="en-US" sz="900" i="1" err="1">
                <a:solidFill>
                  <a:srgbClr val="00B0F0"/>
                </a:solidFill>
              </a:rPr>
              <a:t>PyMOL</a:t>
            </a:r>
            <a:r>
              <a:rPr lang="en-US" sz="900" i="1">
                <a:solidFill>
                  <a:srgbClr val="00B0F0"/>
                </a:solidFill>
              </a:rPr>
              <a:t> is part of the visualizer camp that </a:t>
            </a:r>
            <a:r>
              <a:rPr lang="en-US" sz="900" i="1" err="1">
                <a:solidFill>
                  <a:srgbClr val="00B0F0"/>
                </a:solidFill>
              </a:rPr>
              <a:t>DataLens</a:t>
            </a:r>
            <a:r>
              <a:rPr lang="en-US" sz="900" i="1">
                <a:solidFill>
                  <a:srgbClr val="00B0F0"/>
                </a:solidFill>
              </a:rPr>
              <a:t> integrates. </a:t>
            </a:r>
            <a:r>
              <a:rPr lang="en-US" sz="900" i="1" err="1">
                <a:solidFill>
                  <a:srgbClr val="00B0F0"/>
                </a:solidFill>
              </a:rPr>
              <a:t>DataLens</a:t>
            </a:r>
            <a:r>
              <a:rPr lang="en-US" sz="900" i="1">
                <a:solidFill>
                  <a:srgbClr val="00B0F0"/>
                </a:solidFill>
              </a:rPr>
              <a:t> bridges the two camps — visualization and prediction — that were previously disconnected.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-40275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DataLens vs. HOPE: Head-to-Head Comparison</a:t>
            </a:r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502920" y="547989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analyse protein mutations — their interaction models are fundamentally different</a:t>
            </a:r>
            <a:endParaRPr lang="en-US" sz="1100"/>
          </a:p>
        </p:txBody>
      </p:sp>
      <p:sp>
        <p:nvSpPr>
          <p:cNvPr id="4" name="Shape 2"/>
          <p:cNvSpPr/>
          <p:nvPr/>
        </p:nvSpPr>
        <p:spPr>
          <a:xfrm>
            <a:off x="502920" y="563229"/>
            <a:ext cx="100584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874125"/>
            <a:ext cx="224028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874125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</a:t>
            </a:r>
            <a:endParaRPr lang="en-US" sz="1150"/>
          </a:p>
        </p:txBody>
      </p:sp>
      <p:sp>
        <p:nvSpPr>
          <p:cNvPr id="7" name="Shape 5"/>
          <p:cNvSpPr/>
          <p:nvPr/>
        </p:nvSpPr>
        <p:spPr>
          <a:xfrm>
            <a:off x="2724912" y="874125"/>
            <a:ext cx="2834640" cy="34747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24912" y="874125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50" b="1">
                <a:solidFill>
                  <a:schemeClr val="bg1">
                    <a:lumMod val="95000"/>
                  </a:scheme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HOPE (</a:t>
            </a:r>
            <a:r>
              <a:rPr lang="en-US" sz="1200" b="1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Our Protein Explained)</a:t>
            </a:r>
            <a:endParaRPr lang="en-US" sz="1150" b="1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5632704" y="874125"/>
            <a:ext cx="283464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632704" y="874125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DataLens</a:t>
            </a:r>
            <a:endParaRPr lang="en-US" sz="1150"/>
          </a:p>
        </p:txBody>
      </p:sp>
      <p:sp>
        <p:nvSpPr>
          <p:cNvPr id="11" name="Shape 9"/>
          <p:cNvSpPr/>
          <p:nvPr/>
        </p:nvSpPr>
        <p:spPr>
          <a:xfrm>
            <a:off x="411480" y="1276461"/>
            <a:ext cx="8055864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1276461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Interaction model</a:t>
            </a:r>
            <a:endParaRPr lang="en-US" sz="1100"/>
          </a:p>
        </p:txBody>
      </p:sp>
      <p:sp>
        <p:nvSpPr>
          <p:cNvPr id="13" name="Text 11"/>
          <p:cNvSpPr/>
          <p:nvPr/>
        </p:nvSpPr>
        <p:spPr>
          <a:xfrm>
            <a:off x="2724912" y="1276461"/>
            <a:ext cx="2816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form. Type protein + variant, click Submit, wait for full page reload. One variant per submission.</a:t>
            </a:r>
            <a:endParaRPr lang="en-US" sz="1000"/>
          </a:p>
        </p:txBody>
      </p:sp>
      <p:sp>
        <p:nvSpPr>
          <p:cNvPr id="14" name="Text 12"/>
          <p:cNvSpPr/>
          <p:nvPr/>
        </p:nvSpPr>
        <p:spPr>
          <a:xfrm>
            <a:off x="5632704" y="1276461"/>
            <a:ext cx="2816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 atom in the 3D viewer. Results populate panels instantly. No page reload.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411480" y="1678797"/>
            <a:ext cx="8055864" cy="347472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1678797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3D visualization</a:t>
            </a:r>
            <a:endParaRPr lang="en-US" sz="1100"/>
          </a:p>
        </p:txBody>
      </p:sp>
      <p:sp>
        <p:nvSpPr>
          <p:cNvPr id="17" name="Text 15"/>
          <p:cNvSpPr/>
          <p:nvPr/>
        </p:nvSpPr>
        <p:spPr>
          <a:xfrm>
            <a:off x="2724912" y="1678797"/>
            <a:ext cx="2816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PyMOL-rendered ribbon images. No interactive viewport — a picture, not a model.</a:t>
            </a:r>
            <a:endParaRPr lang="en-US" sz="1000"/>
          </a:p>
        </p:txBody>
      </p:sp>
      <p:sp>
        <p:nvSpPr>
          <p:cNvPr id="18" name="Text 16"/>
          <p:cNvSpPr/>
          <p:nvPr/>
        </p:nvSpPr>
        <p:spPr>
          <a:xfrm>
            <a:off x="5632704" y="1678797"/>
            <a:ext cx="2816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interactive ball-and-stick at 140–482 FPS. Rotate, zoom, select live.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411480" y="2081133"/>
            <a:ext cx="8055864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2081133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Per-variant time</a:t>
            </a:r>
            <a:endParaRPr lang="en-US" sz="1100"/>
          </a:p>
        </p:txBody>
      </p:sp>
      <p:sp>
        <p:nvSpPr>
          <p:cNvPr id="21" name="Text 19"/>
          <p:cNvSpPr/>
          <p:nvPr/>
        </p:nvSpPr>
        <p:spPr>
          <a:xfrm>
            <a:off x="2724912" y="2081133"/>
            <a:ext cx="2816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~288 s avg (navigate 20 s + server compute 240 s + read 28 s). Every variant pays in full.</a:t>
            </a:r>
            <a:endParaRPr lang="en-US" sz="1000"/>
          </a:p>
        </p:txBody>
      </p:sp>
      <p:sp>
        <p:nvSpPr>
          <p:cNvPr id="22" name="Text 20"/>
          <p:cNvSpPr/>
          <p:nvPr/>
        </p:nvSpPr>
        <p:spPr>
          <a:xfrm>
            <a:off x="5632704" y="2081133"/>
            <a:ext cx="2816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~69.6 s avg (select 3 s + AM &lt;1 s + FoldX 60 s + Claude 6 s). 4.1× faster.</a:t>
            </a:r>
            <a:endParaRPr lang="en-US" sz="1000"/>
          </a:p>
        </p:txBody>
      </p:sp>
      <p:sp>
        <p:nvSpPr>
          <p:cNvPr id="23" name="Shape 21"/>
          <p:cNvSpPr/>
          <p:nvPr/>
        </p:nvSpPr>
        <p:spPr>
          <a:xfrm>
            <a:off x="411480" y="2483469"/>
            <a:ext cx="8055864" cy="347472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" y="2483469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Scaling with N variants</a:t>
            </a:r>
            <a:endParaRPr lang="en-US" sz="1100"/>
          </a:p>
        </p:txBody>
      </p:sp>
      <p:sp>
        <p:nvSpPr>
          <p:cNvPr id="25" name="Text 23"/>
          <p:cNvSpPr/>
          <p:nvPr/>
        </p:nvSpPr>
        <p:spPr>
          <a:xfrm>
            <a:off x="2724912" y="2483469"/>
            <a:ext cx="2816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 linear — 10 variants = 10× cost. No amortisation of any kind.</a:t>
            </a:r>
            <a:endParaRPr lang="en-US" sz="1000"/>
          </a:p>
        </p:txBody>
      </p:sp>
      <p:sp>
        <p:nvSpPr>
          <p:cNvPr id="26" name="Text 24"/>
          <p:cNvSpPr/>
          <p:nvPr/>
        </p:nvSpPr>
        <p:spPr>
          <a:xfrm>
            <a:off x="5632704" y="2483469"/>
            <a:ext cx="2816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Sub-linear — protein load &amp; RepairPDB paid once. Each additional variant ~1.2 min incremental.</a:t>
            </a:r>
            <a:endParaRPr lang="en-US" sz="1000"/>
          </a:p>
        </p:txBody>
      </p:sp>
      <p:sp>
        <p:nvSpPr>
          <p:cNvPr id="27" name="Shape 25"/>
          <p:cNvSpPr/>
          <p:nvPr/>
        </p:nvSpPr>
        <p:spPr>
          <a:xfrm>
            <a:off x="411480" y="2885805"/>
            <a:ext cx="8055864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57200" y="2885805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Landscape overview</a:t>
            </a:r>
            <a:endParaRPr lang="en-US" sz="1100"/>
          </a:p>
        </p:txBody>
      </p:sp>
      <p:sp>
        <p:nvSpPr>
          <p:cNvPr id="29" name="Text 27"/>
          <p:cNvSpPr/>
          <p:nvPr/>
        </p:nvSpPr>
        <p:spPr>
          <a:xfrm>
            <a:off x="2724912" y="2885805"/>
            <a:ext cx="2816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None. Discover high-risk positions only by submitting variants one at a time.</a:t>
            </a:r>
            <a:endParaRPr lang="en-US" sz="1000"/>
          </a:p>
        </p:txBody>
      </p:sp>
      <p:sp>
        <p:nvSpPr>
          <p:cNvPr id="30" name="Text 28"/>
          <p:cNvSpPr/>
          <p:nvPr/>
        </p:nvSpPr>
        <p:spPr>
          <a:xfrm>
            <a:off x="5632704" y="2885805"/>
            <a:ext cx="2816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 Landscape Panel: all residues' worst-case AM scores in one batch view.</a:t>
            </a:r>
            <a:endParaRPr lang="en-US" sz="1000"/>
          </a:p>
        </p:txBody>
      </p:sp>
      <p:sp>
        <p:nvSpPr>
          <p:cNvPr id="31" name="Shape 29"/>
          <p:cNvSpPr/>
          <p:nvPr/>
        </p:nvSpPr>
        <p:spPr>
          <a:xfrm>
            <a:off x="411480" y="3288141"/>
            <a:ext cx="8055864" cy="347472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57200" y="3288141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Pathogenicity score</a:t>
            </a:r>
            <a:endParaRPr lang="en-US" sz="1100"/>
          </a:p>
        </p:txBody>
      </p:sp>
      <p:sp>
        <p:nvSpPr>
          <p:cNvPr id="33" name="Text 31"/>
          <p:cNvSpPr/>
          <p:nvPr/>
        </p:nvSpPr>
        <p:spPr>
          <a:xfrm>
            <a:off x="2724912" y="3288141"/>
            <a:ext cx="2816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SIFT, PolyPhen-2 (not AlphaMissense).</a:t>
            </a:r>
            <a:endParaRPr lang="en-US" sz="1000"/>
          </a:p>
        </p:txBody>
      </p:sp>
      <p:sp>
        <p:nvSpPr>
          <p:cNvPr id="34" name="Text 32"/>
          <p:cNvSpPr/>
          <p:nvPr/>
        </p:nvSpPr>
        <p:spPr>
          <a:xfrm>
            <a:off x="5632704" y="3288141"/>
            <a:ext cx="2816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AlphaMissense — 216M variants, sub-second via composite B-tree index.</a:t>
            </a:r>
            <a:endParaRPr lang="en-US" sz="1000"/>
          </a:p>
        </p:txBody>
      </p:sp>
      <p:sp>
        <p:nvSpPr>
          <p:cNvPr id="35" name="Shape 33"/>
          <p:cNvSpPr/>
          <p:nvPr/>
        </p:nvSpPr>
        <p:spPr>
          <a:xfrm>
            <a:off x="411480" y="3690477"/>
            <a:ext cx="8055864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57200" y="3690477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Stability (ΔΔG)</a:t>
            </a:r>
            <a:endParaRPr lang="en-US" sz="1100"/>
          </a:p>
        </p:txBody>
      </p:sp>
      <p:sp>
        <p:nvSpPr>
          <p:cNvPr id="37" name="Text 35"/>
          <p:cNvSpPr/>
          <p:nvPr/>
        </p:nvSpPr>
        <p:spPr>
          <a:xfrm>
            <a:off x="2724912" y="3690477"/>
            <a:ext cx="2816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– not included</a:t>
            </a:r>
            <a:endParaRPr lang="en-US" sz="1000"/>
          </a:p>
        </p:txBody>
      </p:sp>
      <p:sp>
        <p:nvSpPr>
          <p:cNvPr id="38" name="Text 36"/>
          <p:cNvSpPr/>
          <p:nvPr/>
        </p:nvSpPr>
        <p:spPr>
          <a:xfrm>
            <a:off x="5632704" y="3690477"/>
            <a:ext cx="2816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FoldX — runs in background, viewport stays interactive.</a:t>
            </a:r>
            <a:endParaRPr lang="en-US" sz="1000"/>
          </a:p>
        </p:txBody>
      </p:sp>
      <p:sp>
        <p:nvSpPr>
          <p:cNvPr id="39" name="Shape 37"/>
          <p:cNvSpPr/>
          <p:nvPr/>
        </p:nvSpPr>
        <p:spPr>
          <a:xfrm>
            <a:off x="411480" y="4092813"/>
            <a:ext cx="8055864" cy="347472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57200" y="4092813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interpretation</a:t>
            </a:r>
            <a:endParaRPr lang="en-US" sz="1100"/>
          </a:p>
        </p:txBody>
      </p:sp>
      <p:sp>
        <p:nvSpPr>
          <p:cNvPr id="41" name="Text 39"/>
          <p:cNvSpPr/>
          <p:nvPr/>
        </p:nvSpPr>
        <p:spPr>
          <a:xfrm>
            <a:off x="2724912" y="4092813"/>
            <a:ext cx="2816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None. Structured report only.</a:t>
            </a:r>
            <a:endParaRPr lang="en-US" sz="1000"/>
          </a:p>
        </p:txBody>
      </p:sp>
      <p:sp>
        <p:nvSpPr>
          <p:cNvPr id="42" name="Text 40"/>
          <p:cNvSpPr/>
          <p:nvPr/>
        </p:nvSpPr>
        <p:spPr>
          <a:xfrm>
            <a:off x="5632704" y="4092813"/>
            <a:ext cx="2816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— grounded prompting, ClinVar/COSMIC/gnomAD enrichment, 5-section output.</a:t>
            </a:r>
            <a:endParaRPr lang="en-US" sz="1000"/>
          </a:p>
        </p:txBody>
      </p:sp>
      <p:sp>
        <p:nvSpPr>
          <p:cNvPr id="43" name="Shape 41"/>
          <p:cNvSpPr/>
          <p:nvPr/>
        </p:nvSpPr>
        <p:spPr>
          <a:xfrm>
            <a:off x="411480" y="4495149"/>
            <a:ext cx="8055864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57200" y="4495149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 format</a:t>
            </a:r>
            <a:endParaRPr lang="en-US" sz="1100"/>
          </a:p>
        </p:txBody>
      </p:sp>
      <p:sp>
        <p:nvSpPr>
          <p:cNvPr id="45" name="Text 43"/>
          <p:cNvSpPr/>
          <p:nvPr/>
        </p:nvSpPr>
        <p:spPr>
          <a:xfrm>
            <a:off x="2724912" y="4495149"/>
            <a:ext cx="2816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HTML page. Fixed layout, not explorable. Download images separately.</a:t>
            </a:r>
            <a:endParaRPr lang="en-US" sz="1000"/>
          </a:p>
        </p:txBody>
      </p:sp>
      <p:sp>
        <p:nvSpPr>
          <p:cNvPr id="46" name="Text 44"/>
          <p:cNvSpPr/>
          <p:nvPr/>
        </p:nvSpPr>
        <p:spPr>
          <a:xfrm>
            <a:off x="5632704" y="4495149"/>
            <a:ext cx="2816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ImGui panels — all data visible together, bidirectionally linked to 3D viewport.</a:t>
            </a:r>
            <a:endParaRPr lang="en-US" sz="1000"/>
          </a:p>
        </p:txBody>
      </p:sp>
      <p:sp>
        <p:nvSpPr>
          <p:cNvPr id="47" name="Shape 45"/>
          <p:cNvSpPr/>
          <p:nvPr/>
        </p:nvSpPr>
        <p:spPr>
          <a:xfrm>
            <a:off x="411480" y="4895841"/>
            <a:ext cx="8055864" cy="201168"/>
          </a:xfrm>
          <a:prstGeom prst="rect">
            <a:avLst/>
          </a:prstGeom>
          <a:solidFill>
            <a:srgbClr val="0D3B36"/>
          </a:solidFill>
          <a:ln w="889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502920" y="4904985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HOPE excels at on-demand single-variant reports for users who want a formatted document. DataLens replaces HOPE when researchers need to explore many variants interactively across a protein landscape.</a:t>
            </a:r>
            <a:endParaRPr lang="en-US" sz="7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FE334-5BC4-AC65-1CA2-07DE1FEC7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Picture 51">
            <a:extLst>
              <a:ext uri="{FF2B5EF4-FFF2-40B4-BE49-F238E27FC236}">
                <a16:creationId xmlns:a16="http://schemas.microsoft.com/office/drawing/2014/main" id="{61D0FE51-5FA8-4DB9-8719-B5AE31049A3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617" r="6925"/>
          <a:stretch>
            <a:fillRect/>
          </a:stretch>
        </p:blipFill>
        <p:spPr>
          <a:xfrm>
            <a:off x="80627" y="887939"/>
            <a:ext cx="4200661" cy="2802999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B04DA271-031A-CB83-7EE5-17FC328C84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1964" y="1390617"/>
            <a:ext cx="4756648" cy="3198188"/>
          </a:xfrm>
          <a:prstGeom prst="rect">
            <a:avLst/>
          </a:prstGeom>
        </p:spPr>
      </p:pic>
      <p:sp>
        <p:nvSpPr>
          <p:cNvPr id="5" name="Text 3">
            <a:extLst>
              <a:ext uri="{FF2B5EF4-FFF2-40B4-BE49-F238E27FC236}">
                <a16:creationId xmlns:a16="http://schemas.microsoft.com/office/drawing/2014/main" id="{0C45C022-774B-A874-D570-C62CF5F0E2F8}"/>
              </a:ext>
            </a:extLst>
          </p:cNvPr>
          <p:cNvSpPr/>
          <p:nvPr/>
        </p:nvSpPr>
        <p:spPr>
          <a:xfrm>
            <a:off x="411480" y="4655455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4.1 — HOPE report (left) vs DataLens (right) for TP53 G1706E. Same variant, radically different interaction model.</a:t>
            </a:r>
            <a:endParaRPr lang="en-US" sz="900"/>
          </a:p>
        </p:txBody>
      </p:sp>
      <p:sp>
        <p:nvSpPr>
          <p:cNvPr id="51" name="Shape 45">
            <a:extLst>
              <a:ext uri="{FF2B5EF4-FFF2-40B4-BE49-F238E27FC236}">
                <a16:creationId xmlns:a16="http://schemas.microsoft.com/office/drawing/2014/main" id="{78974B90-1B1A-7268-C26C-7C1AA1AA5123}"/>
              </a:ext>
            </a:extLst>
          </p:cNvPr>
          <p:cNvSpPr/>
          <p:nvPr/>
        </p:nvSpPr>
        <p:spPr>
          <a:xfrm>
            <a:off x="411480" y="4895841"/>
            <a:ext cx="8055864" cy="201168"/>
          </a:xfrm>
          <a:prstGeom prst="rect">
            <a:avLst/>
          </a:prstGeom>
          <a:solidFill>
            <a:srgbClr val="0D3B36"/>
          </a:solidFill>
          <a:ln w="889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46">
            <a:extLst>
              <a:ext uri="{FF2B5EF4-FFF2-40B4-BE49-F238E27FC236}">
                <a16:creationId xmlns:a16="http://schemas.microsoft.com/office/drawing/2014/main" id="{B4A7E41A-8484-43A6-2821-5C5CAEA5280C}"/>
              </a:ext>
            </a:extLst>
          </p:cNvPr>
          <p:cNvSpPr/>
          <p:nvPr/>
        </p:nvSpPr>
        <p:spPr>
          <a:xfrm>
            <a:off x="502920" y="4904985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HOPE excels at on-demand single-variant reports for users who want a formatted document. DataLens replaces HOPE when researchers need to explore many variants interactively across a protein landscape.</a:t>
            </a:r>
            <a:endParaRPr lang="en-US" sz="700"/>
          </a:p>
        </p:txBody>
      </p:sp>
      <p:sp>
        <p:nvSpPr>
          <p:cNvPr id="55" name="Text 0">
            <a:extLst>
              <a:ext uri="{FF2B5EF4-FFF2-40B4-BE49-F238E27FC236}">
                <a16:creationId xmlns:a16="http://schemas.microsoft.com/office/drawing/2014/main" id="{67C35571-CD1E-8DA2-3748-FEDD85BE65EE}"/>
              </a:ext>
            </a:extLst>
          </p:cNvPr>
          <p:cNvSpPr/>
          <p:nvPr/>
        </p:nvSpPr>
        <p:spPr>
          <a:xfrm>
            <a:off x="502920" y="-40275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DataLens vs. HOPE: Head-to-Head Comparison (cont.)</a:t>
            </a:r>
            <a:endParaRPr lang="en-US" sz="2400"/>
          </a:p>
        </p:txBody>
      </p:sp>
      <p:sp>
        <p:nvSpPr>
          <p:cNvPr id="56" name="Text 1">
            <a:extLst>
              <a:ext uri="{FF2B5EF4-FFF2-40B4-BE49-F238E27FC236}">
                <a16:creationId xmlns:a16="http://schemas.microsoft.com/office/drawing/2014/main" id="{99157CAE-09CB-091F-BBD4-D8497BA19084}"/>
              </a:ext>
            </a:extLst>
          </p:cNvPr>
          <p:cNvSpPr/>
          <p:nvPr/>
        </p:nvSpPr>
        <p:spPr>
          <a:xfrm>
            <a:off x="502920" y="547989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analyse protein mutations — their interaction models are fundamentally different</a:t>
            </a:r>
            <a:endParaRPr lang="en-US" sz="1100"/>
          </a:p>
        </p:txBody>
      </p:sp>
      <p:sp>
        <p:nvSpPr>
          <p:cNvPr id="57" name="Shape 2">
            <a:extLst>
              <a:ext uri="{FF2B5EF4-FFF2-40B4-BE49-F238E27FC236}">
                <a16:creationId xmlns:a16="http://schemas.microsoft.com/office/drawing/2014/main" id="{BE927581-DB6B-2C41-E546-7520F294AEDD}"/>
              </a:ext>
            </a:extLst>
          </p:cNvPr>
          <p:cNvSpPr/>
          <p:nvPr/>
        </p:nvSpPr>
        <p:spPr>
          <a:xfrm>
            <a:off x="502920" y="563229"/>
            <a:ext cx="100584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5139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Interpretation: Concrete Example — TP53 R248W</a:t>
            </a:r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502920" y="85039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ClaudeHandler sends and what the response looks like</a:t>
            </a:r>
            <a:endParaRPr lang="en-US" sz="1300"/>
          </a:p>
        </p:txBody>
      </p:sp>
      <p:sp>
        <p:nvSpPr>
          <p:cNvPr id="4" name="Shape 2"/>
          <p:cNvSpPr/>
          <p:nvPr/>
        </p:nvSpPr>
        <p:spPr>
          <a:xfrm>
            <a:off x="502920" y="804672"/>
            <a:ext cx="100584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111556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 sent to Claude</a:t>
            </a:r>
            <a:endParaRPr lang="en-US" sz="1300"/>
          </a:p>
        </p:txBody>
      </p:sp>
      <p:sp>
        <p:nvSpPr>
          <p:cNvPr id="6" name="Shape 4"/>
          <p:cNvSpPr/>
          <p:nvPr/>
        </p:nvSpPr>
        <p:spPr>
          <a:xfrm>
            <a:off x="411480" y="1444752"/>
            <a:ext cx="4114800" cy="3474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499616"/>
            <a:ext cx="3931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Protein: Tumor Protein P53 (2OCJ)</a:t>
            </a:r>
            <a:endParaRPr lang="en-US" sz="950"/>
          </a:p>
        </p:txBody>
      </p:sp>
      <p:sp>
        <p:nvSpPr>
          <p:cNvPr id="8" name="Text 6"/>
          <p:cNvSpPr/>
          <p:nvPr/>
        </p:nvSpPr>
        <p:spPr>
          <a:xfrm>
            <a:off x="502920" y="1696212"/>
            <a:ext cx="3931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Mutation: R248W (Chain A)</a:t>
            </a:r>
            <a:endParaRPr lang="en-US" sz="950"/>
          </a:p>
        </p:txBody>
      </p:sp>
      <p:sp>
        <p:nvSpPr>
          <p:cNvPr id="9" name="Text 7"/>
          <p:cNvSpPr/>
          <p:nvPr/>
        </p:nvSpPr>
        <p:spPr>
          <a:xfrm>
            <a:off x="502920" y="1892808"/>
            <a:ext cx="3931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Secondary Structure: LOOP</a:t>
            </a:r>
            <a:endParaRPr lang="en-US" sz="950"/>
          </a:p>
        </p:txBody>
      </p:sp>
      <p:sp>
        <p:nvSpPr>
          <p:cNvPr id="10" name="Text 8"/>
          <p:cNvSpPr/>
          <p:nvPr/>
        </p:nvSpPr>
        <p:spPr>
          <a:xfrm>
            <a:off x="502920" y="2089404"/>
            <a:ext cx="3931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/>
          </a:p>
        </p:txBody>
      </p:sp>
      <p:sp>
        <p:nvSpPr>
          <p:cNvPr id="11" name="Text 9"/>
          <p:cNvSpPr/>
          <p:nvPr/>
        </p:nvSpPr>
        <p:spPr>
          <a:xfrm>
            <a:off x="502920" y="2286000"/>
            <a:ext cx="3931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AlphaMissense: 0.990 (pathogenic)</a:t>
            </a:r>
            <a:endParaRPr lang="en-US" sz="950"/>
          </a:p>
        </p:txBody>
      </p:sp>
      <p:sp>
        <p:nvSpPr>
          <p:cNvPr id="12" name="Text 10"/>
          <p:cNvSpPr/>
          <p:nvPr/>
        </p:nvSpPr>
        <p:spPr>
          <a:xfrm>
            <a:off x="502920" y="2482596"/>
            <a:ext cx="3931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FoldX ΔΔG: 0.00 kcal/mol [pending]</a:t>
            </a:r>
            <a:endParaRPr lang="en-US" sz="950"/>
          </a:p>
        </p:txBody>
      </p:sp>
      <p:sp>
        <p:nvSpPr>
          <p:cNvPr id="13" name="Text 11"/>
          <p:cNvSpPr/>
          <p:nvPr/>
        </p:nvSpPr>
        <p:spPr>
          <a:xfrm>
            <a:off x="502920" y="2679192"/>
            <a:ext cx="3931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/>
          </a:p>
        </p:txBody>
      </p:sp>
      <p:sp>
        <p:nvSpPr>
          <p:cNvPr id="14" name="Text 12"/>
          <p:cNvSpPr/>
          <p:nvPr/>
        </p:nvSpPr>
        <p:spPr>
          <a:xfrm>
            <a:off x="502920" y="2875788"/>
            <a:ext cx="3931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ClinVar: Pathogenic [★★★]</a:t>
            </a:r>
            <a:endParaRPr lang="en-US" sz="950"/>
          </a:p>
        </p:txBody>
      </p:sp>
      <p:sp>
        <p:nvSpPr>
          <p:cNvPr id="15" name="Text 13"/>
          <p:cNvSpPr/>
          <p:nvPr/>
        </p:nvSpPr>
        <p:spPr>
          <a:xfrm>
            <a:off x="502920" y="3072384"/>
            <a:ext cx="3931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Condition: Li-Fraumeni syndrome,</a:t>
            </a:r>
            <a:endParaRPr lang="en-US" sz="950"/>
          </a:p>
        </p:txBody>
      </p:sp>
      <p:sp>
        <p:nvSpPr>
          <p:cNvPr id="16" name="Text 14"/>
          <p:cNvSpPr/>
          <p:nvPr/>
        </p:nvSpPr>
        <p:spPr>
          <a:xfrm>
            <a:off x="502920" y="3268980"/>
            <a:ext cx="3931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Various cancers</a:t>
            </a:r>
            <a:endParaRPr lang="en-US" sz="950"/>
          </a:p>
        </p:txBody>
      </p:sp>
      <p:sp>
        <p:nvSpPr>
          <p:cNvPr id="17" name="Text 15"/>
          <p:cNvSpPr/>
          <p:nvPr/>
        </p:nvSpPr>
        <p:spPr>
          <a:xfrm>
            <a:off x="502920" y="3465576"/>
            <a:ext cx="3931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COSMIC: 2,847 somatic observations</a:t>
            </a:r>
            <a:endParaRPr lang="en-US" sz="950"/>
          </a:p>
        </p:txBody>
      </p:sp>
      <p:sp>
        <p:nvSpPr>
          <p:cNvPr id="18" name="Text 16"/>
          <p:cNvSpPr/>
          <p:nvPr/>
        </p:nvSpPr>
        <p:spPr>
          <a:xfrm>
            <a:off x="502920" y="3662172"/>
            <a:ext cx="3931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Top cancer: colorectal (18%)</a:t>
            </a:r>
            <a:endParaRPr lang="en-US" sz="950"/>
          </a:p>
        </p:txBody>
      </p:sp>
      <p:sp>
        <p:nvSpPr>
          <p:cNvPr id="19" name="Text 17"/>
          <p:cNvSpPr/>
          <p:nvPr/>
        </p:nvSpPr>
        <p:spPr>
          <a:xfrm>
            <a:off x="502920" y="3858768"/>
            <a:ext cx="3931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gnomAD AF: 6.2 × 10⁻⁶ [rare]</a:t>
            </a:r>
            <a:endParaRPr lang="en-US" sz="950"/>
          </a:p>
        </p:txBody>
      </p:sp>
      <p:sp>
        <p:nvSpPr>
          <p:cNvPr id="20" name="Text 18"/>
          <p:cNvSpPr/>
          <p:nvPr/>
        </p:nvSpPr>
        <p:spPr>
          <a:xfrm>
            <a:off x="502920" y="4055364"/>
            <a:ext cx="3931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UniProt: DNA-contact residue</a:t>
            </a:r>
            <a:endParaRPr lang="en-US" sz="950"/>
          </a:p>
        </p:txBody>
      </p:sp>
      <p:sp>
        <p:nvSpPr>
          <p:cNvPr id="21" name="Text 19"/>
          <p:cNvSpPr/>
          <p:nvPr/>
        </p:nvSpPr>
        <p:spPr>
          <a:xfrm>
            <a:off x="502920" y="4251960"/>
            <a:ext cx="3931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(direct major-groove contact)</a:t>
            </a:r>
            <a:endParaRPr lang="en-US" sz="950"/>
          </a:p>
        </p:txBody>
      </p:sp>
      <p:sp>
        <p:nvSpPr>
          <p:cNvPr id="22" name="Text 20"/>
          <p:cNvSpPr/>
          <p:nvPr/>
        </p:nvSpPr>
        <p:spPr>
          <a:xfrm>
            <a:off x="502920" y="4448556"/>
            <a:ext cx="3931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/>
          </a:p>
        </p:txBody>
      </p:sp>
      <p:sp>
        <p:nvSpPr>
          <p:cNvPr id="23" name="Text 21"/>
          <p:cNvSpPr/>
          <p:nvPr/>
        </p:nvSpPr>
        <p:spPr>
          <a:xfrm>
            <a:off x="502920" y="4645152"/>
            <a:ext cx="3931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Please explain in 2-3 sentences...</a:t>
            </a:r>
            <a:endParaRPr lang="en-US" sz="950"/>
          </a:p>
        </p:txBody>
      </p:sp>
      <p:sp>
        <p:nvSpPr>
          <p:cNvPr id="24" name="Text 22"/>
          <p:cNvSpPr/>
          <p:nvPr/>
        </p:nvSpPr>
        <p:spPr>
          <a:xfrm>
            <a:off x="4663440" y="1115568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Claude's 5-section response</a:t>
            </a:r>
            <a:endParaRPr lang="en-US" sz="1300"/>
          </a:p>
        </p:txBody>
      </p:sp>
      <p:sp>
        <p:nvSpPr>
          <p:cNvPr id="25" name="Shape 23"/>
          <p:cNvSpPr/>
          <p:nvPr/>
        </p:nvSpPr>
        <p:spPr>
          <a:xfrm>
            <a:off x="4663440" y="1444752"/>
            <a:ext cx="40690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663440" y="1444752"/>
            <a:ext cx="54864" cy="62179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73168" y="148132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Summary [★★★]</a:t>
            </a:r>
            <a:endParaRPr lang="en-US" sz="1050"/>
          </a:p>
        </p:txBody>
      </p:sp>
      <p:sp>
        <p:nvSpPr>
          <p:cNvPr id="28" name="Text 26"/>
          <p:cNvSpPr/>
          <p:nvPr/>
        </p:nvSpPr>
        <p:spPr>
          <a:xfrm>
            <a:off x="4773168" y="171907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R248W is a clinically confirmed pathogenic variant with 2,847 somatic observations in COSMIC — one of the most frequently mutated positions in human cancer.</a:t>
            </a:r>
            <a:endParaRPr lang="en-US" sz="950"/>
          </a:p>
        </p:txBody>
      </p:sp>
      <p:sp>
        <p:nvSpPr>
          <p:cNvPr id="29" name="Shape 27"/>
          <p:cNvSpPr/>
          <p:nvPr/>
        </p:nvSpPr>
        <p:spPr>
          <a:xfrm>
            <a:off x="4663440" y="2139696"/>
            <a:ext cx="40690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663440" y="2139696"/>
            <a:ext cx="54864" cy="62179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73168" y="217627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Evidence</a:t>
            </a:r>
            <a:endParaRPr lang="en-US" sz="1050"/>
          </a:p>
        </p:txBody>
      </p:sp>
      <p:sp>
        <p:nvSpPr>
          <p:cNvPr id="32" name="Text 30"/>
          <p:cNvSpPr/>
          <p:nvPr/>
        </p:nvSpPr>
        <p:spPr>
          <a:xfrm>
            <a:off x="4773168" y="241401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ClinVar Pathogenic (Li-Fraumeni) ★★★ · COSMIC 2,847 obs ★★★ · gnomAD 6.2×10⁻⁶ (extreme rarity, consistent with pathogenicity) · UniProt direct DNA-contact annotation ★★</a:t>
            </a:r>
            <a:endParaRPr lang="en-US" sz="950"/>
          </a:p>
        </p:txBody>
      </p:sp>
      <p:sp>
        <p:nvSpPr>
          <p:cNvPr id="33" name="Shape 31"/>
          <p:cNvSpPr/>
          <p:nvPr/>
        </p:nvSpPr>
        <p:spPr>
          <a:xfrm>
            <a:off x="4663440" y="2834640"/>
            <a:ext cx="40690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663440" y="2834640"/>
            <a:ext cx="54864" cy="6217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773168" y="28712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Mechanism</a:t>
            </a:r>
            <a:endParaRPr lang="en-US" sz="1050"/>
          </a:p>
        </p:txBody>
      </p:sp>
      <p:sp>
        <p:nvSpPr>
          <p:cNvPr id="36" name="Text 34"/>
          <p:cNvSpPr/>
          <p:nvPr/>
        </p:nvSpPr>
        <p:spPr>
          <a:xfrm>
            <a:off x="4773168" y="310896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Arginine at position 248 inserts into the DNA major groove via hydrogen bonds. Tryptophan lacks the guanidinium group required for this contact, abolishing DNA binding without necessarily destabilising the fold.</a:t>
            </a:r>
            <a:endParaRPr lang="en-US" sz="950"/>
          </a:p>
        </p:txBody>
      </p:sp>
      <p:sp>
        <p:nvSpPr>
          <p:cNvPr id="37" name="Shape 35"/>
          <p:cNvSpPr/>
          <p:nvPr/>
        </p:nvSpPr>
        <p:spPr>
          <a:xfrm>
            <a:off x="4663440" y="3529584"/>
            <a:ext cx="40690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663440" y="3529584"/>
            <a:ext cx="54864" cy="6217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773168" y="356616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Confidence</a:t>
            </a:r>
            <a:endParaRPr lang="en-US" sz="1050"/>
          </a:p>
        </p:txBody>
      </p:sp>
      <p:sp>
        <p:nvSpPr>
          <p:cNvPr id="40" name="Text 38"/>
          <p:cNvSpPr/>
          <p:nvPr/>
        </p:nvSpPr>
        <p:spPr>
          <a:xfrm>
            <a:off x="4773168" y="380390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High. ClinVar, COSMIC, UniProt, and gnomAD all agree. AM score 0.990 is consistent. FoldX ΔΔG is pending (fixed-backbone limitation — not interpretable for this variant type).</a:t>
            </a:r>
            <a:endParaRPr lang="en-US" sz="950"/>
          </a:p>
        </p:txBody>
      </p:sp>
      <p:sp>
        <p:nvSpPr>
          <p:cNvPr id="41" name="Shape 39"/>
          <p:cNvSpPr/>
          <p:nvPr/>
        </p:nvSpPr>
        <p:spPr>
          <a:xfrm>
            <a:off x="4663440" y="4224528"/>
            <a:ext cx="40690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663440" y="4224528"/>
            <a:ext cx="54864" cy="6217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773168" y="426110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Disclaimer</a:t>
            </a:r>
            <a:endParaRPr lang="en-US" sz="1050"/>
          </a:p>
        </p:txBody>
      </p:sp>
      <p:sp>
        <p:nvSpPr>
          <p:cNvPr id="44" name="Text 42"/>
          <p:cNvSpPr/>
          <p:nvPr/>
        </p:nvSpPr>
        <p:spPr>
          <a:xfrm>
            <a:off x="4773168" y="449884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research use only. Do not use for clinical or diagnostic decisions.</a:t>
            </a:r>
            <a:endParaRPr lang="en-US" sz="95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chemeClr val="tx1">
                    <a:lumMod val="85000"/>
                    <a:lumOff val="15000"/>
                  </a:scheme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Q: How Does DataLens Submit to the Claude API? No MCP?</a:t>
            </a:r>
            <a:endParaRPr lang="en-US" sz="20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85039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HTTPS POST via libcurl — no middleware, no Model Context Protocol server</a:t>
            </a:r>
            <a:endParaRPr lang="en-US" sz="1300"/>
          </a:p>
        </p:txBody>
      </p:sp>
      <p:sp>
        <p:nvSpPr>
          <p:cNvPr id="4" name="Shape 2"/>
          <p:cNvSpPr/>
          <p:nvPr/>
        </p:nvSpPr>
        <p:spPr>
          <a:xfrm>
            <a:off x="502920" y="804672"/>
            <a:ext cx="100584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115568"/>
            <a:ext cx="8321040" cy="530352"/>
          </a:xfrm>
          <a:prstGeom prst="rect">
            <a:avLst/>
          </a:prstGeom>
          <a:solidFill>
            <a:srgbClr val="0D3B36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17043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(Model Context Protocol) is a standard for LLM tool-calling — it is NOT required to call the Claude API. DataLens calls Claude directly over HTTPS, exactly as any web client would.</a:t>
            </a:r>
            <a:endParaRPr lang="en-US" sz="1150"/>
          </a:p>
        </p:txBody>
      </p:sp>
      <p:sp>
        <p:nvSpPr>
          <p:cNvPr id="7" name="Shape 5"/>
          <p:cNvSpPr/>
          <p:nvPr/>
        </p:nvSpPr>
        <p:spPr>
          <a:xfrm>
            <a:off x="411480" y="1783080"/>
            <a:ext cx="8321040" cy="484632"/>
          </a:xfrm>
          <a:prstGeom prst="rect">
            <a:avLst/>
          </a:prstGeom>
          <a:solidFill>
            <a:srgbClr val="132039"/>
          </a:solidFill>
          <a:ln w="508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11480" y="1783080"/>
            <a:ext cx="438912" cy="381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1783080"/>
            <a:ext cx="43891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/>
          </a:p>
        </p:txBody>
      </p:sp>
      <p:sp>
        <p:nvSpPr>
          <p:cNvPr id="10" name="Text 8"/>
          <p:cNvSpPr/>
          <p:nvPr/>
        </p:nvSpPr>
        <p:spPr>
          <a:xfrm>
            <a:off x="914400" y="1811528"/>
            <a:ext cx="265176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triggers Claude in DataLens</a:t>
            </a:r>
            <a:endParaRPr lang="en-US" sz="1050"/>
          </a:p>
        </p:txBody>
      </p:sp>
      <p:sp>
        <p:nvSpPr>
          <p:cNvPr id="11" name="Text 9"/>
          <p:cNvSpPr/>
          <p:nvPr/>
        </p:nvSpPr>
        <p:spPr>
          <a:xfrm>
            <a:off x="914400" y="1999488"/>
            <a:ext cx="76809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clicks 'Ask about mutation' or types in the AI Assistant Panel. ClaudeHandler::query() is called on the rendering thread.</a:t>
            </a:r>
            <a:endParaRPr lang="en-US" sz="1000"/>
          </a:p>
        </p:txBody>
      </p:sp>
      <p:sp>
        <p:nvSpPr>
          <p:cNvPr id="12" name="Shape 10"/>
          <p:cNvSpPr/>
          <p:nvPr/>
        </p:nvSpPr>
        <p:spPr>
          <a:xfrm>
            <a:off x="411480" y="2404872"/>
            <a:ext cx="8321040" cy="484632"/>
          </a:xfrm>
          <a:prstGeom prst="rect">
            <a:avLst/>
          </a:prstGeom>
          <a:solidFill>
            <a:srgbClr val="132039"/>
          </a:solidFill>
          <a:ln w="508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11480" y="2404872"/>
            <a:ext cx="438912" cy="38100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11480" y="2404872"/>
            <a:ext cx="43891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/>
          </a:p>
        </p:txBody>
      </p:sp>
      <p:sp>
        <p:nvSpPr>
          <p:cNvPr id="15" name="Text 13"/>
          <p:cNvSpPr/>
          <p:nvPr/>
        </p:nvSpPr>
        <p:spPr>
          <a:xfrm>
            <a:off x="914400" y="2425192"/>
            <a:ext cx="265176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Worker thread dispatched</a:t>
            </a:r>
            <a:endParaRPr lang="en-US" sz="1050"/>
          </a:p>
        </p:txBody>
      </p:sp>
      <p:sp>
        <p:nvSpPr>
          <p:cNvPr id="16" name="Text 14"/>
          <p:cNvSpPr/>
          <p:nvPr/>
        </p:nvSpPr>
        <p:spPr>
          <a:xfrm>
            <a:off x="914400" y="2621280"/>
            <a:ext cx="76809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std::thread spawned (non-blocking). std::atomic&lt;bool&gt; prevents concurrent requests. Rendering loop continues at full FPS.</a:t>
            </a:r>
            <a:endParaRPr lang="en-US" sz="1000"/>
          </a:p>
        </p:txBody>
      </p:sp>
      <p:sp>
        <p:nvSpPr>
          <p:cNvPr id="17" name="Shape 15"/>
          <p:cNvSpPr/>
          <p:nvPr/>
        </p:nvSpPr>
        <p:spPr>
          <a:xfrm>
            <a:off x="411480" y="3026664"/>
            <a:ext cx="8321040" cy="484632"/>
          </a:xfrm>
          <a:prstGeom prst="rect">
            <a:avLst/>
          </a:prstGeom>
          <a:solidFill>
            <a:srgbClr val="132039"/>
          </a:solidFill>
          <a:ln w="508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11480" y="3026664"/>
            <a:ext cx="438912" cy="381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11480" y="3026664"/>
            <a:ext cx="43891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/>
          </a:p>
        </p:txBody>
      </p:sp>
      <p:sp>
        <p:nvSpPr>
          <p:cNvPr id="20" name="Text 18"/>
          <p:cNvSpPr/>
          <p:nvPr/>
        </p:nvSpPr>
        <p:spPr>
          <a:xfrm>
            <a:off x="914400" y="3033776"/>
            <a:ext cx="265176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VariantDatabaseFetcher enriches context</a:t>
            </a:r>
            <a:endParaRPr lang="en-US" sz="1050"/>
          </a:p>
        </p:txBody>
      </p:sp>
      <p:sp>
        <p:nvSpPr>
          <p:cNvPr id="21" name="Text 19"/>
          <p:cNvSpPr/>
          <p:nvPr/>
        </p:nvSpPr>
        <p:spPr>
          <a:xfrm>
            <a:off x="914400" y="3243072"/>
            <a:ext cx="76809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ClinVar, COSMIC, gnomAD, UniProt fetched with 8-second timeout each. MutationContext struct populated in-place.</a:t>
            </a:r>
            <a:endParaRPr lang="en-US" sz="1000"/>
          </a:p>
        </p:txBody>
      </p:sp>
      <p:sp>
        <p:nvSpPr>
          <p:cNvPr id="22" name="Shape 20"/>
          <p:cNvSpPr/>
          <p:nvPr/>
        </p:nvSpPr>
        <p:spPr>
          <a:xfrm>
            <a:off x="411480" y="3648456"/>
            <a:ext cx="8321040" cy="484632"/>
          </a:xfrm>
          <a:prstGeom prst="rect">
            <a:avLst/>
          </a:prstGeom>
          <a:solidFill>
            <a:srgbClr val="132039"/>
          </a:solidFill>
          <a:ln w="508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11480" y="3648456"/>
            <a:ext cx="438912" cy="381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11480" y="3648456"/>
            <a:ext cx="43891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/>
          </a:p>
        </p:txBody>
      </p:sp>
      <p:sp>
        <p:nvSpPr>
          <p:cNvPr id="25" name="Text 23"/>
          <p:cNvSpPr/>
          <p:nvPr/>
        </p:nvSpPr>
        <p:spPr>
          <a:xfrm>
            <a:off x="914400" y="3648456"/>
            <a:ext cx="265176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libcurl POST to api.anthropic.com</a:t>
            </a:r>
            <a:endParaRPr lang="en-US" sz="1050"/>
          </a:p>
        </p:txBody>
      </p:sp>
      <p:sp>
        <p:nvSpPr>
          <p:cNvPr id="26" name="Text 24"/>
          <p:cNvSpPr/>
          <p:nvPr/>
        </p:nvSpPr>
        <p:spPr>
          <a:xfrm>
            <a:off x="914400" y="3864864"/>
            <a:ext cx="76809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HTTPConnection::post() sends JSON body to https://api.anthropic.com/v1/messages with x-api-key header. SSL verified via cacert.pem. Response written to string buffer via writeCallback.</a:t>
            </a:r>
            <a:endParaRPr lang="en-US" sz="1000"/>
          </a:p>
        </p:txBody>
      </p:sp>
      <p:sp>
        <p:nvSpPr>
          <p:cNvPr id="27" name="Shape 25"/>
          <p:cNvSpPr/>
          <p:nvPr/>
        </p:nvSpPr>
        <p:spPr>
          <a:xfrm>
            <a:off x="411480" y="4270248"/>
            <a:ext cx="8321040" cy="484632"/>
          </a:xfrm>
          <a:prstGeom prst="rect">
            <a:avLst/>
          </a:prstGeom>
          <a:solidFill>
            <a:srgbClr val="132039"/>
          </a:solidFill>
          <a:ln w="508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11480" y="4270248"/>
            <a:ext cx="438912" cy="3810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11480" y="4270248"/>
            <a:ext cx="438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/>
          </a:p>
        </p:txBody>
      </p:sp>
      <p:sp>
        <p:nvSpPr>
          <p:cNvPr id="30" name="Text 28"/>
          <p:cNvSpPr/>
          <p:nvPr/>
        </p:nvSpPr>
        <p:spPr>
          <a:xfrm>
            <a:off x="914400" y="4270248"/>
            <a:ext cx="265176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Response validated and delivered</a:t>
            </a:r>
            <a:endParaRPr lang="en-US" sz="1050"/>
          </a:p>
        </p:txBody>
      </p:sp>
      <p:sp>
        <p:nvSpPr>
          <p:cNvPr id="31" name="Text 29"/>
          <p:cNvSpPr/>
          <p:nvPr/>
        </p:nvSpPr>
        <p:spPr>
          <a:xfrm>
            <a:off x="914400" y="4486656"/>
            <a:ext cx="76809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5-section presence check. Disclaimer enforced. Clinical language filtered. Result written to mutex-protected buffer. Render loop reads it next frame and displays in AI Assistant Panel.</a:t>
            </a:r>
            <a:endParaRPr lang="en-US" sz="1000"/>
          </a:p>
        </p:txBody>
      </p:sp>
      <p:sp>
        <p:nvSpPr>
          <p:cNvPr id="32" name="Shape 30"/>
          <p:cNvSpPr/>
          <p:nvPr/>
        </p:nvSpPr>
        <p:spPr>
          <a:xfrm>
            <a:off x="411480" y="4805172"/>
            <a:ext cx="8321040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02920" y="4823460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curl.post("https://api.anthropic.com/v1/messages", body, "application/json")  // HTTPConnection::post() — libcurl, no MCP, no SDK</a:t>
            </a:r>
            <a:endParaRPr lang="en-US" sz="80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Honest Acknowledgment: Claude Does Hallucinate</a:t>
            </a:r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502920" y="85039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is what DataLens does — and what it cannot guarantee.</a:t>
            </a:r>
            <a:endParaRPr lang="en-US" sz="1300"/>
          </a:p>
        </p:txBody>
      </p:sp>
      <p:sp>
        <p:nvSpPr>
          <p:cNvPr id="4" name="Shape 2"/>
          <p:cNvSpPr/>
          <p:nvPr/>
        </p:nvSpPr>
        <p:spPr>
          <a:xfrm>
            <a:off x="502920" y="804672"/>
            <a:ext cx="100584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115568"/>
            <a:ext cx="8321040" cy="658368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1521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Thesis claim (too strong): </a:t>
            </a:r>
            <a:endParaRPr lang="en-US" sz="1150"/>
          </a:p>
        </p:txBody>
      </p:sp>
      <p:sp>
        <p:nvSpPr>
          <p:cNvPr id="7" name="Text 5"/>
          <p:cNvSpPr/>
          <p:nvPr/>
        </p:nvSpPr>
        <p:spPr>
          <a:xfrm>
            <a:off x="502920" y="1389888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"mitigating the hallucination risks associated with unconstrained language model responses"</a:t>
            </a:r>
            <a:endParaRPr lang="en-US" sz="1000"/>
          </a:p>
        </p:txBody>
      </p:sp>
      <p:sp>
        <p:nvSpPr>
          <p:cNvPr id="8" name="Shape 6"/>
          <p:cNvSpPr/>
          <p:nvPr/>
        </p:nvSpPr>
        <p:spPr>
          <a:xfrm>
            <a:off x="411480" y="1874520"/>
            <a:ext cx="8321040" cy="566928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191109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Accurate framing: </a:t>
            </a:r>
            <a:endParaRPr lang="en-US" sz="1150"/>
          </a:p>
        </p:txBody>
      </p:sp>
      <p:sp>
        <p:nvSpPr>
          <p:cNvPr id="10" name="Text 8"/>
          <p:cNvSpPr/>
          <p:nvPr/>
        </p:nvSpPr>
        <p:spPr>
          <a:xfrm>
            <a:off x="502920" y="2148840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"reducing (not eliminating) hallucination risk by constraining the model to explain supplied numbers rather than retrieve facts from parametric memory"</a:t>
            </a:r>
            <a:endParaRPr lang="en-US" sz="1000"/>
          </a:p>
        </p:txBody>
      </p:sp>
      <p:sp>
        <p:nvSpPr>
          <p:cNvPr id="11" name="Text 9"/>
          <p:cNvSpPr/>
          <p:nvPr/>
        </p:nvSpPr>
        <p:spPr>
          <a:xfrm>
            <a:off x="411480" y="25191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the mitigations cover</a:t>
            </a:r>
            <a:endParaRPr lang="en-US" sz="1300"/>
          </a:p>
        </p:txBody>
      </p:sp>
      <p:sp>
        <p:nvSpPr>
          <p:cNvPr id="12" name="Shape 10"/>
          <p:cNvSpPr/>
          <p:nvPr/>
        </p:nvSpPr>
        <p:spPr>
          <a:xfrm>
            <a:off x="411480" y="2912364"/>
            <a:ext cx="4114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11480" y="2912364"/>
            <a:ext cx="54864" cy="40233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30352" y="293979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Factual grounding</a:t>
            </a:r>
            <a:endParaRPr lang="en-US" sz="900"/>
          </a:p>
        </p:txBody>
      </p:sp>
      <p:sp>
        <p:nvSpPr>
          <p:cNvPr id="15" name="Text 13"/>
          <p:cNvSpPr/>
          <p:nvPr/>
        </p:nvSpPr>
        <p:spPr>
          <a:xfrm>
            <a:off x="530352" y="3131820"/>
            <a:ext cx="3913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score, ΔΔG, ClinVar class, gnomAD AF are injected as numbers — model explains given values, not recalled facts.</a:t>
            </a:r>
            <a:endParaRPr lang="en-US" sz="800"/>
          </a:p>
        </p:txBody>
      </p:sp>
      <p:sp>
        <p:nvSpPr>
          <p:cNvPr id="16" name="Shape 14"/>
          <p:cNvSpPr/>
          <p:nvPr/>
        </p:nvSpPr>
        <p:spPr>
          <a:xfrm>
            <a:off x="411480" y="3387852"/>
            <a:ext cx="4114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11480" y="3387852"/>
            <a:ext cx="54864" cy="40233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30352" y="341528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Clinical overreach</a:t>
            </a:r>
            <a:endParaRPr lang="en-US" sz="900"/>
          </a:p>
        </p:txBody>
      </p:sp>
      <p:sp>
        <p:nvSpPr>
          <p:cNvPr id="19" name="Text 17"/>
          <p:cNvSpPr/>
          <p:nvPr/>
        </p:nvSpPr>
        <p:spPr>
          <a:xfrm>
            <a:off x="530352" y="3607308"/>
            <a:ext cx="3913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intercept 'diagnose', 'recommend treatment', 'prescribe' — replaced with [REDACTED].</a:t>
            </a:r>
            <a:endParaRPr lang="en-US" sz="800"/>
          </a:p>
        </p:txBody>
      </p:sp>
      <p:sp>
        <p:nvSpPr>
          <p:cNvPr id="20" name="Shape 18"/>
          <p:cNvSpPr/>
          <p:nvPr/>
        </p:nvSpPr>
        <p:spPr>
          <a:xfrm>
            <a:off x="411480" y="3863340"/>
            <a:ext cx="4114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11480" y="3863340"/>
            <a:ext cx="54864" cy="40233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30352" y="389077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Definitiveness</a:t>
            </a:r>
            <a:endParaRPr lang="en-US" sz="900"/>
          </a:p>
        </p:txBody>
      </p:sp>
      <p:sp>
        <p:nvSpPr>
          <p:cNvPr id="23" name="Text 21"/>
          <p:cNvSpPr/>
          <p:nvPr/>
        </p:nvSpPr>
        <p:spPr>
          <a:xfrm>
            <a:off x="530352" y="4082796"/>
            <a:ext cx="3913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'is pathogenic' → 'is predicted to be pathogenic' via string scan.</a:t>
            </a:r>
            <a:endParaRPr lang="en-US" sz="800"/>
          </a:p>
        </p:txBody>
      </p:sp>
      <p:sp>
        <p:nvSpPr>
          <p:cNvPr id="24" name="Shape 22"/>
          <p:cNvSpPr/>
          <p:nvPr/>
        </p:nvSpPr>
        <p:spPr>
          <a:xfrm>
            <a:off x="411480" y="4338828"/>
            <a:ext cx="4114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11480" y="4338828"/>
            <a:ext cx="54864" cy="40233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30352" y="436626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Structural completeness</a:t>
            </a:r>
            <a:endParaRPr lang="en-US" sz="900"/>
          </a:p>
        </p:txBody>
      </p:sp>
      <p:sp>
        <p:nvSpPr>
          <p:cNvPr id="27" name="Text 25"/>
          <p:cNvSpPr/>
          <p:nvPr/>
        </p:nvSpPr>
        <p:spPr>
          <a:xfrm>
            <a:off x="530352" y="4558284"/>
            <a:ext cx="3913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5-section presence check catches truncated responses.</a:t>
            </a:r>
            <a:endParaRPr lang="en-US" sz="800"/>
          </a:p>
        </p:txBody>
      </p:sp>
      <p:sp>
        <p:nvSpPr>
          <p:cNvPr id="28" name="Text 26"/>
          <p:cNvSpPr/>
          <p:nvPr/>
        </p:nvSpPr>
        <p:spPr>
          <a:xfrm>
            <a:off x="4663440" y="2519172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they do NOT cover</a:t>
            </a:r>
            <a:endParaRPr lang="en-US" sz="1300"/>
          </a:p>
        </p:txBody>
      </p:sp>
      <p:sp>
        <p:nvSpPr>
          <p:cNvPr id="29" name="Shape 27"/>
          <p:cNvSpPr/>
          <p:nvPr/>
        </p:nvSpPr>
        <p:spPr>
          <a:xfrm>
            <a:off x="4663440" y="2912364"/>
            <a:ext cx="40690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663440" y="2912364"/>
            <a:ext cx="54864" cy="40233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82312" y="293979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Mechanistic accuracy</a:t>
            </a:r>
            <a:endParaRPr lang="en-US" sz="900"/>
          </a:p>
        </p:txBody>
      </p:sp>
      <p:sp>
        <p:nvSpPr>
          <p:cNvPr id="32" name="Text 30"/>
          <p:cNvSpPr/>
          <p:nvPr/>
        </p:nvSpPr>
        <p:spPr>
          <a:xfrm>
            <a:off x="4782312" y="3131820"/>
            <a:ext cx="3877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may invent a plausible-sounding structural mechanism (e.g., specific salt bridge) that is not present in the loaded protein.</a:t>
            </a:r>
            <a:endParaRPr lang="en-US" sz="800"/>
          </a:p>
        </p:txBody>
      </p:sp>
      <p:sp>
        <p:nvSpPr>
          <p:cNvPr id="33" name="Shape 31"/>
          <p:cNvSpPr/>
          <p:nvPr/>
        </p:nvSpPr>
        <p:spPr>
          <a:xfrm>
            <a:off x="4663440" y="3387852"/>
            <a:ext cx="40690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663440" y="3387852"/>
            <a:ext cx="54864" cy="40233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782312" y="3415284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Literature accuracy</a:t>
            </a:r>
            <a:endParaRPr lang="en-US" sz="900"/>
          </a:p>
        </p:txBody>
      </p:sp>
      <p:sp>
        <p:nvSpPr>
          <p:cNvPr id="36" name="Text 34"/>
          <p:cNvSpPr/>
          <p:nvPr/>
        </p:nvSpPr>
        <p:spPr>
          <a:xfrm>
            <a:off x="4782312" y="3607308"/>
            <a:ext cx="3877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may hallucinate citations or attribute findings to incorrect studies.</a:t>
            </a:r>
            <a:endParaRPr lang="en-US" sz="800"/>
          </a:p>
        </p:txBody>
      </p:sp>
      <p:sp>
        <p:nvSpPr>
          <p:cNvPr id="37" name="Shape 35"/>
          <p:cNvSpPr/>
          <p:nvPr/>
        </p:nvSpPr>
        <p:spPr>
          <a:xfrm>
            <a:off x="4663440" y="3863340"/>
            <a:ext cx="40690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663440" y="3863340"/>
            <a:ext cx="54864" cy="40233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782312" y="389077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Semantic coherence</a:t>
            </a:r>
            <a:endParaRPr lang="en-US" sz="900"/>
          </a:p>
        </p:txBody>
      </p:sp>
      <p:sp>
        <p:nvSpPr>
          <p:cNvPr id="40" name="Text 38"/>
          <p:cNvSpPr/>
          <p:nvPr/>
        </p:nvSpPr>
        <p:spPr>
          <a:xfrm>
            <a:off x="4782312" y="4082796"/>
            <a:ext cx="3877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may contradict itself across the 5 sections in a long response near the token limit.</a:t>
            </a:r>
            <a:endParaRPr lang="en-US" sz="800"/>
          </a:p>
        </p:txBody>
      </p:sp>
      <p:sp>
        <p:nvSpPr>
          <p:cNvPr id="41" name="Shape 39"/>
          <p:cNvSpPr/>
          <p:nvPr/>
        </p:nvSpPr>
        <p:spPr>
          <a:xfrm>
            <a:off x="4663440" y="4338828"/>
            <a:ext cx="40690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663440" y="4338828"/>
            <a:ext cx="54864" cy="40233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782312" y="436626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Protein specificity</a:t>
            </a:r>
            <a:endParaRPr lang="en-US" sz="900"/>
          </a:p>
        </p:txBody>
      </p:sp>
      <p:sp>
        <p:nvSpPr>
          <p:cNvPr id="44" name="Text 42"/>
          <p:cNvSpPr/>
          <p:nvPr/>
        </p:nvSpPr>
        <p:spPr>
          <a:xfrm>
            <a:off x="4782312" y="4558284"/>
            <a:ext cx="3877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statements about a residue type may be substituted for protein-specific claims.</a:t>
            </a:r>
            <a:endParaRPr lang="en-US" sz="800"/>
          </a:p>
        </p:txBody>
      </p:sp>
      <p:sp>
        <p:nvSpPr>
          <p:cNvPr id="45" name="Shape 43"/>
          <p:cNvSpPr/>
          <p:nvPr/>
        </p:nvSpPr>
        <p:spPr>
          <a:xfrm>
            <a:off x="411480" y="4821936"/>
            <a:ext cx="8321040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66344" y="4864608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 strategy: raw source values co-displayed alongside every AI output — researcher can verify any claim against its underlying data without trusting the prose.</a:t>
            </a:r>
            <a:endParaRPr lang="en-US" sz="90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Q: α-Helix, β-Sheet, Binding Interface, Catalytic Site</a:t>
            </a:r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502920" y="85039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and functional structure terms used throughout DataLens</a:t>
            </a:r>
            <a:endParaRPr lang="en-US" sz="1200"/>
          </a:p>
        </p:txBody>
      </p:sp>
      <p:sp>
        <p:nvSpPr>
          <p:cNvPr id="4" name="Shape 2"/>
          <p:cNvSpPr/>
          <p:nvPr/>
        </p:nvSpPr>
        <p:spPr>
          <a:xfrm>
            <a:off x="502920" y="804672"/>
            <a:ext cx="100584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115568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115568"/>
            <a:ext cx="4114800" cy="38404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11556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Alpha-Helix (α-Helix)</a:t>
            </a:r>
            <a:endParaRPr lang="en-US" sz="1300"/>
          </a:p>
        </p:txBody>
      </p:sp>
      <p:sp>
        <p:nvSpPr>
          <p:cNvPr id="8" name="Text 6"/>
          <p:cNvSpPr/>
          <p:nvPr/>
        </p:nvSpPr>
        <p:spPr>
          <a:xfrm>
            <a:off x="502920" y="1554480"/>
            <a:ext cx="39502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spring-like coiled rod formed by a polypeptide chain. Each residue's backbone NH group donates a hydrogen bond to the C=O of the residue four positions earlier, forming a stable right-handed spiral. ~30% of residues in most proteins are in helices. In DataLens, helix residues are coloured in secondary-structure mode and passed as ALPHA_HELIX context to the Claude prompt.</a:t>
            </a:r>
            <a:endParaRPr lang="en-US" sz="1000"/>
          </a:p>
        </p:txBody>
      </p:sp>
      <p:sp>
        <p:nvSpPr>
          <p:cNvPr id="9" name="Shape 7"/>
          <p:cNvSpPr/>
          <p:nvPr/>
        </p:nvSpPr>
        <p:spPr>
          <a:xfrm>
            <a:off x="4709160" y="1115568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09160" y="1115568"/>
            <a:ext cx="411480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00600" y="111556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Beta-Sheet (β-Sheet)</a:t>
            </a:r>
            <a:endParaRPr lang="en-US" sz="1300"/>
          </a:p>
        </p:txBody>
      </p:sp>
      <p:sp>
        <p:nvSpPr>
          <p:cNvPr id="12" name="Text 10"/>
          <p:cNvSpPr/>
          <p:nvPr/>
        </p:nvSpPr>
        <p:spPr>
          <a:xfrm>
            <a:off x="4800600" y="1554480"/>
            <a:ext cx="39502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flat, pleated structure formed by two or more extended polypeptide strands (β-strands) running side-by-side, linked by hydrogen bonds between backbone atoms. Sheets are either parallel (strands run same direction) or antiparallel. The TP53 DNA-binding domain contains a β-sandwich core — structural mutants like Y220C destabilise this core. Passed as BETA_SHEET to Claude.</a:t>
            </a:r>
            <a:endParaRPr lang="en-US" sz="1000"/>
          </a:p>
        </p:txBody>
      </p:sp>
      <p:sp>
        <p:nvSpPr>
          <p:cNvPr id="13" name="Shape 11"/>
          <p:cNvSpPr/>
          <p:nvPr/>
        </p:nvSpPr>
        <p:spPr>
          <a:xfrm>
            <a:off x="411480" y="3035808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11480" y="3035808"/>
            <a:ext cx="411480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303580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Binding Interface</a:t>
            </a:r>
            <a:endParaRPr lang="en-US" sz="1300"/>
          </a:p>
        </p:txBody>
      </p:sp>
      <p:sp>
        <p:nvSpPr>
          <p:cNvPr id="16" name="Text 14"/>
          <p:cNvSpPr/>
          <p:nvPr/>
        </p:nvSpPr>
        <p:spPr>
          <a:xfrm>
            <a:off x="502920" y="3474720"/>
            <a:ext cx="39502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surface region of a protein that physically contacts another molecule — a drug, another protein (protein-protein interaction, PPI), a DNA strand, or a cofactor. Binding interfaces are the primary targets in Structure-Based Drug Design. Residues at the interface are functionally constrained: mutations here typically abolish function even when they are not in the structural core. R248W and R273H are TP53 DNA-contact mutations — their arginine sidechains directly contact the major groove.</a:t>
            </a:r>
            <a:endParaRPr lang="en-US" sz="1000"/>
          </a:p>
        </p:txBody>
      </p:sp>
      <p:sp>
        <p:nvSpPr>
          <p:cNvPr id="17" name="Shape 15"/>
          <p:cNvSpPr/>
          <p:nvPr/>
        </p:nvSpPr>
        <p:spPr>
          <a:xfrm>
            <a:off x="4709160" y="3035808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709160" y="3035808"/>
            <a:ext cx="411480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00600" y="303580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Catalytic Site</a:t>
            </a:r>
            <a:endParaRPr lang="en-US" sz="1300"/>
          </a:p>
        </p:txBody>
      </p:sp>
      <p:sp>
        <p:nvSpPr>
          <p:cNvPr id="20" name="Text 18"/>
          <p:cNvSpPr/>
          <p:nvPr/>
        </p:nvSpPr>
        <p:spPr>
          <a:xfrm>
            <a:off x="4800600" y="3474720"/>
            <a:ext cx="39502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specific residues inside an enzyme that directly carry out the chemical reaction — proton donors, nucleophiles, metal ligands, or transition-state stabilisers. Typically 3–6 residues in a pocket. Any missense mutation at a catalytic site is almost always pathogenic regardless of stability effects because it removes the chemistry. Distinct from a binding pocket, which provides affinity; the catalytic site provides reactivity.</a:t>
            </a:r>
            <a:endParaRPr lang="en-US" sz="100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chemeClr val="tx1">
                    <a:lumMod val="85000"/>
                    <a:lumOff val="15000"/>
                  </a:scheme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Q: What is SoA? What is Dear ImGui?</a:t>
            </a:r>
            <a:endParaRPr lang="en-US" sz="28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85039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core technical terms in the DataLens codebase</a:t>
            </a:r>
            <a:endParaRPr lang="en-US" sz="1300"/>
          </a:p>
        </p:txBody>
      </p:sp>
      <p:sp>
        <p:nvSpPr>
          <p:cNvPr id="4" name="Shape 2"/>
          <p:cNvSpPr/>
          <p:nvPr/>
        </p:nvSpPr>
        <p:spPr>
          <a:xfrm>
            <a:off x="502920" y="804672"/>
            <a:ext cx="100584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111556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Structure of Arrays (SoA)</a:t>
            </a:r>
            <a:endParaRPr lang="en-US" sz="1400"/>
          </a:p>
        </p:txBody>
      </p:sp>
      <p:sp>
        <p:nvSpPr>
          <p:cNvPr id="6" name="Shape 4"/>
          <p:cNvSpPr/>
          <p:nvPr/>
        </p:nvSpPr>
        <p:spPr>
          <a:xfrm>
            <a:off x="411480" y="1508760"/>
            <a:ext cx="4114800" cy="1325880"/>
          </a:xfrm>
          <a:prstGeom prst="rect">
            <a:avLst/>
          </a:prstGeom>
          <a:solidFill>
            <a:srgbClr val="132039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Array of Structs (AoS) — naive approach:</a:t>
            </a:r>
            <a:endParaRPr lang="en-US" sz="1050"/>
          </a:p>
        </p:txBody>
      </p:sp>
      <p:sp>
        <p:nvSpPr>
          <p:cNvPr id="8" name="Text 6"/>
          <p:cNvSpPr/>
          <p:nvPr/>
        </p:nvSpPr>
        <p:spPr>
          <a:xfrm>
            <a:off x="502920" y="179222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atom[0]={x,y,z,r,g,b}  atom[1]={x,y,z,r,g,b}  ...</a:t>
            </a:r>
            <a:endParaRPr lang="en-US" sz="1000"/>
          </a:p>
        </p:txBody>
      </p:sp>
      <p:sp>
        <p:nvSpPr>
          <p:cNvPr id="9" name="Text 7"/>
          <p:cNvSpPr/>
          <p:nvPr/>
        </p:nvSpPr>
        <p:spPr>
          <a:xfrm>
            <a:off x="502920" y="20299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Structure of Arrays (SoA) — DataLens approach:</a:t>
            </a:r>
            <a:endParaRPr lang="en-US" sz="1050"/>
          </a:p>
        </p:txBody>
      </p:sp>
      <p:sp>
        <p:nvSpPr>
          <p:cNvPr id="10" name="Text 8"/>
          <p:cNvSpPr/>
          <p:nvPr/>
        </p:nvSpPr>
        <p:spPr>
          <a:xfrm>
            <a:off x="502920" y="226771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float[] = [x0,y0,z0,r0,g0,b0, x1,y1,z1,r1,g1,b1, ...]</a:t>
            </a:r>
            <a:endParaRPr lang="en-US" sz="1000"/>
          </a:p>
        </p:txBody>
      </p:sp>
      <p:sp>
        <p:nvSpPr>
          <p:cNvPr id="11" name="Text 9"/>
          <p:cNvSpPr/>
          <p:nvPr/>
        </p:nvSpPr>
        <p:spPr>
          <a:xfrm>
            <a:off x="411480" y="2898648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floats/atom contiguous. GPU reads all positions in a single cache line sweep — no pointer chasing. Color updates: overwrite 3 floats, one glBufferSubData call. O(1) per residue.</a:t>
            </a:r>
            <a:endParaRPr lang="en-US" sz="1100"/>
          </a:p>
        </p:txBody>
      </p:sp>
      <p:sp>
        <p:nvSpPr>
          <p:cNvPr id="12" name="Shape 10"/>
          <p:cNvSpPr/>
          <p:nvPr/>
        </p:nvSpPr>
        <p:spPr>
          <a:xfrm>
            <a:off x="411480" y="3611880"/>
            <a:ext cx="4114800" cy="502920"/>
          </a:xfrm>
          <a:prstGeom prst="rect">
            <a:avLst/>
          </a:prstGeom>
          <a:solidFill>
            <a:srgbClr val="0D3B36"/>
          </a:solidFill>
          <a:ln w="889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3630168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enables 140–482 FPS on integrated graphics with no discrete GPU.</a:t>
            </a:r>
            <a:endParaRPr lang="en-US" sz="1100"/>
          </a:p>
        </p:txBody>
      </p:sp>
      <p:sp>
        <p:nvSpPr>
          <p:cNvPr id="14" name="Text 12"/>
          <p:cNvSpPr/>
          <p:nvPr/>
        </p:nvSpPr>
        <p:spPr>
          <a:xfrm>
            <a:off x="4754880" y="111556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Dear ImGui (Immediate Mode GUI)</a:t>
            </a:r>
            <a:endParaRPr lang="en-US" sz="1400"/>
          </a:p>
        </p:txBody>
      </p:sp>
      <p:sp>
        <p:nvSpPr>
          <p:cNvPr id="15" name="Shape 13"/>
          <p:cNvSpPr/>
          <p:nvPr/>
        </p:nvSpPr>
        <p:spPr>
          <a:xfrm>
            <a:off x="4754880" y="1508760"/>
            <a:ext cx="3977640" cy="822960"/>
          </a:xfrm>
          <a:prstGeom prst="rect">
            <a:avLst/>
          </a:prstGeom>
          <a:solidFill>
            <a:srgbClr val="132039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54880" y="1508760"/>
            <a:ext cx="54864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82896" y="159105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Immediate Mode</a:t>
            </a:r>
            <a:endParaRPr lang="en-US" sz="1300"/>
          </a:p>
        </p:txBody>
      </p:sp>
      <p:sp>
        <p:nvSpPr>
          <p:cNvPr id="18" name="Text 16"/>
          <p:cNvSpPr/>
          <p:nvPr/>
        </p:nvSpPr>
        <p:spPr>
          <a:xfrm>
            <a:off x="4882896" y="1856232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frame, UI is described by function calls (e.g., ImGui::Button("Run")). No persistent widget objects — state lives in the caller, not the UI library.</a:t>
            </a:r>
            <a:endParaRPr lang="en-US" sz="1100"/>
          </a:p>
        </p:txBody>
      </p:sp>
      <p:sp>
        <p:nvSpPr>
          <p:cNvPr id="19" name="Shape 17"/>
          <p:cNvSpPr/>
          <p:nvPr/>
        </p:nvSpPr>
        <p:spPr>
          <a:xfrm>
            <a:off x="4754880" y="2441448"/>
            <a:ext cx="3977640" cy="822960"/>
          </a:xfrm>
          <a:prstGeom prst="rect">
            <a:avLst/>
          </a:prstGeom>
          <a:solidFill>
            <a:srgbClr val="132039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54880" y="2441448"/>
            <a:ext cx="54864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82896" y="252374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Same OpenGL context</a:t>
            </a:r>
            <a:endParaRPr lang="en-US" sz="1300"/>
          </a:p>
        </p:txBody>
      </p:sp>
      <p:sp>
        <p:nvSpPr>
          <p:cNvPr id="22" name="Text 20"/>
          <p:cNvSpPr/>
          <p:nvPr/>
        </p:nvSpPr>
        <p:spPr>
          <a:xfrm>
            <a:off x="4882896" y="278892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DataLens renders all 7 panels (Mutation Landscape, Focus, Variant Selector, Mutant Viewer, etc.) in the same GL context as the 3D protein viewport. No separate window or thread.</a:t>
            </a:r>
            <a:endParaRPr lang="en-US" sz="1100"/>
          </a:p>
        </p:txBody>
      </p:sp>
      <p:sp>
        <p:nvSpPr>
          <p:cNvPr id="23" name="Shape 21"/>
          <p:cNvSpPr/>
          <p:nvPr/>
        </p:nvSpPr>
        <p:spPr>
          <a:xfrm>
            <a:off x="4754880" y="3374136"/>
            <a:ext cx="3977640" cy="822960"/>
          </a:xfrm>
          <a:prstGeom prst="rect">
            <a:avLst/>
          </a:prstGeom>
          <a:solidFill>
            <a:srgbClr val="132039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754880" y="3374136"/>
            <a:ext cx="54864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82896" y="345643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chosen</a:t>
            </a:r>
            <a:endParaRPr lang="en-US" sz="1300"/>
          </a:p>
        </p:txBody>
      </p:sp>
      <p:sp>
        <p:nvSpPr>
          <p:cNvPr id="26" name="Text 24"/>
          <p:cNvSpPr/>
          <p:nvPr/>
        </p:nvSpPr>
        <p:spPr>
          <a:xfrm>
            <a:off x="4882896" y="3721608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retained-mode overhead. Simple to integrate with a render loop. Ideal for developer tools and scientific visualisation where layout simplicity beats visual polish.</a:t>
            </a:r>
            <a:endParaRPr lang="en-US" sz="1100"/>
          </a:p>
        </p:txBody>
      </p:sp>
      <p:sp>
        <p:nvSpPr>
          <p:cNvPr id="27" name="Shape 25"/>
          <p:cNvSpPr/>
          <p:nvPr/>
        </p:nvSpPr>
        <p:spPr>
          <a:xfrm>
            <a:off x="4754880" y="4306824"/>
            <a:ext cx="3977640" cy="822960"/>
          </a:xfrm>
          <a:prstGeom prst="rect">
            <a:avLst/>
          </a:prstGeom>
          <a:solidFill>
            <a:srgbClr val="132039"/>
          </a:solidFill>
          <a:ln w="635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754880" y="4306824"/>
            <a:ext cx="54864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882896" y="438912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Input conflict</a:t>
            </a:r>
            <a:endParaRPr lang="en-US" sz="1300"/>
          </a:p>
        </p:txBody>
      </p:sp>
      <p:sp>
        <p:nvSpPr>
          <p:cNvPr id="30" name="Text 28"/>
          <p:cNvSpPr/>
          <p:nvPr/>
        </p:nvSpPr>
        <p:spPr>
          <a:xfrm>
            <a:off x="4882896" y="4654296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ImGui::GetIO().WantCaptureMouse checked each frame — when true, keyboard/mouse events route to ImGui panels, not the 3D navigation system.</a:t>
            </a:r>
            <a:endParaRPr lang="en-US" sz="110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chemeClr val="tx1">
                    <a:lumMod val="85000"/>
                    <a:lumOff val="15000"/>
                  </a:scheme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Q: What is a Bloom Halo? What is a BVH?</a:t>
            </a:r>
            <a:endParaRPr lang="en-US" sz="28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85039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graphics/acceleration-structure terms used in the rendering discussion</a:t>
            </a:r>
            <a:endParaRPr lang="en-US" sz="1300"/>
          </a:p>
        </p:txBody>
      </p:sp>
      <p:sp>
        <p:nvSpPr>
          <p:cNvPr id="4" name="Shape 2"/>
          <p:cNvSpPr/>
          <p:nvPr/>
        </p:nvSpPr>
        <p:spPr>
          <a:xfrm>
            <a:off x="502920" y="804672"/>
            <a:ext cx="100584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111556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Bloom Halo (Post-Processing Effect)</a:t>
            </a:r>
            <a:endParaRPr lang="en-US" sz="1400"/>
          </a:p>
        </p:txBody>
      </p:sp>
      <p:sp>
        <p:nvSpPr>
          <p:cNvPr id="6" name="Text 4"/>
          <p:cNvSpPr/>
          <p:nvPr/>
        </p:nvSpPr>
        <p:spPr>
          <a:xfrm>
            <a:off x="411480" y="1508760"/>
            <a:ext cx="41148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 is a rendering post-process that simulates lens flare: bright objects bleed light into surrounding pixels, creating a soft glow halo.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DataLens context: pathogenic residues (AlphaMissense score ≥ 0.564) could be given a red or orange glow halo in the 3D viewport to make high-risk sites visually salient even before the researcher clicks them.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(planned, not yet built): Render scene to an offscreen framebuffer. Extract bright pixels above threshold. Apply Gaussian blur to the bright-pixel buffer. Additively blend with the original frame.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state: Bloom is listed in the post-defense roadmap. The DataLens fragment shader currently implements only ambient + Lambertian diffuse — no post-processing stack exists yet.</a:t>
            </a:r>
            <a:endParaRPr lang="en-US" sz="1100"/>
          </a:p>
        </p:txBody>
      </p:sp>
      <p:sp>
        <p:nvSpPr>
          <p:cNvPr id="7" name="Text 5"/>
          <p:cNvSpPr/>
          <p:nvPr/>
        </p:nvSpPr>
        <p:spPr>
          <a:xfrm>
            <a:off x="4754880" y="111556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BVH — Bounding Volume Hierarchy</a:t>
            </a:r>
            <a:endParaRPr lang="en-US" sz="1400"/>
          </a:p>
        </p:txBody>
      </p:sp>
      <p:sp>
        <p:nvSpPr>
          <p:cNvPr id="8" name="Text 6"/>
          <p:cNvSpPr/>
          <p:nvPr/>
        </p:nvSpPr>
        <p:spPr>
          <a:xfrm>
            <a:off x="4754880" y="1508760"/>
            <a:ext cx="3977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spatial acceleration structure for ray intersection. Objects are grouped into nested bounding boxes (AABBs or spheres): the ray first tests the outer box — if it misses, the entire subtree is skipped.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BVH: O(N) — test ray against every atom. For 15,000 atoms this is 15,000 sphere tests per click.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BVH: O(log N) — most subtrees are eliminated early. For 15,000 atoms, typically ~14 tests.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DataLens does NOT use a BVH: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O(N) brute-force traversal completes in under 1 ms for proteins up to 15,000 atoms — well within the frame budget of 6.9 ms (144 FPS). A BVH would add build-time cost (every protein load), implementation complexity (~300 lines), and memory overhead for zero perceptible benefit at this scale. It becomes worthwhile only above ~100,000 atoms or when sub-millisecond picking latency is critical.</a:t>
            </a:r>
            <a:endParaRPr lang="en-US" sz="1100"/>
          </a:p>
        </p:txBody>
      </p:sp>
      <p:sp>
        <p:nvSpPr>
          <p:cNvPr id="9" name="Shape 7"/>
          <p:cNvSpPr/>
          <p:nvPr/>
        </p:nvSpPr>
        <p:spPr>
          <a:xfrm>
            <a:off x="411480" y="4812792"/>
            <a:ext cx="8321040" cy="274320"/>
          </a:xfrm>
          <a:prstGeom prst="rect">
            <a:avLst/>
          </a:prstGeom>
          <a:solidFill>
            <a:srgbClr val="132039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4831080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planned enhancements (Bloom) or deliberately omitted (BVH) — not oversights. The rationale is documented in the thesis §2.2.1 and §2.5.2.</a:t>
            </a:r>
            <a:endParaRPr lang="en-US"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51</Slides>
  <Notes>51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DataLens - AI-Enhanced Interactive Protein Mutation Analysis</dc:title>
  <dc:subject>PptxGenJS Presentation</dc:subject>
  <dc:creator>Thy Yen Tran</dc:creator>
  <cp:revision>2</cp:revision>
  <dcterms:created xsi:type="dcterms:W3CDTF">2026-04-21T03:09:49Z</dcterms:created>
  <dcterms:modified xsi:type="dcterms:W3CDTF">2026-05-17T05:48:53Z</dcterms:modified>
</cp:coreProperties>
</file>